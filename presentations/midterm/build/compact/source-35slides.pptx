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9261224a014504" /><Relationship Type="http://schemas.openxmlformats.org/officeDocument/2006/relationships/extended-properties" Target="/docProps/app.xml" Id="R89690b1a49dd425c" /><Relationship Type="http://schemas.openxmlformats.org/officeDocument/2006/relationships/officeDocument" Target="/ppt/presentation.xml" Id="R26ebf90ed2b6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bdc8bc8e240b3"/>
  </p:sldMasterIdLst>
  <p:notesMasterIdLst>
    <p:notesMasterId xmlns:r="http://schemas.openxmlformats.org/officeDocument/2006/relationships" r:id="R352401c010a54d4a"/>
  </p:notesMasterIdLst>
  <p:sldIdLst>
    <p:sldId xmlns:r="http://schemas.openxmlformats.org/officeDocument/2006/relationships" id="256" r:id="R9d8101d4c6b846bd"/>
    <p:sldId xmlns:r="http://schemas.openxmlformats.org/officeDocument/2006/relationships" id="257" r:id="Rb755d99290da407d"/>
    <p:sldId xmlns:r="http://schemas.openxmlformats.org/officeDocument/2006/relationships" id="258" r:id="R6b790a3992a447c4"/>
    <p:sldId xmlns:r="http://schemas.openxmlformats.org/officeDocument/2006/relationships" id="259" r:id="R8f17a1f212074019"/>
    <p:sldId xmlns:r="http://schemas.openxmlformats.org/officeDocument/2006/relationships" id="260" r:id="R23aa50afc62e4964"/>
    <p:sldId xmlns:r="http://schemas.openxmlformats.org/officeDocument/2006/relationships" id="261" r:id="R21278b21c14f4945"/>
    <p:sldId xmlns:r="http://schemas.openxmlformats.org/officeDocument/2006/relationships" id="262" r:id="Rc1325e0f6fd34e6b"/>
    <p:sldId xmlns:r="http://schemas.openxmlformats.org/officeDocument/2006/relationships" id="263" r:id="Rfee91abc1dfc4fda"/>
    <p:sldId xmlns:r="http://schemas.openxmlformats.org/officeDocument/2006/relationships" id="264" r:id="Rbad6c7b1c3c548e1"/>
    <p:sldId xmlns:r="http://schemas.openxmlformats.org/officeDocument/2006/relationships" id="265" r:id="R6cff9503345f46d8"/>
    <p:sldId xmlns:r="http://schemas.openxmlformats.org/officeDocument/2006/relationships" id="266" r:id="R099f26d253b546e0"/>
    <p:sldId xmlns:r="http://schemas.openxmlformats.org/officeDocument/2006/relationships" id="267" r:id="R8360b83a383147d7"/>
    <p:sldId xmlns:r="http://schemas.openxmlformats.org/officeDocument/2006/relationships" id="268" r:id="Rd4529ffbf8a2455a"/>
    <p:sldId xmlns:r="http://schemas.openxmlformats.org/officeDocument/2006/relationships" id="269" r:id="Rbed12fb5f9eb4093"/>
    <p:sldId xmlns:r="http://schemas.openxmlformats.org/officeDocument/2006/relationships" id="270" r:id="R4f2cec105e8c429c"/>
    <p:sldId xmlns:r="http://schemas.openxmlformats.org/officeDocument/2006/relationships" id="271" r:id="Rffe2cb3e68a941f7"/>
    <p:sldId xmlns:r="http://schemas.openxmlformats.org/officeDocument/2006/relationships" id="272" r:id="R9a3c3bf42f6d4900"/>
    <p:sldId xmlns:r="http://schemas.openxmlformats.org/officeDocument/2006/relationships" id="273" r:id="Rb942e10290d140be"/>
    <p:sldId xmlns:r="http://schemas.openxmlformats.org/officeDocument/2006/relationships" id="274" r:id="Ra60ad714400c4ccd"/>
    <p:sldId xmlns:r="http://schemas.openxmlformats.org/officeDocument/2006/relationships" id="275" r:id="Rc32200dd47a94712"/>
    <p:sldId xmlns:r="http://schemas.openxmlformats.org/officeDocument/2006/relationships" id="276" r:id="Rb9b98ad316ee4b0f"/>
    <p:sldId xmlns:r="http://schemas.openxmlformats.org/officeDocument/2006/relationships" id="277" r:id="R25f13eefb0ab4c61"/>
    <p:sldId xmlns:r="http://schemas.openxmlformats.org/officeDocument/2006/relationships" id="278" r:id="Ra1f6644271844bad"/>
    <p:sldId xmlns:r="http://schemas.openxmlformats.org/officeDocument/2006/relationships" id="279" r:id="Rcb169fd76b724beb"/>
    <p:sldId xmlns:r="http://schemas.openxmlformats.org/officeDocument/2006/relationships" id="280" r:id="R079d5fcc807f433b"/>
    <p:sldId xmlns:r="http://schemas.openxmlformats.org/officeDocument/2006/relationships" id="281" r:id="R30c520d9202048cf"/>
    <p:sldId xmlns:r="http://schemas.openxmlformats.org/officeDocument/2006/relationships" id="282" r:id="Redfa62f0bdf94d12"/>
    <p:sldId xmlns:r="http://schemas.openxmlformats.org/officeDocument/2006/relationships" id="283" r:id="Rd52e7fad66c14b74"/>
    <p:sldId xmlns:r="http://schemas.openxmlformats.org/officeDocument/2006/relationships" id="284" r:id="R3ee1fd3bc7fc401d"/>
    <p:sldId xmlns:r="http://schemas.openxmlformats.org/officeDocument/2006/relationships" id="285" r:id="Rea751a69f79e46c2"/>
    <p:sldId xmlns:r="http://schemas.openxmlformats.org/officeDocument/2006/relationships" id="286" r:id="R3aebc37a72734f74"/>
    <p:sldId xmlns:r="http://schemas.openxmlformats.org/officeDocument/2006/relationships" id="287" r:id="Rdab5a51bb65f4bb4"/>
    <p:sldId xmlns:r="http://schemas.openxmlformats.org/officeDocument/2006/relationships" id="288" r:id="Ra218b62b4df8457b"/>
    <p:sldId xmlns:r="http://schemas.openxmlformats.org/officeDocument/2006/relationships" id="289" r:id="Rfa5877bc8ddd4b35"/>
    <p:sldId xmlns:r="http://schemas.openxmlformats.org/officeDocument/2006/relationships" id="290" r:id="Rec6f17908c404f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338c0d3a174762" /><Relationship Type="http://schemas.openxmlformats.org/officeDocument/2006/relationships/slideMaster" Target="/ppt/slideMasters/slideMaster1.xml" Id="R0ddbdc8bc8e240b3" /><Relationship Type="http://schemas.openxmlformats.org/officeDocument/2006/relationships/notesMaster" Target="/ppt/notesMasters/notesMaster1.xml" Id="R352401c010a54d4a" /><Relationship Type="http://schemas.openxmlformats.org/officeDocument/2006/relationships/presProps" Target="/ppt/presProps.xml" Id="R9611b982a8c649fa" /><Relationship Type="http://schemas.openxmlformats.org/officeDocument/2006/relationships/tableStyles" Target="/ppt/tableStyles.xml" Id="Rb73b8d9f1da54886" /><Relationship Type="http://schemas.openxmlformats.org/officeDocument/2006/relationships/slide" Target="/ppt/slides/slide1.xml" Id="R9d8101d4c6b846bd" /><Relationship Type="http://schemas.openxmlformats.org/officeDocument/2006/relationships/slide" Target="/ppt/slides/slide2.xml" Id="Rb755d99290da407d" /><Relationship Type="http://schemas.openxmlformats.org/officeDocument/2006/relationships/slide" Target="/ppt/slides/slide3.xml" Id="R6b790a3992a447c4" /><Relationship Type="http://schemas.openxmlformats.org/officeDocument/2006/relationships/slide" Target="/ppt/slides/slide4.xml" Id="R8f17a1f212074019" /><Relationship Type="http://schemas.openxmlformats.org/officeDocument/2006/relationships/slide" Target="/ppt/slides/slide5.xml" Id="R23aa50afc62e4964" /><Relationship Type="http://schemas.openxmlformats.org/officeDocument/2006/relationships/slide" Target="/ppt/slides/slide6.xml" Id="R21278b21c14f4945" /><Relationship Type="http://schemas.openxmlformats.org/officeDocument/2006/relationships/slide" Target="/ppt/slides/slide7.xml" Id="Rc1325e0f6fd34e6b" /><Relationship Type="http://schemas.openxmlformats.org/officeDocument/2006/relationships/slide" Target="/ppt/slides/slide8.xml" Id="Rfee91abc1dfc4fda" /><Relationship Type="http://schemas.openxmlformats.org/officeDocument/2006/relationships/slide" Target="/ppt/slides/slide9.xml" Id="Rbad6c7b1c3c548e1" /><Relationship Type="http://schemas.openxmlformats.org/officeDocument/2006/relationships/slide" Target="/ppt/slides/slide10.xml" Id="R6cff9503345f46d8" /><Relationship Type="http://schemas.openxmlformats.org/officeDocument/2006/relationships/slide" Target="/ppt/slides/slide11.xml" Id="R099f26d253b546e0" /><Relationship Type="http://schemas.openxmlformats.org/officeDocument/2006/relationships/slide" Target="/ppt/slides/slide12.xml" Id="R8360b83a383147d7" /><Relationship Type="http://schemas.openxmlformats.org/officeDocument/2006/relationships/slide" Target="/ppt/slides/slide13.xml" Id="Rd4529ffbf8a2455a" /><Relationship Type="http://schemas.openxmlformats.org/officeDocument/2006/relationships/slide" Target="/ppt/slides/slide14.xml" Id="Rbed12fb5f9eb4093" /><Relationship Type="http://schemas.openxmlformats.org/officeDocument/2006/relationships/slide" Target="/ppt/slides/slide15.xml" Id="R4f2cec105e8c429c" /><Relationship Type="http://schemas.openxmlformats.org/officeDocument/2006/relationships/slide" Target="/ppt/slides/slide16.xml" Id="Rffe2cb3e68a941f7" /><Relationship Type="http://schemas.openxmlformats.org/officeDocument/2006/relationships/slide" Target="/ppt/slides/slide17.xml" Id="R9a3c3bf42f6d4900" /><Relationship Type="http://schemas.openxmlformats.org/officeDocument/2006/relationships/slide" Target="/ppt/slides/slide18.xml" Id="Rb942e10290d140be" /><Relationship Type="http://schemas.openxmlformats.org/officeDocument/2006/relationships/slide" Target="/ppt/slides/slide19.xml" Id="Ra60ad714400c4ccd" /><Relationship Type="http://schemas.openxmlformats.org/officeDocument/2006/relationships/slide" Target="/ppt/slides/slide20.xml" Id="Rc32200dd47a94712" /><Relationship Type="http://schemas.openxmlformats.org/officeDocument/2006/relationships/slide" Target="/ppt/slides/slide21.xml" Id="Rb9b98ad316ee4b0f" /><Relationship Type="http://schemas.openxmlformats.org/officeDocument/2006/relationships/slide" Target="/ppt/slides/slide22.xml" Id="R25f13eefb0ab4c61" /><Relationship Type="http://schemas.openxmlformats.org/officeDocument/2006/relationships/slide" Target="/ppt/slides/slide23.xml" Id="Ra1f6644271844bad" /><Relationship Type="http://schemas.openxmlformats.org/officeDocument/2006/relationships/slide" Target="/ppt/slides/slide24.xml" Id="Rcb169fd76b724beb" /><Relationship Type="http://schemas.openxmlformats.org/officeDocument/2006/relationships/slide" Target="/ppt/slides/slide25.xml" Id="R079d5fcc807f433b" /><Relationship Type="http://schemas.openxmlformats.org/officeDocument/2006/relationships/slide" Target="/ppt/slides/slide26.xml" Id="R30c520d9202048cf" /><Relationship Type="http://schemas.openxmlformats.org/officeDocument/2006/relationships/slide" Target="/ppt/slides/slide27.xml" Id="Redfa62f0bdf94d12" /><Relationship Type="http://schemas.openxmlformats.org/officeDocument/2006/relationships/slide" Target="/ppt/slides/slide28.xml" Id="Rd52e7fad66c14b74" /><Relationship Type="http://schemas.openxmlformats.org/officeDocument/2006/relationships/slide" Target="/ppt/slides/slide29.xml" Id="R3ee1fd3bc7fc401d" /><Relationship Type="http://schemas.openxmlformats.org/officeDocument/2006/relationships/slide" Target="/ppt/slides/slide30.xml" Id="Rea751a69f79e46c2" /><Relationship Type="http://schemas.openxmlformats.org/officeDocument/2006/relationships/slide" Target="/ppt/slides/slide31.xml" Id="R3aebc37a72734f74" /><Relationship Type="http://schemas.openxmlformats.org/officeDocument/2006/relationships/slide" Target="/ppt/slides/slide32.xml" Id="Rdab5a51bb65f4bb4" /><Relationship Type="http://schemas.openxmlformats.org/officeDocument/2006/relationships/slide" Target="/ppt/slides/slide33.xml" Id="Ra218b62b4df8457b" /><Relationship Type="http://schemas.openxmlformats.org/officeDocument/2006/relationships/slide" Target="/ppt/slides/slide34.xml" Id="Rfa5877bc8ddd4b35" /><Relationship Type="http://schemas.openxmlformats.org/officeDocument/2006/relationships/slide" Target="/ppt/slides/slide35.xml" Id="Rec6f17908c40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b29c79d9d9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9df0c22ddf494b" /><Relationship Type="http://schemas.openxmlformats.org/officeDocument/2006/relationships/notesMaster" Target="/ppt/notesMasters/notesMaster1.xml" Id="R073a13e67bee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fe5ac84924149" /><Relationship Type="http://schemas.openxmlformats.org/officeDocument/2006/relationships/notesMaster" Target="/ppt/notesMasters/notesMaster1.xml" Id="R18d53465a782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0900e35a2840c0" /><Relationship Type="http://schemas.openxmlformats.org/officeDocument/2006/relationships/notesMaster" Target="/ppt/notesMasters/notesMaster1.xml" Id="Rb16a5fa7e8654a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2d77b2ab7a490f" /><Relationship Type="http://schemas.openxmlformats.org/officeDocument/2006/relationships/notesMaster" Target="/ppt/notesMasters/notesMaster1.xml" Id="R19e53425244b4a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2d43b7a9eb4297" /><Relationship Type="http://schemas.openxmlformats.org/officeDocument/2006/relationships/notesMaster" Target="/ppt/notesMasters/notesMaster1.xml" Id="R795967d4a40545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df950e907945b0" /><Relationship Type="http://schemas.openxmlformats.org/officeDocument/2006/relationships/notesMaster" Target="/ppt/notesMasters/notesMaster1.xml" Id="R7a8496d083084b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b898ebb310462a" /><Relationship Type="http://schemas.openxmlformats.org/officeDocument/2006/relationships/notesMaster" Target="/ppt/notesMasters/notesMaster1.xml" Id="R1ce1030dc9e047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439d0c3dd409d" /><Relationship Type="http://schemas.openxmlformats.org/officeDocument/2006/relationships/notesMaster" Target="/ppt/notesMasters/notesMaster1.xml" Id="R8c40feacf99147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17a791809f491b" /><Relationship Type="http://schemas.openxmlformats.org/officeDocument/2006/relationships/notesMaster" Target="/ppt/notesMasters/notesMaster1.xml" Id="Red287a502ede4c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384f45b80d43d4" /><Relationship Type="http://schemas.openxmlformats.org/officeDocument/2006/relationships/notesMaster" Target="/ppt/notesMasters/notesMaster1.xml" Id="Radf5720928394f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4d8089255c4451" /><Relationship Type="http://schemas.openxmlformats.org/officeDocument/2006/relationships/notesMaster" Target="/ppt/notesMasters/notesMaster1.xml" Id="R9eebea850e8d4d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1e07673b494697" /><Relationship Type="http://schemas.openxmlformats.org/officeDocument/2006/relationships/notesMaster" Target="/ppt/notesMasters/notesMaster1.xml" Id="R01317e4f1ed248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5e2b69d4e146bd" /><Relationship Type="http://schemas.openxmlformats.org/officeDocument/2006/relationships/notesMaster" Target="/ppt/notesMasters/notesMaster1.xml" Id="Rc61646c61ef149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366f2d8cf74473" /><Relationship Type="http://schemas.openxmlformats.org/officeDocument/2006/relationships/notesMaster" Target="/ppt/notesMasters/notesMaster1.xml" Id="R4bbe6355bcc845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1b5841c2dc4192" /><Relationship Type="http://schemas.openxmlformats.org/officeDocument/2006/relationships/notesMaster" Target="/ppt/notesMasters/notesMaster1.xml" Id="R2a973e36459c41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84369193544ef8" /><Relationship Type="http://schemas.openxmlformats.org/officeDocument/2006/relationships/notesMaster" Target="/ppt/notesMasters/notesMaster1.xml" Id="R53f3141db20e4d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cd6204b3de4faa" /><Relationship Type="http://schemas.openxmlformats.org/officeDocument/2006/relationships/notesMaster" Target="/ppt/notesMasters/notesMaster1.xml" Id="Rf5538070123843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6afbc08f36476b" /><Relationship Type="http://schemas.openxmlformats.org/officeDocument/2006/relationships/notesMaster" Target="/ppt/notesMasters/notesMaster1.xml" Id="R7793a420b6024b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89d0e9f1444769" /><Relationship Type="http://schemas.openxmlformats.org/officeDocument/2006/relationships/notesMaster" Target="/ppt/notesMasters/notesMaster1.xml" Id="R3e594a18f3cf42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bc8adb83f24e21" /><Relationship Type="http://schemas.openxmlformats.org/officeDocument/2006/relationships/notesMaster" Target="/ppt/notesMasters/notesMaster1.xml" Id="Rd002b9c887f240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d5881473b94534" /><Relationship Type="http://schemas.openxmlformats.org/officeDocument/2006/relationships/notesMaster" Target="/ppt/notesMasters/notesMaster1.xml" Id="Rc405482d3ce442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7bc453ffee45ec" /><Relationship Type="http://schemas.openxmlformats.org/officeDocument/2006/relationships/notesMaster" Target="/ppt/notesMasters/notesMaster1.xml" Id="R4903eecf1a1c40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8bc2c9c9c54d0c" /><Relationship Type="http://schemas.openxmlformats.org/officeDocument/2006/relationships/notesMaster" Target="/ppt/notesMasters/notesMaster1.xml" Id="R713bd2b9c69b46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4f886c8f694389" /><Relationship Type="http://schemas.openxmlformats.org/officeDocument/2006/relationships/notesMaster" Target="/ppt/notesMasters/notesMaster1.xml" Id="Ra0dd2d08cfa049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72b8216e944fa8" /><Relationship Type="http://schemas.openxmlformats.org/officeDocument/2006/relationships/notesMaster" Target="/ppt/notesMasters/notesMaster1.xml" Id="Rc75afb95669d49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43e0f65d7846da" /><Relationship Type="http://schemas.openxmlformats.org/officeDocument/2006/relationships/notesMaster" Target="/ppt/notesMasters/notesMaster1.xml" Id="Re669953412ee44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0ffdd7fe154465" /><Relationship Type="http://schemas.openxmlformats.org/officeDocument/2006/relationships/notesMaster" Target="/ppt/notesMasters/notesMaster1.xml" Id="Rf0cd4c899ea046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0700675d034805" /><Relationship Type="http://schemas.openxmlformats.org/officeDocument/2006/relationships/notesMaster" Target="/ppt/notesMasters/notesMaster1.xml" Id="R39a6d9ac51bf4c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1f8483ce2514698" /><Relationship Type="http://schemas.openxmlformats.org/officeDocument/2006/relationships/notesMaster" Target="/ppt/notesMasters/notesMaster1.xml" Id="R04d69464f85941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1a4d44ef354028" /><Relationship Type="http://schemas.openxmlformats.org/officeDocument/2006/relationships/notesMaster" Target="/ppt/notesMasters/notesMaster1.xml" Id="Rbcb2aa5903d44d3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b918ae9a7d46b4" /><Relationship Type="http://schemas.openxmlformats.org/officeDocument/2006/relationships/notesMaster" Target="/ppt/notesMasters/notesMaster1.xml" Id="Rdc0c450ec9f94f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da22c4c5503401c" /><Relationship Type="http://schemas.openxmlformats.org/officeDocument/2006/relationships/notesMaster" Target="/ppt/notesMasters/notesMaster1.xml" Id="R387fe1a480c84c1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16b54e463fc4d84" /><Relationship Type="http://schemas.openxmlformats.org/officeDocument/2006/relationships/notesMaster" Target="/ppt/notesMasters/notesMaster1.xml" Id="R0f505ad92f004f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1c26c904be4bdc" /><Relationship Type="http://schemas.openxmlformats.org/officeDocument/2006/relationships/notesMaster" Target="/ppt/notesMasters/notesMaster1.xml" Id="Ra63e9bf129e549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e22f1e55cf34c28" /><Relationship Type="http://schemas.openxmlformats.org/officeDocument/2006/relationships/notesMaster" Target="/ppt/notesMasters/notesMaster1.xml" Id="Rd22a5c340b60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报告研究零外场、自旋1/2正方晶格铁磁体。先解释直接库仑交换与单翻转精确子空间，再讨论线性传播与波包展宽。图中是有效模型计算。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理论来源：单磁子推导 PDF　模拟：均匀最近邻交换模型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以全极化铁磁态为背景，在其中翻转一个自旋。首先关注激发怎样在格点间传递，再区分波包整体运动和形状变化。动画在放映模式中展示。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3–5 页　动画 B14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固定两个正交归一的相邻轨道a,b，各占据一个电子。只保留固定占据下的直接库仑交换，不纳入电子跃迁产生的超交换。D和K都具有能量量纲。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1–2 页，式 (1)–(9)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有序基底为↑↑、↑↓、↓↑、↓↓。反平行积态之间有−K的非对角矩阵元。两个反平行积态的对称和反对称组合分别属于triplet和singlet。D±K是本征态能量。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 页，式 (10)–(14)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比较S_a·S_b与库仑作用矩阵。中间块的非对角元为1/2，所以−J_H/2=−K，得到J_H=2K。常数项D−K/2只平移所有能量。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(17)–(21)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每条无向键计一次，背景沿+x极化。Jx和Jy的差异属于空间方向的交换各向异性，每条键上的自旋作用仍是点积。每条铁磁键均达到其能量下界。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(22)–(25)　图 A01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局域翻转是基矢，不是一般的能量本征态。H作用后仍是单翻转基矢的线性组合，因此这个子空间精确闭合。概率P_i给出翻转位置的测量分布。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 页，式 (26)–(31)　图 B01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一条含翻转的键相对基态增加Jij/2的对角能量，并产生−Jij/2的跃迁振幅。四个邻居的贡献相加，得到离散Schrödinger形式。E_F完整保留在原理推导中。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(28)、(34)、(35)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均匀晶格具有平移不变性。相邻格点只相差e^{±ik_mu a}。将这些相位代入四邻居方程，两个指数相加成为2cos，从而得到单磁子激发能。此页沿用源PDF的hbar=1。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(36)–(39)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能量用Jx归一化。左图eta=1色散曲面，右图使用实际保存的eta=.35轴向截面。原点是零激发能，最高能量2(1+eta)。二维点激发包含整个布里渊区。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式 (39)　模拟 A02、A03 轴向截面数据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箭头长度按共同尺度编码速度大小。等频不等于等群速度，也不自动保证完整局域波包保形。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A05、A06，η = 1 与 0.35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有限频宽波包的精确质心速度是谱平均，中心波矢处群速度是窄带近似。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A07　ω = ε /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原理PDF保留E_F且取hbar=1。模拟恢复hbar后显式去除公共基态相位psi=e^{iE_Ft/hbar}c；概率保持不变。使用q=ka、tau=Jx*t/hbar、eta=Jy/Jx。每个FFT模式直接乘完整余弦色散的时间相位。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　模拟 common.py 与 THEORY.md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图中为N²|A|²，仅为可读性缩放。不能用单一中心波矢或只在原点展开的二阶色散描述全部传播。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B02　N = 256 表示 256 × 256 格点，Σ|A|²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早期过程见第2页动画。此页固定色标1e-7到0.1。显示边缘是色标阈值，前沿外仍有小概率尾部。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B04　η = 1，四个时刻使用共同对数色标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快照比较eta=0、.3、1，均为同一单点初态tau24。RMS_x=tau/sqrt2，RMS_y=eta*tau/sqrt2。eta=0为解耦链极限。动画对照在附录。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B05、B11、B16　Jₓ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热图是Px，即对y求和的边际概率。主要前沿由最大x群速度|u_x|≤1描述，RMS_x=tau/sqrt2。前沿之外仍有非零尾部，不是严格有限支持。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B07、B09　左图 η = 1，右图 η = 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原点返回概率的振荡是无耗散相干传播的结果。沿+x量子化时&lt;Sx&gt;=1/2-P，而&lt;Sy&gt;=&lt;Sz&gt;=0。所有格点的纵向亏损之和为1。图的两部分纵轴不同。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B10　固定单磁子数态，η = 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左图是y=0中心截线，不是对y求和的边际。两个面板纵轴不同，右图显示相对1/2背景的亏损。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B12　η = 1，τ = 8，背景沿 +x 极化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Gaussian振幅的指数分母为4sigma²，sigma是概率分布的RMS宽度。载波改变频谱中心，但不改变初始概率。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C01　n = r/a，σ 以格点数计，σ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三个tau60快照对应相同初始概率包络，q0分别为(-.7,0),(.7,0),(.7,.7)。零载波情况下质心不动但包络仍展宽，见C03。三幅图使用共同空间窗与色标。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C05　静态快照 τ = 60，σ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图表数值直接来自保存的NPZ轨迹。对于q0=(.7,0)，真实质心速度是.6392043454，而sin(.7)=.6442176872。tau60时，中心波矢近似会多预测.3008005a位移。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C06　σ = 4，η = 1，τ ≤ 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Px和Py都是对另一方向求和的边际概率，分别归一化为1。x运动和形状变化可以分别度量。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C07　q₀ = (0.7,0)，σ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无限晶格下初始位置与速度的对称协方差为零，Var(n(tau))=Var(n0)+tau²Var(u)。当前有限周期盒在展示范围内有边界检查。对于一般有啁啾初态还存在2tau Cov_sym项。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C09　完整色散下的数值宽度与谱矩关系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sigma3/6/10都归一化为1，但初始空间范围不同。更宽包络对应更窄频谱，通常有较小相对展宽。本页不将其解释为相同初始资源的性能比较。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C02、C08　q₀ = (0.7,0)，η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左右保持q0、sigma和tau60相同，只改变eta。波矢均为45度，谱平均群速度方向分别45度和16.699度。eta.3时中心为(38.3523,11.5057)a。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C10、C11　q₀ = (0.7,0.7)，σ = 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右图为固定qy=0时的精确残余相位，连续展开显示，不取模2pi。这里的非线性相位指相位对波矢的非线性依赖，模型动力学仍是线性的。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C12　e = ε/Jₓ，τ = 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对比普通中心q0=(.7,.7)和(pi/2,pi/2)。sigma均3，tau均60，使用各自真实谱平均速度作平移参考。F为复态重合模平方，含相对相位改变，不仅是概率轮廓重合。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C13　同初宽 σ = 3，η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本次完成的层次是模型推导、线性传播图像与有限时间的数值证据。未来研究可针对具体初态局域性与完整二维保形，不将当前toy model直接等同于实际材料。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 PDF 第 1–5 页　模拟 A、B、C 组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本页用于回答交换负号和单翻转矩阵元问题。源推导固定产生算符顺序f_a† f_b†。从反平行态读出非对角元−K，再与−J S_a·S_b匹配。所有箭头相对于x量子化轴。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2–4 页，式 (9)、(15)、(17)、(27)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e≈(qx²+eta qy²)/2只适用于小波矢。误差阈值是轴向能量的相对误差，不是传播保真度阈值。相位差还随时间积累。所有主动力学计算使用完整余弦色散。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A08、A09　轴向能量近似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验证图为FFT与无限晶格Bessel解析传播核比较。独立稀疏矩阵Hamiltonian直接按键构造。边界与扩大晶格测试说明当前展示区间内数值可信，不能代替材料参数验证。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来源：checks_independent.json、checks_b.json、checks_c.json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本页是为了显示高阶形变的独立例子，不能把结果与sigma3例子解释为同一初态资源的性能比较。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C14　独立示例 σ = 2，q₀ = (π/2,π/2)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本页嵌入完整GIF，在支持GIF的PowerPoint放映模式下播放。静态关键帧已经出现在正文各向异性和载波方向页。动画使用固定色标，不逐帧峰值归一化。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来源：单点翻转 B16　Gaussian 载波方向 C16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本报告未新增外部实验或材料参数。理论依据是本地五页原理PDF，数值结果来自既有39图8动画资料包。每个图表的具体来源已写入其所在页的备注。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来源：项目本地材料与可复现模拟文件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526e74e294b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bc716ec074d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44f76899141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e53f3b09e4b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369afadb549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591bdabbf47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c6de0b9b8a4851" /><Relationship Type="http://schemas.openxmlformats.org/officeDocument/2006/relationships/slideLayout" Target="/ppt/slideLayouts/slideLayout1.xml" Id="Rd6d66c2ce0224be8" /><Relationship Type="http://schemas.openxmlformats.org/officeDocument/2006/relationships/slideLayout" Target="/ppt/slideLayouts/slideLayout2.xml" Id="Rc71f32bf7c2f4306" /><Relationship Type="http://schemas.openxmlformats.org/officeDocument/2006/relationships/slideLayout" Target="/ppt/slideLayouts/slideLayout3.xml" Id="R9eec58c0ee3d4436" /><Relationship Type="http://schemas.openxmlformats.org/officeDocument/2006/relationships/slideLayout" Target="/ppt/slideLayouts/slideLayout4.xml" Id="Rf85fdfc910ac4293" /><Relationship Type="http://schemas.openxmlformats.org/officeDocument/2006/relationships/slideLayout" Target="/ppt/slideLayouts/slideLayout5.xml" Id="R9110ba2bd3d44dce" /><Relationship Type="http://schemas.openxmlformats.org/officeDocument/2006/relationships/slideLayout" Target="/ppt/slideLayouts/slideLayout6.xml" Id="R1169123c1dee42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66c2ce0224be8"/>
    <p:sldLayoutId xmlns:r="http://schemas.openxmlformats.org/officeDocument/2006/relationships" id="2147483650" r:id="Rc71f32bf7c2f4306"/>
    <p:sldLayoutId xmlns:r="http://schemas.openxmlformats.org/officeDocument/2006/relationships" id="2147483651" r:id="R9eec58c0ee3d4436"/>
    <p:sldLayoutId xmlns:r="http://schemas.openxmlformats.org/officeDocument/2006/relationships" id="2147483652" r:id="Rf85fdfc910ac4293"/>
    <p:sldLayoutId xmlns:r="http://schemas.openxmlformats.org/officeDocument/2006/relationships" id="2147483653" r:id="R9110ba2bd3d44dce"/>
    <p:sldLayoutId xmlns:r="http://schemas.openxmlformats.org/officeDocument/2006/relationships" id="2147483654" r:id="R1169123c1dee42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bfbd4c982472a" /><Relationship Type="http://schemas.openxmlformats.org/officeDocument/2006/relationships/image" Target="/ppt/media/image.png" Id="Rf13c70f90be84cf1" /><Relationship Type="http://schemas.openxmlformats.org/officeDocument/2006/relationships/image" Target="/ppt/media/image2.png" Id="R288f2cf02d4242a1" /><Relationship Type="http://schemas.openxmlformats.org/officeDocument/2006/relationships/notesSlide" Target="/ppt/notesSlides/notesSlide1.xml" Id="R5a69f9c0d7444a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38124ce3e45e4" /><Relationship Type="http://schemas.openxmlformats.org/officeDocument/2006/relationships/image" Target="/ppt/media/image.gif" Id="R30610d4e41314f0a" /><Relationship Type="http://schemas.openxmlformats.org/officeDocument/2006/relationships/notesSlide" Target="/ppt/notesSlides/notesSlide2.xml" Id="Rf73c549c3672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3b92c1a2d4c5d" /><Relationship Type="http://schemas.openxmlformats.org/officeDocument/2006/relationships/image" Target="/ppt/media/image3.png" Id="R280bd582d0384b3f" /><Relationship Type="http://schemas.openxmlformats.org/officeDocument/2006/relationships/notesSlide" Target="/ppt/notesSlides/notesSlide3.xml" Id="R7b27267a9a4a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89a30f6854ba0" /><Relationship Type="http://schemas.openxmlformats.org/officeDocument/2006/relationships/image" Target="/ppt/media/image4.png" Id="Rc510f40a51b64347" /><Relationship Type="http://schemas.openxmlformats.org/officeDocument/2006/relationships/image" Target="/ppt/media/image5.png" Id="R69ff7231774948c0" /><Relationship Type="http://schemas.openxmlformats.org/officeDocument/2006/relationships/chart" Target="/ppt/slides/charts/chart1.xml" Id="R06cc5ffd423d4f64" /><Relationship Type="http://schemas.openxmlformats.org/officeDocument/2006/relationships/notesSlide" Target="/ppt/notesSlides/notesSlide4.xml" Id="R252deeaa0639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974b58d0e42a0" /><Relationship Type="http://schemas.openxmlformats.org/officeDocument/2006/relationships/image" Target="/ppt/media/image6.png" Id="Re344e48bb5e24340" /><Relationship Type="http://schemas.openxmlformats.org/officeDocument/2006/relationships/image" Target="/ppt/media/image7.png" Id="Rc743d79caac7454f" /><Relationship Type="http://schemas.openxmlformats.org/officeDocument/2006/relationships/notesSlide" Target="/ppt/notesSlides/notesSlide5.xml" Id="Rcd47f8bd3d2c45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600264c8b4e05" /><Relationship Type="http://schemas.openxmlformats.org/officeDocument/2006/relationships/image" Target="/ppt/media/image8.png" Id="Rc6dcf9e397904b11" /><Relationship Type="http://schemas.openxmlformats.org/officeDocument/2006/relationships/image" Target="/ppt/media/image9.png" Id="Ra38cb82017c94577" /><Relationship Type="http://schemas.openxmlformats.org/officeDocument/2006/relationships/image" Target="/ppt/media/image10.png" Id="R33472c6815604293" /><Relationship Type="http://schemas.openxmlformats.org/officeDocument/2006/relationships/notesSlide" Target="/ppt/notesSlides/notesSlide6.xml" Id="R738577e1c76049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7d2ab873a4e51" /><Relationship Type="http://schemas.openxmlformats.org/officeDocument/2006/relationships/image" Target="/ppt/media/image11.png" Id="Rab730cc9968a45a6" /><Relationship Type="http://schemas.openxmlformats.org/officeDocument/2006/relationships/image" Target="/ppt/media/image12.png" Id="R42116c39b13a401d" /><Relationship Type="http://schemas.openxmlformats.org/officeDocument/2006/relationships/image" Target="/ppt/media/image13.png" Id="Rad7839b928cd4d76" /><Relationship Type="http://schemas.openxmlformats.org/officeDocument/2006/relationships/image" Target="/ppt/media/image14.png" Id="R5031e68c25154297" /><Relationship Type="http://schemas.openxmlformats.org/officeDocument/2006/relationships/notesSlide" Target="/ppt/notesSlides/notesSlide7.xml" Id="R9b5e6d9945034d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a65c8cdba4e73" /><Relationship Type="http://schemas.openxmlformats.org/officeDocument/2006/relationships/image" Target="/ppt/media/image15.png" Id="R30e7c505d6da4fea" /><Relationship Type="http://schemas.openxmlformats.org/officeDocument/2006/relationships/image" Target="/ppt/media/image16.png" Id="R09f65b6ab8df482a" /><Relationship Type="http://schemas.openxmlformats.org/officeDocument/2006/relationships/notesSlide" Target="/ppt/notesSlides/notesSlide8.xml" Id="Rffed03b8a7a442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193ddf3134141" /><Relationship Type="http://schemas.openxmlformats.org/officeDocument/2006/relationships/image" Target="/ppt/media/image17.png" Id="R6f47a4248ff442f7" /><Relationship Type="http://schemas.openxmlformats.org/officeDocument/2006/relationships/image" Target="/ppt/media/image18.png" Id="Rb98ff0fd37ee4a50" /><Relationship Type="http://schemas.openxmlformats.org/officeDocument/2006/relationships/image" Target="/ppt/media/image19.png" Id="R9545db3d0a2b41fe" /><Relationship Type="http://schemas.openxmlformats.org/officeDocument/2006/relationships/notesSlide" Target="/ppt/notesSlides/notesSlide9.xml" Id="R69ac41e174d9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f61bf0a624865" /><Relationship Type="http://schemas.openxmlformats.org/officeDocument/2006/relationships/image" Target="/ppt/media/image20.png" Id="Rf284f460a20044c0" /><Relationship Type="http://schemas.openxmlformats.org/officeDocument/2006/relationships/chart" Target="/ppt/slides/charts/chart2.xml" Id="R085ae27dd1eb41b1" /><Relationship Type="http://schemas.openxmlformats.org/officeDocument/2006/relationships/notesSlide" Target="/ppt/notesSlides/notesSlide10.xml" Id="Rd5ab932e2c2f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262c5f9f34751" /><Relationship Type="http://schemas.openxmlformats.org/officeDocument/2006/relationships/image" Target="/ppt/media/image21.png" Id="Rafbb96530e574e88" /><Relationship Type="http://schemas.openxmlformats.org/officeDocument/2006/relationships/notesSlide" Target="/ppt/notesSlides/notesSlide11.xml" Id="R8a1c0d9616d24f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967ddc40b4094" /><Relationship Type="http://schemas.openxmlformats.org/officeDocument/2006/relationships/image" Target="/ppt/media/image22.png" Id="R7eb2f3cb680c48a6" /><Relationship Type="http://schemas.openxmlformats.org/officeDocument/2006/relationships/notesSlide" Target="/ppt/notesSlides/notesSlide12.xml" Id="R716e4dcd6eef4b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fbb3bf8bd4504" /><Relationship Type="http://schemas.openxmlformats.org/officeDocument/2006/relationships/notesSlide" Target="/ppt/notesSlides/notesSlide13.xml" Id="R8bb18fe7ced04c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b5cb8fb6e4f5d" /><Relationship Type="http://schemas.openxmlformats.org/officeDocument/2006/relationships/image" Target="/ppt/media/image23.png" Id="R7d88c659fd0248fa" /><Relationship Type="http://schemas.openxmlformats.org/officeDocument/2006/relationships/notesSlide" Target="/ppt/notesSlides/notesSlide14.xml" Id="R5f5ca25365a143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ed966afba4cc4" /><Relationship Type="http://schemas.openxmlformats.org/officeDocument/2006/relationships/image" Target="/ppt/media/image24.png" Id="R07a95acd678c4640" /><Relationship Type="http://schemas.openxmlformats.org/officeDocument/2006/relationships/notesSlide" Target="/ppt/notesSlides/notesSlide15.xml" Id="R6652b3c541fb4d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a9fe7316940a8" /><Relationship Type="http://schemas.openxmlformats.org/officeDocument/2006/relationships/image" Target="/ppt/media/image25.png" Id="R40175a0607214477" /><Relationship Type="http://schemas.openxmlformats.org/officeDocument/2006/relationships/notesSlide" Target="/ppt/notesSlides/notesSlide16.xml" Id="R84a7c3756b6e40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1133354134afb" /><Relationship Type="http://schemas.openxmlformats.org/officeDocument/2006/relationships/image" Target="/ppt/media/image26.png" Id="R192bec496fcd406a" /><Relationship Type="http://schemas.openxmlformats.org/officeDocument/2006/relationships/chart" Target="/ppt/slides/charts/chart3.xml" Id="Rdddc9aa18bdf4b59" /><Relationship Type="http://schemas.openxmlformats.org/officeDocument/2006/relationships/notesSlide" Target="/ppt/notesSlides/notesSlide17.xml" Id="R85332954cbb849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96a0bfea74288" /><Relationship Type="http://schemas.openxmlformats.org/officeDocument/2006/relationships/image" Target="/ppt/media/image27.png" Id="Rd438e64f20c145c4" /><Relationship Type="http://schemas.openxmlformats.org/officeDocument/2006/relationships/notesSlide" Target="/ppt/notesSlides/notesSlide18.xml" Id="R7089a5d3502241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020879a2148f1" /><Relationship Type="http://schemas.openxmlformats.org/officeDocument/2006/relationships/image" Target="/ppt/media/image28.png" Id="R12599a46fa6e4396" /><Relationship Type="http://schemas.openxmlformats.org/officeDocument/2006/relationships/notesSlide" Target="/ppt/notesSlides/notesSlide19.xml" Id="Rc470a519916b4a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4fd331f534481" /><Relationship Type="http://schemas.openxmlformats.org/officeDocument/2006/relationships/image" Target="/ppt/media/image29.png" Id="R10795be43df34a9d" /><Relationship Type="http://schemas.openxmlformats.org/officeDocument/2006/relationships/notesSlide" Target="/ppt/notesSlides/notesSlide20.xml" Id="Rf60c97d8d8e04a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b4af93ca64e6e" /><Relationship Type="http://schemas.openxmlformats.org/officeDocument/2006/relationships/image" Target="/ppt/media/image30.png" Id="R66c84d3a909f4a73" /><Relationship Type="http://schemas.openxmlformats.org/officeDocument/2006/relationships/notesSlide" Target="/ppt/notesSlides/notesSlide21.xml" Id="Rc6b5f7ff065c4e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ec189cb324d16" /><Relationship Type="http://schemas.openxmlformats.org/officeDocument/2006/relationships/chart" Target="/ppt/slides/charts/chart4.xml" Id="R42f2c1b8b5174929" /><Relationship Type="http://schemas.openxmlformats.org/officeDocument/2006/relationships/notesSlide" Target="/ppt/notesSlides/notesSlide22.xml" Id="R37c7acf38a8049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2c00b0b3348c4" /><Relationship Type="http://schemas.openxmlformats.org/officeDocument/2006/relationships/image" Target="/ppt/media/image31.png" Id="R3a3daa5c58bd486a" /><Relationship Type="http://schemas.openxmlformats.org/officeDocument/2006/relationships/notesSlide" Target="/ppt/notesSlides/notesSlide23.xml" Id="R6eda0c1f388541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3bf23593b4de2" /><Relationship Type="http://schemas.openxmlformats.org/officeDocument/2006/relationships/chart" Target="/ppt/slides/charts/chart5.xml" Id="R5885fd0e230248a9" /><Relationship Type="http://schemas.openxmlformats.org/officeDocument/2006/relationships/notesSlide" Target="/ppt/notesSlides/notesSlide24.xml" Id="Rcdd211989bc54b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14faabf8943e7" /><Relationship Type="http://schemas.openxmlformats.org/officeDocument/2006/relationships/image" Target="/ppt/media/image32.png" Id="Rd8d331c336a145e3" /><Relationship Type="http://schemas.openxmlformats.org/officeDocument/2006/relationships/chart" Target="/ppt/slides/charts/chart6.xml" Id="Ra41f50d76e5e4c3c" /><Relationship Type="http://schemas.openxmlformats.org/officeDocument/2006/relationships/notesSlide" Target="/ppt/notesSlides/notesSlide25.xml" Id="R82becdbc089e49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0c123fa3a4a66" /><Relationship Type="http://schemas.openxmlformats.org/officeDocument/2006/relationships/image" Target="/ppt/media/image33.png" Id="R970e699f67b34b2d" /><Relationship Type="http://schemas.openxmlformats.org/officeDocument/2006/relationships/notesSlide" Target="/ppt/notesSlides/notesSlide26.xml" Id="R74927637f91449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09596991c476c" /><Relationship Type="http://schemas.openxmlformats.org/officeDocument/2006/relationships/image" Target="/ppt/media/image34.png" Id="R04c7d8822d5646a4" /><Relationship Type="http://schemas.openxmlformats.org/officeDocument/2006/relationships/notesSlide" Target="/ppt/notesSlides/notesSlide27.xml" Id="R72bf22c183b046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d37a0023747eb" /><Relationship Type="http://schemas.openxmlformats.org/officeDocument/2006/relationships/chart" Target="/ppt/slides/charts/chart7.xml" Id="R02288877175a4f60" /><Relationship Type="http://schemas.openxmlformats.org/officeDocument/2006/relationships/chart" Target="/ppt/slides/charts/chart8.xml" Id="Rf758952ff4b0497a" /><Relationship Type="http://schemas.openxmlformats.org/officeDocument/2006/relationships/notesSlide" Target="/ppt/notesSlides/notesSlide28.xml" Id="R42ee45d71bcb4a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fc0421f714e53" /><Relationship Type="http://schemas.openxmlformats.org/officeDocument/2006/relationships/notesSlide" Target="/ppt/notesSlides/notesSlide29.xml" Id="R182d3f227e1d4b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40f2d5b8b412e" /><Relationship Type="http://schemas.openxmlformats.org/officeDocument/2006/relationships/image" Target="/ppt/media/image35.png" Id="R18abfd64c6fb495d" /><Relationship Type="http://schemas.openxmlformats.org/officeDocument/2006/relationships/image" Target="/ppt/media/image36.png" Id="R6b85a9e0131d45d6" /><Relationship Type="http://schemas.openxmlformats.org/officeDocument/2006/relationships/image" Target="/ppt/media/image37.png" Id="Rfcc19fc7aa064eb5" /><Relationship Type="http://schemas.openxmlformats.org/officeDocument/2006/relationships/notesSlide" Target="/ppt/notesSlides/notesSlide30.xml" Id="R0cc249e78bc94f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4ca7c8d8e43af" /><Relationship Type="http://schemas.openxmlformats.org/officeDocument/2006/relationships/image" Target="/ppt/media/image38.png" Id="R6725dafa91a8456e" /><Relationship Type="http://schemas.openxmlformats.org/officeDocument/2006/relationships/notesSlide" Target="/ppt/notesSlides/notesSlide31.xml" Id="Rbef812ebbd6948f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aa46e66334e48" /><Relationship Type="http://schemas.openxmlformats.org/officeDocument/2006/relationships/image" Target="/ppt/media/image39.png" Id="R4435a85791f749ba" /><Relationship Type="http://schemas.openxmlformats.org/officeDocument/2006/relationships/notesSlide" Target="/ppt/notesSlides/notesSlide32.xml" Id="R58a1110814e84d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083c0ba2c4b75" /><Relationship Type="http://schemas.openxmlformats.org/officeDocument/2006/relationships/image" Target="/ppt/media/image40.png" Id="R9d03d808c8ff47cd" /><Relationship Type="http://schemas.openxmlformats.org/officeDocument/2006/relationships/notesSlide" Target="/ppt/notesSlides/notesSlide33.xml" Id="R60817a323b87461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f8a8b139f49e6" /><Relationship Type="http://schemas.openxmlformats.org/officeDocument/2006/relationships/image" Target="/ppt/media/image2.gif" Id="R61c281711cda4cee" /><Relationship Type="http://schemas.openxmlformats.org/officeDocument/2006/relationships/image" Target="/ppt/media/image3.gif" Id="Rbba0550478484abb" /><Relationship Type="http://schemas.openxmlformats.org/officeDocument/2006/relationships/notesSlide" Target="/ppt/notesSlides/notesSlide34.xml" Id="Rcbb77bbfe422494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97afe75174143" /><Relationship Type="http://schemas.openxmlformats.org/officeDocument/2006/relationships/notesSlide" Target="/ppt/notesSlides/notesSlide35.xml" Id="Ra20ca9ab97c5468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三重态，3 个态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单重态，1 个态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 /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0.35 的两个方向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沿 x，qᵧ = 0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2</c:v>
              </c:pt>
              <c:pt idx="1">
                <c:v>1.996917333733128</c:v>
              </c:pt>
              <c:pt idx="2">
                <c:v>1.9876883405951378</c:v>
              </c:pt>
              <c:pt idx="3">
                <c:v>1.9723699203976766</c:v>
              </c:pt>
              <c:pt idx="4">
                <c:v>1.9510565162951536</c:v>
              </c:pt>
              <c:pt idx="5">
                <c:v>1.9238795325112867</c:v>
              </c:pt>
              <c:pt idx="6">
                <c:v>1.8910065241883678</c:v>
              </c:pt>
              <c:pt idx="7">
                <c:v>1.8526401643540922</c:v>
              </c:pt>
              <c:pt idx="8">
                <c:v>1.8090169943749475</c:v>
              </c:pt>
              <c:pt idx="9">
                <c:v>1.760405965600031</c:v>
              </c:pt>
              <c:pt idx="10">
                <c:v>1.7071067811865475</c:v>
              </c:pt>
              <c:pt idx="11">
                <c:v>1.6494480483301834</c:v>
              </c:pt>
              <c:pt idx="12">
                <c:v>1.587785252292473</c:v>
              </c:pt>
              <c:pt idx="13">
                <c:v>1.5224985647159488</c:v>
              </c:pt>
              <c:pt idx="14">
                <c:v>1.4539904997395467</c:v>
              </c:pt>
              <c:pt idx="15">
                <c:v>1.3826834323650896</c:v>
              </c:pt>
              <c:pt idx="16">
                <c:v>1.3090169943749475</c:v>
              </c:pt>
              <c:pt idx="17">
                <c:v>1.2334453638559053</c:v>
              </c:pt>
              <c:pt idx="18">
                <c:v>1.1564344650402307</c:v>
              </c:pt>
              <c:pt idx="19">
                <c:v>1.0784590957278448</c:v>
              </c:pt>
              <c:pt idx="20">
                <c:v>0.9999999999999999</c:v>
              </c:pt>
              <c:pt idx="21">
                <c:v>0.921540904272155</c:v>
              </c:pt>
              <c:pt idx="22">
                <c:v>0.843565534959769</c:v>
              </c:pt>
              <c:pt idx="23">
                <c:v>0.7665546361440945</c:v>
              </c:pt>
              <c:pt idx="24">
                <c:v>0.6909830056250525</c:v>
              </c:pt>
              <c:pt idx="25">
                <c:v>0.6173165676349102</c:v>
              </c:pt>
              <c:pt idx="26">
                <c:v>0.5460095002604533</c:v>
              </c:pt>
              <c:pt idx="27">
                <c:v>0.4775014352840511</c:v>
              </c:pt>
              <c:pt idx="28">
                <c:v>0.41221474770752686</c:v>
              </c:pt>
              <c:pt idx="29">
                <c:v>0.35055195166981634</c:v>
              </c:pt>
              <c:pt idx="30">
                <c:v>0.2928932188134524</c:v>
              </c:pt>
              <c:pt idx="31">
                <c:v>0.23959403439996907</c:v>
              </c:pt>
              <c:pt idx="32">
                <c:v>0.19098300562505255</c:v>
              </c:pt>
              <c:pt idx="33">
                <c:v>0.1473598356459077</c:v>
              </c:pt>
              <c:pt idx="34">
                <c:v>0.1089934758116321</c:v>
              </c:pt>
              <c:pt idx="35">
                <c:v>0.07612046748871326</c:v>
              </c:pt>
              <c:pt idx="36">
                <c:v>0.04894348370484647</c:v>
              </c:pt>
              <c:pt idx="37">
                <c:v>0.027630079602323443</c:v>
              </c:pt>
              <c:pt idx="38">
                <c:v>0.01231165940486223</c:v>
              </c:pt>
              <c:pt idx="39">
                <c:v>0.003082666266872036</c:v>
              </c:pt>
              <c:pt idx="40">
                <c:v>0</c:v>
              </c:pt>
              <c:pt idx="41">
                <c:v>0.003082666266872036</c:v>
              </c:pt>
              <c:pt idx="42">
                <c:v>0.01231165940486223</c:v>
              </c:pt>
              <c:pt idx="43">
                <c:v>0.027630079602323443</c:v>
              </c:pt>
              <c:pt idx="44">
                <c:v>0.04894348370484647</c:v>
              </c:pt>
              <c:pt idx="45">
                <c:v>0.07612046748871326</c:v>
              </c:pt>
              <c:pt idx="46">
                <c:v>0.1089934758116321</c:v>
              </c:pt>
              <c:pt idx="47">
                <c:v>0.1473598356459077</c:v>
              </c:pt>
              <c:pt idx="48">
                <c:v>0.19098300562505255</c:v>
              </c:pt>
              <c:pt idx="49">
                <c:v>0.23959403439996907</c:v>
              </c:pt>
              <c:pt idx="50">
                <c:v>0.2928932188134524</c:v>
              </c:pt>
              <c:pt idx="51">
                <c:v>0.350551951669816</c:v>
              </c:pt>
              <c:pt idx="52">
                <c:v>0.41221474770752686</c:v>
              </c:pt>
              <c:pt idx="53">
                <c:v>0.47750143528405153</c:v>
              </c:pt>
              <c:pt idx="54">
                <c:v>0.5460095002604533</c:v>
              </c:pt>
              <c:pt idx="55">
                <c:v>0.6173165676349097</c:v>
              </c:pt>
              <c:pt idx="56">
                <c:v>0.6909830056250525</c:v>
              </c:pt>
              <c:pt idx="57">
                <c:v>0.7665546361440949</c:v>
              </c:pt>
              <c:pt idx="58">
                <c:v>0.843565534959769</c:v>
              </c:pt>
              <c:pt idx="59">
                <c:v>0.9215409042721545</c:v>
              </c:pt>
              <c:pt idx="60">
                <c:v>0.9999999999999999</c:v>
              </c:pt>
              <c:pt idx="61">
                <c:v>1.0784590957278453</c:v>
              </c:pt>
              <c:pt idx="62">
                <c:v>1.1564344650402307</c:v>
              </c:pt>
              <c:pt idx="63">
                <c:v>1.2334453638559049</c:v>
              </c:pt>
              <c:pt idx="64">
                <c:v>1.3090169943749475</c:v>
              </c:pt>
              <c:pt idx="65">
                <c:v>1.38268343236509</c:v>
              </c:pt>
              <c:pt idx="66">
                <c:v>1.4539904997395467</c:v>
              </c:pt>
              <c:pt idx="67">
                <c:v>1.5224985647159484</c:v>
              </c:pt>
              <c:pt idx="68">
                <c:v>1.587785252292473</c:v>
              </c:pt>
              <c:pt idx="69">
                <c:v>1.6494480483301839</c:v>
              </c:pt>
              <c:pt idx="70">
                <c:v>1.7071067811865475</c:v>
              </c:pt>
              <c:pt idx="71">
                <c:v>1.7604059656000306</c:v>
              </c:pt>
              <c:pt idx="72">
                <c:v>1.8090169943749475</c:v>
              </c:pt>
              <c:pt idx="73">
                <c:v>1.8526401643540924</c:v>
              </c:pt>
              <c:pt idx="74">
                <c:v>1.8910065241883678</c:v>
              </c:pt>
              <c:pt idx="75">
                <c:v>1.9238795325112865</c:v>
              </c:pt>
              <c:pt idx="76">
                <c:v>1.9510565162951536</c:v>
              </c:pt>
              <c:pt idx="77">
                <c:v>1.9723699203976768</c:v>
              </c:pt>
              <c:pt idx="78">
                <c:v>1.9876883405951378</c:v>
              </c:pt>
              <c:pt idx="79">
                <c:v>1.996917333733128</c:v>
              </c:pt>
              <c:pt idx="80">
                <c:v>2</c:v>
              </c:pt>
            </c:numLit>
          </c:yVal>
        </c:ser>
        <c:ser>
          <c:idx val="1"/>
          <c:order val="1"/>
          <c:tx>
            <c:v>沿 y，qₓ = 0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0.7</c:v>
              </c:pt>
              <c:pt idx="1">
                <c:v>0.6989210668065948</c:v>
              </c:pt>
              <c:pt idx="2">
                <c:v>0.6956909192082982</c:v>
              </c:pt>
              <c:pt idx="3">
                <c:v>0.6903294721391867</c:v>
              </c:pt>
              <c:pt idx="4">
                <c:v>0.6828697807033037</c:v>
              </c:pt>
              <c:pt idx="5">
                <c:v>0.6733578363789503</c:v>
              </c:pt>
              <c:pt idx="6">
                <c:v>0.6618522834659287</c:v>
              </c:pt>
              <c:pt idx="7">
                <c:v>0.6484240575239322</c:v>
              </c:pt>
              <c:pt idx="8">
                <c:v>0.6331559480312315</c:v>
              </c:pt>
              <c:pt idx="9">
                <c:v>0.6161420879600108</c:v>
              </c:pt>
              <c:pt idx="10">
                <c:v>0.5974873734152916</c:v>
              </c:pt>
              <c:pt idx="11">
                <c:v>0.5773068169155642</c:v>
              </c:pt>
              <c:pt idx="12">
                <c:v>0.5557248383023655</c:v>
              </c:pt>
              <c:pt idx="13">
                <c:v>0.532874497650582</c:v>
              </c:pt>
              <c:pt idx="14">
                <c:v>0.5088966749088414</c:v>
              </c:pt>
              <c:pt idx="15">
                <c:v>0.48393920132778134</c:v>
              </c:pt>
              <c:pt idx="16">
                <c:v>0.45815594803123155</c:v>
              </c:pt>
              <c:pt idx="17">
                <c:v>0.43170587734956684</c:v>
              </c:pt>
              <c:pt idx="18">
                <c:v>0.4047520627640807</c:v>
              </c:pt>
              <c:pt idx="19">
                <c:v>0.37746068350474565</c:v>
              </c:pt>
              <c:pt idx="20">
                <c:v>0.3499999999999999</c:v>
              </c:pt>
              <c:pt idx="21">
                <c:v>0.3225393164952542</c:v>
              </c:pt>
              <c:pt idx="22">
                <c:v>0.29524793723591913</c:v>
              </c:pt>
              <c:pt idx="23">
                <c:v>0.26829412265043306</c:v>
              </c:pt>
              <c:pt idx="24">
                <c:v>0.24184405196876838</c:v>
              </c:pt>
              <c:pt idx="25">
                <c:v>0.21606079867221856</c:v>
              </c:pt>
              <c:pt idx="26">
                <c:v>0.19110332509115863</c:v>
              </c:pt>
              <c:pt idx="27">
                <c:v>0.16712550234941786</c:v>
              </c:pt>
              <c:pt idx="28">
                <c:v>0.14427516169763438</c:v>
              </c:pt>
              <c:pt idx="29">
                <c:v>0.1226931830844357</c:v>
              </c:pt>
              <c:pt idx="30">
                <c:v>0.10251262658470835</c:v>
              </c:pt>
              <c:pt idx="31">
                <c:v>0.08385791203998917</c:v>
              </c:pt>
              <c:pt idx="32">
                <c:v>0.06684405196876839</c:v>
              </c:pt>
              <c:pt idx="33">
                <c:v>0.0515759424760677</c:v>
              </c:pt>
              <c:pt idx="34">
                <c:v>0.03814771653407123</c:v>
              </c:pt>
              <c:pt idx="35">
                <c:v>0.02664216362104964</c:v>
              </c:pt>
              <c:pt idx="36">
                <c:v>0.017130219296696263</c:v>
              </c:pt>
              <c:pt idx="37">
                <c:v>0.009670527860813204</c:v>
              </c:pt>
              <c:pt idx="38">
                <c:v>0.00430908079170178</c:v>
              </c:pt>
              <c:pt idx="39">
                <c:v>0.0010789331934052127</c:v>
              </c:pt>
              <c:pt idx="40">
                <c:v>0</c:v>
              </c:pt>
              <c:pt idx="41">
                <c:v>0.0010789331934052127</c:v>
              </c:pt>
              <c:pt idx="42">
                <c:v>0.00430908079170178</c:v>
              </c:pt>
              <c:pt idx="43">
                <c:v>0.009670527860813204</c:v>
              </c:pt>
              <c:pt idx="44">
                <c:v>0.017130219296696263</c:v>
              </c:pt>
              <c:pt idx="45">
                <c:v>0.02664216362104964</c:v>
              </c:pt>
              <c:pt idx="46">
                <c:v>0.03814771653407123</c:v>
              </c:pt>
              <c:pt idx="47">
                <c:v>0.0515759424760677</c:v>
              </c:pt>
              <c:pt idx="48">
                <c:v>0.06684405196876839</c:v>
              </c:pt>
              <c:pt idx="49">
                <c:v>0.08385791203998917</c:v>
              </c:pt>
              <c:pt idx="50">
                <c:v>0.10251262658470835</c:v>
              </c:pt>
              <c:pt idx="51">
                <c:v>0.1226931830844356</c:v>
              </c:pt>
              <c:pt idx="52">
                <c:v>0.14427516169763438</c:v>
              </c:pt>
              <c:pt idx="53">
                <c:v>0.16712550234941803</c:v>
              </c:pt>
              <c:pt idx="54">
                <c:v>0.19110332509115863</c:v>
              </c:pt>
              <c:pt idx="55">
                <c:v>0.2160607986722184</c:v>
              </c:pt>
              <c:pt idx="56">
                <c:v>0.24184405196876838</c:v>
              </c:pt>
              <c:pt idx="57">
                <c:v>0.2682941226504332</c:v>
              </c:pt>
              <c:pt idx="58">
                <c:v>0.29524793723591913</c:v>
              </c:pt>
              <c:pt idx="59">
                <c:v>0.3225393164952541</c:v>
              </c:pt>
              <c:pt idx="60">
                <c:v>0.3499999999999999</c:v>
              </c:pt>
              <c:pt idx="61">
                <c:v>0.3774606835047458</c:v>
              </c:pt>
              <c:pt idx="62">
                <c:v>0.4047520627640807</c:v>
              </c:pt>
              <c:pt idx="63">
                <c:v>0.43170587734956667</c:v>
              </c:pt>
              <c:pt idx="64">
                <c:v>0.45815594803123155</c:v>
              </c:pt>
              <c:pt idx="65">
                <c:v>0.4839392013277815</c:v>
              </c:pt>
              <c:pt idx="66">
                <c:v>0.5088966749088414</c:v>
              </c:pt>
              <c:pt idx="67">
                <c:v>0.5328744976505819</c:v>
              </c:pt>
              <c:pt idx="68">
                <c:v>0.5557248383023655</c:v>
              </c:pt>
              <c:pt idx="69">
                <c:v>0.5773068169155643</c:v>
              </c:pt>
              <c:pt idx="70">
                <c:v>0.5974873734152916</c:v>
              </c:pt>
              <c:pt idx="71">
                <c:v>0.6161420879600107</c:v>
              </c:pt>
              <c:pt idx="72">
                <c:v>0.6331559480312315</c:v>
              </c:pt>
              <c:pt idx="73">
                <c:v>0.6484240575239323</c:v>
              </c:pt>
              <c:pt idx="74">
                <c:v>0.6618522834659287</c:v>
              </c:pt>
              <c:pt idx="75">
                <c:v>0.6733578363789502</c:v>
              </c:pt>
              <c:pt idx="76">
                <c:v>0.6828697807033037</c:v>
              </c:pt>
              <c:pt idx="77">
                <c:v>0.6903294721391868</c:v>
              </c:pt>
              <c:pt idx="78">
                <c:v>0.6956909192082982</c:v>
              </c:pt>
              <c:pt idx="79">
                <c:v>0.6989210668065948</c:v>
              </c:pt>
              <c:pt idx="80">
                <c:v>0.7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ε / Jₓ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q = ka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-3.14159265358979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宽度的弹道增长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不同载波的质心轨迹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-2.0661168548719898E-17</c:v>
              </c:pt>
              <c:pt idx="1">
                <c:v>2.831755825032994E-17</c:v>
              </c:pt>
              <c:pt idx="2">
                <c:v>-8.043652786130308E-17</c:v>
              </c:pt>
              <c:pt idx="3">
                <c:v>-5.402682727522836E-17</c:v>
              </c:pt>
              <c:pt idx="4">
                <c:v>-8.347986275347437E-17</c:v>
              </c:pt>
              <c:pt idx="5">
                <c:v>-7.416063970258935E-17</c:v>
              </c:pt>
              <c:pt idx="6">
                <c:v>-4.265694020657431E-17</c:v>
              </c:pt>
              <c:pt idx="7">
                <c:v>-9.492489347250293E-17</c:v>
              </c:pt>
              <c:pt idx="8">
                <c:v>-1.0491414745056732E-16</c:v>
              </c:pt>
              <c:pt idx="9">
                <c:v>-5.231985014533567E-17</c:v>
              </c:pt>
              <c:pt idx="10">
                <c:v>-1.4923204897607406E-16</c:v>
              </c:pt>
              <c:pt idx="11">
                <c:v>-2.010611678050171E-16</c:v>
              </c:pt>
              <c:pt idx="12">
                <c:v>-4.187173696096064E-17</c:v>
              </c:pt>
              <c:pt idx="13">
                <c:v>-2.8921921034396445E-16</c:v>
              </c:pt>
              <c:pt idx="14">
                <c:v>-1.2805406600937044E-16</c:v>
              </c:pt>
              <c:pt idx="15">
                <c:v>-1.1172675739448148E-16</c:v>
              </c:pt>
              <c:pt idx="16">
                <c:v>-2.2133222818455642E-16</c:v>
              </c:pt>
              <c:pt idx="17">
                <c:v>-2.245134802987985E-16</c:v>
              </c:pt>
              <c:pt idx="18">
                <c:v>-1.7441380605286062E-16</c:v>
              </c:pt>
              <c:pt idx="19">
                <c:v>-4.765556697698448E-16</c:v>
              </c:pt>
              <c:pt idx="20">
                <c:v>-3.612126029891771E-16</c:v>
              </c:pt>
              <c:pt idx="21">
                <c:v>-1.8065134905461464E-16</c:v>
              </c:pt>
              <c:pt idx="22">
                <c:v>-2.728379877527252E-16</c:v>
              </c:pt>
              <c:pt idx="23">
                <c:v>-3.1718911392400895E-16</c:v>
              </c:pt>
              <c:pt idx="24">
                <c:v>-2.8118492527521214E-16</c:v>
              </c:pt>
              <c:pt idx="25">
                <c:v>-9.377951707801542E-17</c:v>
              </c:pt>
              <c:pt idx="26">
                <c:v>-1.1137127796070403E-16</c:v>
              </c:pt>
              <c:pt idx="27">
                <c:v>-2.1704211013844202E-16</c:v>
              </c:pt>
              <c:pt idx="28">
                <c:v>-1.7606692752831045E-16</c:v>
              </c:pt>
              <c:pt idx="29">
                <c:v>-3.341799308041925E-16</c:v>
              </c:pt>
              <c:pt idx="30">
                <c:v>-4.575299363471412E-16</c:v>
              </c:pt>
            </c:numLit>
          </c:yVal>
        </c:ser>
        <c:ser>
          <c:idx val="1"/>
          <c:order val="1"/>
          <c:tx>
            <c:v>q₀ = (0.7,0)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-1.4945406938737424E-16</c:v>
              </c:pt>
              <c:pt idx="1">
                <c:v>1.2784086908435277</c:v>
              </c:pt>
              <c:pt idx="2">
                <c:v>2.5568173816870554</c:v>
              </c:pt>
              <c:pt idx="3">
                <c:v>3.8352260725305847</c:v>
              </c:pt>
              <c:pt idx="4">
                <c:v>5.113634763374113</c:v>
              </c:pt>
              <c:pt idx="5">
                <c:v>6.392043454217642</c:v>
              </c:pt>
              <c:pt idx="6">
                <c:v>7.670452145061169</c:v>
              </c:pt>
              <c:pt idx="7">
                <c:v>8.948860835904698</c:v>
              </c:pt>
              <c:pt idx="8">
                <c:v>10.227269526748222</c:v>
              </c:pt>
              <c:pt idx="9">
                <c:v>11.505678217591754</c:v>
              </c:pt>
              <c:pt idx="10">
                <c:v>12.784086908435283</c:v>
              </c:pt>
              <c:pt idx="11">
                <c:v>14.062495599278808</c:v>
              </c:pt>
              <c:pt idx="12">
                <c:v>15.340904290122337</c:v>
              </c:pt>
              <c:pt idx="13">
                <c:v>16.619312980965873</c:v>
              </c:pt>
              <c:pt idx="14">
                <c:v>17.897721671809396</c:v>
              </c:pt>
              <c:pt idx="15">
                <c:v>19.17613036265292</c:v>
              </c:pt>
              <c:pt idx="16">
                <c:v>20.454539053496443</c:v>
              </c:pt>
              <c:pt idx="17">
                <c:v>21.732947744339985</c:v>
              </c:pt>
              <c:pt idx="18">
                <c:v>23.01135643518351</c:v>
              </c:pt>
              <c:pt idx="19">
                <c:v>24.28976512602703</c:v>
              </c:pt>
              <c:pt idx="20">
                <c:v>25.568173816870566</c:v>
              </c:pt>
              <c:pt idx="21">
                <c:v>26.846582507714093</c:v>
              </c:pt>
              <c:pt idx="22">
                <c:v>28.124991198557616</c:v>
              </c:pt>
              <c:pt idx="23">
                <c:v>29.403399889401143</c:v>
              </c:pt>
              <c:pt idx="24">
                <c:v>30.681808580244677</c:v>
              </c:pt>
              <c:pt idx="25">
                <c:v>31.960217271088204</c:v>
              </c:pt>
              <c:pt idx="26">
                <c:v>33.23862596193174</c:v>
              </c:pt>
              <c:pt idx="27">
                <c:v>34.517034652775266</c:v>
              </c:pt>
              <c:pt idx="28">
                <c:v>35.795443343618786</c:v>
              </c:pt>
              <c:pt idx="29">
                <c:v>37.07385203446232</c:v>
              </c:pt>
              <c:pt idx="30">
                <c:v>38.352260725305854</c:v>
              </c:pt>
            </c:numLit>
          </c:yVal>
        </c:ser>
        <c:ser>
          <c:idx val="2"/>
          <c:order val="2"/>
          <c:tx>
            <c:v>q₀ = (−0.7,0)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-1.464972719015002E-16</c:v>
              </c:pt>
              <c:pt idx="1">
                <c:v>-1.2784086908435282</c:v>
              </c:pt>
              <c:pt idx="2">
                <c:v>-2.5568173816870563</c:v>
              </c:pt>
              <c:pt idx="3">
                <c:v>-3.8352260725305847</c:v>
              </c:pt>
              <c:pt idx="4">
                <c:v>-5.113634763374113</c:v>
              </c:pt>
              <c:pt idx="5">
                <c:v>-6.392043454217643</c:v>
              </c:pt>
              <c:pt idx="6">
                <c:v>-7.670452145061168</c:v>
              </c:pt>
              <c:pt idx="7">
                <c:v>-8.948860835904698</c:v>
              </c:pt>
              <c:pt idx="8">
                <c:v>-10.227269526748225</c:v>
              </c:pt>
              <c:pt idx="9">
                <c:v>-11.505678217591752</c:v>
              </c:pt>
              <c:pt idx="10">
                <c:v>-12.784086908435283</c:v>
              </c:pt>
              <c:pt idx="11">
                <c:v>-14.062495599278808</c:v>
              </c:pt>
              <c:pt idx="12">
                <c:v>-15.340904290122339</c:v>
              </c:pt>
              <c:pt idx="13">
                <c:v>-16.61931298096587</c:v>
              </c:pt>
              <c:pt idx="14">
                <c:v>-17.897721671809396</c:v>
              </c:pt>
              <c:pt idx="15">
                <c:v>-19.176130362652927</c:v>
              </c:pt>
              <c:pt idx="16">
                <c:v>-20.45453905349645</c:v>
              </c:pt>
              <c:pt idx="17">
                <c:v>-21.732947744339977</c:v>
              </c:pt>
              <c:pt idx="18">
                <c:v>-23.01135643518351</c:v>
              </c:pt>
              <c:pt idx="19">
                <c:v>-24.28976512602704</c:v>
              </c:pt>
              <c:pt idx="20">
                <c:v>-25.568173816870566</c:v>
              </c:pt>
              <c:pt idx="21">
                <c:v>-26.846582507714096</c:v>
              </c:pt>
              <c:pt idx="22">
                <c:v>-28.124991198557616</c:v>
              </c:pt>
              <c:pt idx="23">
                <c:v>-29.403399889401147</c:v>
              </c:pt>
              <c:pt idx="24">
                <c:v>-30.681808580244677</c:v>
              </c:pt>
              <c:pt idx="25">
                <c:v>-31.960217271088204</c:v>
              </c:pt>
              <c:pt idx="26">
                <c:v>-33.23862596193174</c:v>
              </c:pt>
              <c:pt idx="27">
                <c:v>-34.517034652775266</c:v>
              </c:pt>
              <c:pt idx="28">
                <c:v>-35.795443343618786</c:v>
              </c:pt>
              <c:pt idx="29">
                <c:v>-37.07385203446232</c:v>
              </c:pt>
              <c:pt idx="30">
                <c:v>-38.352260725305854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40"/>
        <c:majorUnit val="2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 RMS 宽度随时间变化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(0,0)，σₓ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4.1878799261897175</c:v>
              </c:pt>
              <c:pt idx="6">
                <c:v>4.2679277310778385</c:v>
              </c:pt>
              <c:pt idx="7">
                <c:v>4.360635621250448</c:v>
              </c:pt>
              <c:pt idx="8">
                <c:v>4.465215110946835</c:v>
              </c:pt>
              <c:pt idx="9">
                <c:v>4.5808531972583735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5.138011945003214</c:v>
              </c:pt>
              <c:pt idx="14">
                <c:v>5.297223054136302</c:v>
              </c:pt>
              <c:pt idx="15">
                <c:v>5.463061823340935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6.18171535320736</c:v>
              </c:pt>
              <c:pt idx="20">
                <c:v>6.372865322515827</c:v>
              </c:pt>
              <c:pt idx="21">
                <c:v>6.567822104157858</c:v>
              </c:pt>
              <c:pt idx="22">
                <c:v>6.766256648021781</c:v>
              </c:pt>
              <c:pt idx="23">
                <c:v>6.967871836079364</c:v>
              </c:pt>
              <c:pt idx="24">
                <c:v>7.172399450898678</c:v>
              </c:pt>
              <c:pt idx="25">
                <c:v>7.37959734027338</c:v>
              </c:pt>
              <c:pt idx="26">
                <c:v>7.589246799780783</c:v>
              </c:pt>
              <c:pt idx="27">
                <c:v>7.801150180165127</c:v>
              </c:pt>
              <c:pt idx="28">
                <c:v>8.015128716439465</c:v>
              </c:pt>
              <c:pt idx="29">
                <c:v>8.231020569211895</c:v>
              </c:pt>
              <c:pt idx="30">
                <c:v>8.448679064953334</c:v>
              </c:pt>
            </c:numLit>
          </c:yVal>
        </c:ser>
        <c:ser>
          <c:idx val="1"/>
          <c:order val="1"/>
          <c:tx>
            <c:v>q₀ = (0.7,0)，σₓ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4.004521895537584</c:v>
              </c:pt>
              <c:pt idx="2">
                <c:v>4.0180570487935725</c:v>
              </c:pt>
              <c:pt idx="3">
                <c:v>4.040514881368383</c:v>
              </c:pt>
              <c:pt idx="4">
                <c:v>4.071747756116391</c:v>
              </c:pt>
              <c:pt idx="5">
                <c:v>4.111555702650546</c:v>
              </c:pt>
              <c:pt idx="6">
                <c:v>4.159692539868474</c:v>
              </c:pt>
              <c:pt idx="7">
                <c:v>4.215872979604167</c:v>
              </c:pt>
              <c:pt idx="8">
                <c:v>4.2797802697983744</c:v>
              </c:pt>
              <c:pt idx="9">
                <c:v>4.351073954673057</c:v>
              </c:pt>
              <c:pt idx="10">
                <c:v>4.429397383842737</c:v>
              </c:pt>
              <c:pt idx="11">
                <c:v>4.514384679292558</c:v>
              </c:pt>
              <c:pt idx="12">
                <c:v>4.605666955496211</c:v>
              </c:pt>
              <c:pt idx="13">
                <c:v>4.702877672335097</c:v>
              </c:pt>
              <c:pt idx="14">
                <c:v>4.80565707480528</c:v>
              </c:pt>
              <c:pt idx="15">
                <c:v>4.913655733156728</c:v>
              </c:pt>
              <c:pt idx="16">
                <c:v>5.026537240588372</c:v>
              </c:pt>
              <c:pt idx="17">
                <c:v>5.143980153707771</c:v>
              </c:pt>
              <c:pt idx="18">
                <c:v>5.26567927585197</c:v>
              </c:pt>
              <c:pt idx="19">
                <c:v>5.391346387889976</c:v>
              </c:pt>
              <c:pt idx="20">
                <c:v>5.5207105281812705</c:v>
              </c:pt>
              <c:pt idx="21">
                <c:v>5.6535179155467965</c:v>
              </c:pt>
              <c:pt idx="22">
                <c:v>5.7895315985427995</c:v>
              </c:pt>
              <c:pt idx="23">
                <c:v>5.92853090262017</c:v>
              </c:pt>
              <c:pt idx="24">
                <c:v>6.070310735028232</c:v>
              </c:pt>
              <c:pt idx="25">
                <c:v>6.2146807963044655</c:v>
              </c:pt>
              <c:pt idx="26">
                <c:v>6.361464737290608</c:v>
              </c:pt>
              <c:pt idx="27">
                <c:v>6.510499292013485</c:v>
              </c:pt>
              <c:pt idx="28">
                <c:v>6.661633409495314</c:v>
              </c:pt>
              <c:pt idx="29">
                <c:v>6.814727401545869</c:v>
              </c:pt>
              <c:pt idx="30">
                <c:v>6.969652118716968</c:v>
              </c:pt>
            </c:numLit>
          </c:yVal>
        </c:ser>
        <c:ser>
          <c:idx val="2"/>
          <c:order val="2"/>
          <c:tx>
            <c:v>q₀ = (0.7,0)，σᵧ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4.187879926189718</c:v>
              </c:pt>
              <c:pt idx="6">
                <c:v>4.267927731077839</c:v>
              </c:pt>
              <c:pt idx="7">
                <c:v>4.360635621250449</c:v>
              </c:pt>
              <c:pt idx="8">
                <c:v>4.465215110946835</c:v>
              </c:pt>
              <c:pt idx="9">
                <c:v>4.580853197258374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5.138011945003215</c:v>
              </c:pt>
              <c:pt idx="14">
                <c:v>5.297223054136302</c:v>
              </c:pt>
              <c:pt idx="15">
                <c:v>5.463061823340934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6.181715353207359</c:v>
              </c:pt>
              <c:pt idx="20">
                <c:v>6.372865322515828</c:v>
              </c:pt>
              <c:pt idx="21">
                <c:v>6.567822104157857</c:v>
              </c:pt>
              <c:pt idx="22">
                <c:v>6.766256648021781</c:v>
              </c:pt>
              <c:pt idx="23">
                <c:v>6.967871836079363</c:v>
              </c:pt>
              <c:pt idx="24">
                <c:v>7.172399450898678</c:v>
              </c:pt>
              <c:pt idx="25">
                <c:v>7.3795973402733805</c:v>
              </c:pt>
              <c:pt idx="26">
                <c:v>7.589246799780783</c:v>
              </c:pt>
              <c:pt idx="27">
                <c:v>7.801150180165125</c:v>
              </c:pt>
              <c:pt idx="28">
                <c:v>8.015128716439465</c:v>
              </c:pt>
              <c:pt idx="29">
                <c:v>8.231020569211896</c:v>
              </c:pt>
              <c:pt idx="30">
                <c:v>8.448679064953332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RMS 宽度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3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 = 6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 = 10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 / 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相同初始宽度的传播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相对平移初态的复态重合度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43257-D140-444E-8A22-E06F0085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E022-56CE-421C-BFE6-98924EE2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966C5-2B59-4863-AA92-45639118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理论来源：单磁子推导 PDF　模拟：均匀最近邻交换模型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13A7-D812-46F4-BE78-298F50E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6373C-E623-40BB-9216-286D09E0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库仑交换与线性波包动力学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1B10C-F695-4A19-978B-8ED4604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03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基本物理图像与数值模拟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2D077-33A0-464F-946A-4A39D4EF4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c70f90be84cf1"/>
          <a:stretch xmlns:a="http://schemas.openxmlformats.org/drawingml/2006/main"/>
        </p:blipFill>
        <p:spPr>
          <a:xfrm xmlns:a="http://schemas.openxmlformats.org/drawingml/2006/main">
            <a:off x="6619875" y="1756416"/>
            <a:ext cx="5238750" cy="293559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30468-4DFB-43A0-8C95-3155E999E2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f2cf02d4242a1"/>
          <a:stretch xmlns:a="http://schemas.openxmlformats.org/drawingml/2006/main"/>
        </p:blipFill>
        <p:spPr>
          <a:xfrm xmlns:a="http://schemas.openxmlformats.org/drawingml/2006/main">
            <a:off x="552450" y="4050148"/>
            <a:ext cx="5829300" cy="5674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B1CB1-13B9-42C9-B1A0-4B132FF4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由微观交换确定传播算符，再用局域激发与波包解释它的动力学。</a:t>
            </a:r>
          </a:p>
        </p:txBody>
      </p:sp>
    </p:spTree>
    <p:extLst>
      <p:ext uri="{BB962C8B-B14F-4D97-AF65-F5344CB8AC3E}">
        <p14:creationId xmlns:p14="http://schemas.microsoft.com/office/powerpoint/2010/main" val="1395900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BF960-E869-4821-80F3-82A6B50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研究对象与报告问题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300E8-2D01-4749-A0D8-E1DD0401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14AF6-1A76-4F6D-8347-70FA0AF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3–5 页　动画 B14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44E92-FF33-49D7-AAC9-97800B1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144E1-BAB2-4D1B-809B-817FD0F82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10d4e41314f0a"/>
          <a:stretch xmlns:a="http://schemas.openxmlformats.org/drawingml/2006/main"/>
        </p:blipFill>
        <p:spPr>
          <a:xfrm xmlns:a="http://schemas.openxmlformats.org/drawingml/2006/main">
            <a:off x="640556" y="1257300"/>
            <a:ext cx="6243638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C2349-3896-4BDF-A292-78B224B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8BB4B-43A4-407D-9F07-DB4FAD6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二维正方晶格，每格点自旋 1/2。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最近邻交换 Jₓ、Jᵧ，零外场。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04ADF-25B9-49E3-9BFE-352E6C55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需要回答的问题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6C693-9C39-42A4-90C4-4C43472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局域翻转怎样向外传播？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载波怎样决定传播方向？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有限宽度波包为什么会展宽？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5D8D8-8447-48C9-A3AF-0698326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FAF3F-E94B-4960-A799-BBDEAF48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本报告把原理推导与可观测的概率分布逐一对应。</a:t>
            </a:r>
          </a:p>
        </p:txBody>
      </p:sp>
    </p:spTree>
    <p:extLst>
      <p:ext uri="{BB962C8B-B14F-4D97-AF65-F5344CB8AC3E}">
        <p14:creationId xmlns:p14="http://schemas.microsoft.com/office/powerpoint/2010/main" val="446012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4FC6E-5504-4729-BBB8-4B6C0E5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两电子的直接积分与交换积分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F7AE-021E-4715-A343-BC072BC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D11E8-DCD7-4B67-87B1-90BE541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1–2 页，式 (1)–(9)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60814-2BB2-4359-91F4-9E7A4996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BF7CD-C2BB-4522-BEB1-32018AA2D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bd582d0384b3f"/>
          <a:stretch xmlns:a="http://schemas.openxmlformats.org/drawingml/2006/main"/>
        </p:blipFill>
        <p:spPr>
          <a:xfrm xmlns:a="http://schemas.openxmlformats.org/drawingml/2006/main">
            <a:off x="581025" y="1566568"/>
            <a:ext cx="7524750" cy="1772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F89B5-D4CD-47FF-92D8-F1C19EDC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固定占据的出发点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04394-FDA8-4D75-BE47-25E0B687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轨道 a、b 正交归一，各有一个电子。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库仑核作用在两电子坐标上。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A3144-9BD1-49CC-8B4C-BCCD5AEC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两种矩阵元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FAC18-37E8-4028-A33E-7DEB46FF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对应保持轨道配对的直接项。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K 对应交换轨道配对的交换项。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514CB-895C-40F7-8141-9C551F53228A}"/>
              </a:ext>
            </a:extLst>
          </p:cNvPr>
          <p:cNvGraphicFramePr/>
          <p:nvPr/>
        </p:nvGraphicFramePr>
        <p:xfrm>
          <a:off xmlns:a="http://schemas.openxmlformats.org/drawingml/2006/main" x="581025" y="3743325"/>
          <a:ext xmlns:a="http://schemas.openxmlformats.org/drawingml/2006/main" cx="7477125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143250"/>
                <a:gridCol w="3381375"/>
              </a:tblGrid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依赖的空间结构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在自旋模型中的作用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两轨道的密度分布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贡献共同能量常数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两轨道的交叉乘积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决定自旋交换耦合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64886-53ED-429E-9890-B03EEB8B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DDBDD-7F80-490B-9DFD-291AFF3A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在固定轨道模型中，交换积分把电子的空间结构带入自旋动力学。</a:t>
            </a:r>
          </a:p>
        </p:txBody>
      </p:sp>
    </p:spTree>
    <p:extLst>
      <p:ext uri="{BB962C8B-B14F-4D97-AF65-F5344CB8AC3E}">
        <p14:creationId xmlns:p14="http://schemas.microsoft.com/office/powerpoint/2010/main" val="531253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B2A0D-A3EF-4821-A9A4-1BFE60DA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库仑矩阵与单重态、三重态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327EB-74D8-4998-BEDF-D369F05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DABBE-E818-4CB6-B94D-C411E88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 页，式 (10)–(14)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50D09-E701-408F-B730-0AECB722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0C6B-46EA-4927-8CC1-1C5B10AE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有序基底：↑↑、↑↓、↓↑、↓↓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88272-C1EE-481E-A67C-7357ED3EE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0f40a51b64347"/>
          <a:stretch xmlns:a="http://schemas.openxmlformats.org/drawingml/2006/main"/>
        </p:blipFill>
        <p:spPr>
          <a:xfrm xmlns:a="http://schemas.openxmlformats.org/drawingml/2006/main">
            <a:off x="548717" y="1476375"/>
            <a:ext cx="5465291" cy="20955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D86AF-38D6-4563-B62A-AC9A0A0D5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7231774948c0"/>
          <a:stretch xmlns:a="http://schemas.openxmlformats.org/drawingml/2006/main"/>
        </p:blipFill>
        <p:spPr>
          <a:xfrm xmlns:a="http://schemas.openxmlformats.org/drawingml/2006/main">
            <a:off x="1295995" y="3838575"/>
            <a:ext cx="3942159" cy="1638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604D6A6-87D2-46E8-8A7E-548F7694AA4B}"/>
              </a:ext>
            </a:extLst>
          </p:cNvPr>
          <p:cNvGraphicFramePr/>
          <p:nvPr/>
        </p:nvGraphicFramePr>
        <p:xfrm>
          <a:off xmlns:a="http://schemas.openxmlformats.org/drawingml/2006/main" x="6334125" y="14097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cc5ffd423d4f6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603CA-6CF4-4B92-8826-11E71AD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时，三重态能量更低。</a:t>
            </a:r>
          </a:p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能级间隔为 2K。</a:t>
            </a:r>
          </a:p>
        </p:txBody>
      </p:sp>
    </p:spTree>
    <p:extLst>
      <p:ext uri="{BB962C8B-B14F-4D97-AF65-F5344CB8AC3E}">
        <p14:creationId xmlns:p14="http://schemas.microsoft.com/office/powerpoint/2010/main" val="1647969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7D2EF-C06D-46AF-9D23-3EB6BA7B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矩阵匹配给出 Heisenberg 交换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DB443-256A-49C8-9E3C-738E15D1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9ACB6-5CB2-43E4-BF7E-0E8FF2A9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(17)–(21)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91954-7E06-4A85-AD42-14B5D5AC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EDC54-D238-45F1-A483-C591D0C32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4e48bb5e24340"/>
          <a:stretch xmlns:a="http://schemas.openxmlformats.org/drawingml/2006/main"/>
        </p:blipFill>
        <p:spPr>
          <a:xfrm xmlns:a="http://schemas.openxmlformats.org/drawingml/2006/main">
            <a:off x="1547325" y="1438275"/>
            <a:ext cx="3858599" cy="22193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78CA1-F12D-45F3-BCB1-72CA1343A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3d79caac7454f"/>
          <a:stretch xmlns:a="http://schemas.openxmlformats.org/drawingml/2006/main"/>
        </p:blipFill>
        <p:spPr>
          <a:xfrm xmlns:a="http://schemas.openxmlformats.org/drawingml/2006/main">
            <a:off x="1306727" y="4171950"/>
            <a:ext cx="4587446" cy="102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C8C19-71B1-45C2-9830-19FFAD9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−J / 2 = −K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389EA-2998-47C0-BAD4-2387D4A1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32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154E6-4177-4E8E-91BF-7A597FF6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共同的能量常数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79627-6DF7-4EDE-9B05-914FA0F7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− K/2 不改变自旋态之间的能量差。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对所有最近邻键求和得到晶格模型。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3D7E7-C4B0-484B-B8CA-A5465F87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C2842-8CBD-4E35-8247-D18670E5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自旋点积形式与两电子矩阵等价，交换系数由矩阵元确定。</a:t>
            </a:r>
          </a:p>
        </p:txBody>
      </p:sp>
    </p:spTree>
    <p:extLst>
      <p:ext uri="{BB962C8B-B14F-4D97-AF65-F5344CB8AC3E}">
        <p14:creationId xmlns:p14="http://schemas.microsoft.com/office/powerpoint/2010/main" val="1938480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E9D8B-27D8-460B-839F-B87AFC1E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二维交换模型与全极化基态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95808-2A02-4B30-ACD0-EE8F928B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7E0BE-250A-41CF-A4BB-772195B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(22)–(25)　图 A01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8437F-9E55-45B5-AC6F-25EEA47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50EA1-E90C-4110-A143-23AA238D0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cf9e397904b11"/>
          <a:stretch xmlns:a="http://schemas.openxmlformats.org/drawingml/2006/main"/>
        </p:blipFill>
        <p:spPr>
          <a:xfrm xmlns:a="http://schemas.openxmlformats.org/drawingml/2006/main">
            <a:off x="361950" y="1477089"/>
            <a:ext cx="6905625" cy="375142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9D920-2C4E-42B6-A0C7-D61A7EE42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cb82017c94577"/>
          <a:stretch xmlns:a="http://schemas.openxmlformats.org/drawingml/2006/main"/>
        </p:blipFill>
        <p:spPr>
          <a:xfrm xmlns:a="http://schemas.openxmlformats.org/drawingml/2006/main">
            <a:off x="7429500" y="1736624"/>
            <a:ext cx="4191000" cy="5844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22372-5E5D-4549-97AA-0E47BE199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72c6815604293"/>
          <a:stretch xmlns:a="http://schemas.openxmlformats.org/drawingml/2006/main"/>
        </p:blipFill>
        <p:spPr>
          <a:xfrm xmlns:a="http://schemas.openxmlformats.org/drawingml/2006/main">
            <a:off x="8250051" y="3000375"/>
            <a:ext cx="2635624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080C5-E9D7-4C08-80A5-30860D7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8957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每条键只计一次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Jₓ、Jᵧ &gt; 0，零外场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背景自旋沿 +x 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11E25-796F-4940-8374-3D5EE88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642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左图为 5 × 5 个格点的局部示意。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CF266-5379-403B-BD84-D537E567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9CA96-1663-4E6F-AAAF-99E14543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Jₓ ≠ Jᵧ 改变空间方向的耦合强度，单磁子仍在同一条能带上运动。</a:t>
            </a:r>
          </a:p>
        </p:txBody>
      </p:sp>
    </p:spTree>
    <p:extLst>
      <p:ext uri="{BB962C8B-B14F-4D97-AF65-F5344CB8AC3E}">
        <p14:creationId xmlns:p14="http://schemas.microsoft.com/office/powerpoint/2010/main" val="2146440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0AFFB-D547-44A4-990D-22558D04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单翻转子空间中的精确动力学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9A584-BA7F-4CE5-AD9C-7F9493D2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E0E34-7F73-454D-A38C-1E1838A7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 页，式 (26)–(31)　图 B01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5C128-D336-41FC-838F-B336524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B65FF-1CF8-457E-BAB6-DA783D5E5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30cc9968a45a6"/>
          <a:stretch xmlns:a="http://schemas.openxmlformats.org/drawingml/2006/main"/>
        </p:blipFill>
        <p:spPr>
          <a:xfrm xmlns:a="http://schemas.openxmlformats.org/drawingml/2006/main">
            <a:off x="3139490" y="1362075"/>
            <a:ext cx="5303420" cy="676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CC876-53D2-4894-9E85-3B0FF2094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16c39b13a401d"/>
          <a:stretch xmlns:a="http://schemas.openxmlformats.org/drawingml/2006/main"/>
        </p:blipFill>
        <p:spPr>
          <a:xfrm xmlns:a="http://schemas.openxmlformats.org/drawingml/2006/main">
            <a:off x="514350" y="2633214"/>
            <a:ext cx="5810250" cy="11724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8011F-5784-4DC2-B70A-0477478E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H 作用后仍是单翻转基矢的叠加。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969B1-23B9-40C0-A40A-1BDCE64F9A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839b928cd4d76"/>
          <a:stretch xmlns:a="http://schemas.openxmlformats.org/drawingml/2006/main"/>
        </p:blipFill>
        <p:spPr>
          <a:xfrm xmlns:a="http://schemas.openxmlformats.org/drawingml/2006/main">
            <a:off x="514350" y="4441540"/>
            <a:ext cx="5810250" cy="718121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D542C-C96A-4F65-913F-F644CD6D4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1e68c25154297"/>
          <a:stretch xmlns:a="http://schemas.openxmlformats.org/drawingml/2006/main"/>
        </p:blipFill>
        <p:spPr>
          <a:xfrm xmlns:a="http://schemas.openxmlformats.org/drawingml/2006/main">
            <a:off x="7572211" y="2266950"/>
            <a:ext cx="3429328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FA050-139C-4A28-8F4D-67D585A3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FED41-3C03-44EB-8293-8780AA98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Pᵢ = |cᵢ|²，ΣPᵢ = 1。沿极化轴的局域自旋满足 〈Sᵢˣ〉 = 1/2 − Pᵢ。</a:t>
            </a:r>
          </a:p>
        </p:txBody>
      </p:sp>
    </p:spTree>
    <p:extLst>
      <p:ext uri="{BB962C8B-B14F-4D97-AF65-F5344CB8AC3E}">
        <p14:creationId xmlns:p14="http://schemas.microsoft.com/office/powerpoint/2010/main" val="930315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596B2-8122-43E4-86B6-78076DD4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交换耦合把翻转振幅传给相邻格点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B74B7-5241-4287-B35A-49E90935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14B18-1ECB-4A74-9674-2E2BDF5F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(28)、(34)、(35)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B301E-A607-4BDB-808A-18F756F1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5AE13-7EF2-4E99-AEE8-586687686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7c505d6da4fea"/>
          <a:stretch xmlns:a="http://schemas.openxmlformats.org/drawingml/2006/main"/>
        </p:blipFill>
        <p:spPr>
          <a:xfrm xmlns:a="http://schemas.openxmlformats.org/drawingml/2006/main">
            <a:off x="2071688" y="1333500"/>
            <a:ext cx="4000500" cy="857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FA1DC-667B-470F-BE79-501F657D3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65b6ab8df482a"/>
          <a:stretch xmlns:a="http://schemas.openxmlformats.org/drawingml/2006/main"/>
        </p:blipFill>
        <p:spPr>
          <a:xfrm xmlns:a="http://schemas.openxmlformats.org/drawingml/2006/main">
            <a:off x="2437861" y="2686050"/>
            <a:ext cx="7316278" cy="16859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6600E-FFAE-4EFA-8254-707DECE7DB20}"/>
              </a:ext>
            </a:extLst>
          </p:cNvPr>
          <p:cNvGraphicFramePr/>
          <p:nvPr/>
        </p:nvGraphicFramePr>
        <p:xfrm>
          <a:off xmlns:a="http://schemas.openxmlformats.org/drawingml/2006/main" x="619125" y="4638675"/>
          <a:ext xmlns:a="http://schemas.openxmlformats.org/drawingml/2006/main" cx="10906125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143250"/>
                <a:gridCol w="5619750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基态能量 + Jₓ + Jᵧ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共同相位与交换对角能量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−Jₓ/2、−Jᵧ/2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300E6-9061-4EA2-8489-EF15C180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573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单条交换键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9C965-9816-42D5-8FB1-DE8AECCC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847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保留原位置，也产生相邻位置的振幅。</a:t>
            </a:r>
          </a:p>
        </p:txBody>
      </p:sp>
    </p:spTree>
    <p:extLst>
      <p:ext uri="{BB962C8B-B14F-4D97-AF65-F5344CB8AC3E}">
        <p14:creationId xmlns:p14="http://schemas.microsoft.com/office/powerpoint/2010/main" val="7850423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DBD58-9442-459F-9230-C30CC0C1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平面波代入运动方程得到色散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713C5-E629-4C30-A4FB-5A8FAD0B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6AB8B-0F57-4CA1-9007-AE6BF17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(36)–(39)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255A6-52F3-434C-B321-27EFB173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DA2E8-24D7-4028-854F-304D12B7B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7a4248ff442f7"/>
          <a:stretch xmlns:a="http://schemas.openxmlformats.org/drawingml/2006/main"/>
        </p:blipFill>
        <p:spPr>
          <a:xfrm xmlns:a="http://schemas.openxmlformats.org/drawingml/2006/main">
            <a:off x="1335881" y="1352550"/>
            <a:ext cx="4767263" cy="866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D1D6C-FF2C-449E-8ECB-47E61E9F9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ff0fd37ee4a50"/>
          <a:stretch xmlns:a="http://schemas.openxmlformats.org/drawingml/2006/main"/>
        </p:blipFill>
        <p:spPr>
          <a:xfrm xmlns:a="http://schemas.openxmlformats.org/drawingml/2006/main">
            <a:off x="1562514" y="2628900"/>
            <a:ext cx="9009822" cy="800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E475E-C569-4249-AA34-A49FD8898E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5db3d0a2b41fe"/>
          <a:stretch xmlns:a="http://schemas.openxmlformats.org/drawingml/2006/main"/>
        </p:blipFill>
        <p:spPr>
          <a:xfrm xmlns:a="http://schemas.openxmlformats.org/drawingml/2006/main">
            <a:off x="2151970" y="3819525"/>
            <a:ext cx="7678511" cy="1266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CB68-BBFC-4796-9B06-33B391DA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1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平移本征模式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29CE0-80D0-47AC-8D03-B6F30DA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85950"/>
            <a:ext cx="3505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相邻格点的振幅大小相同，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空间移动只改变相位。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FD084-2302-4F7B-91F7-6E3CB45C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A9F9D-1533-4FF2-A8C1-A968E837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余弦项来自正、反两个最近邻方向的相位之和。</a:t>
            </a:r>
          </a:p>
        </p:txBody>
      </p:sp>
    </p:spTree>
    <p:extLst>
      <p:ext uri="{BB962C8B-B14F-4D97-AF65-F5344CB8AC3E}">
        <p14:creationId xmlns:p14="http://schemas.microsoft.com/office/powerpoint/2010/main" val="1902710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8C6F8-6066-43C6-BA30-F78076A7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色散曲面与方向带宽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24947-51E6-47FF-9DD1-14C18CF9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3576F-7BD9-4371-A88C-8F82006F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式 (39)　模拟 A02、A03 轴向截面数据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52903-92EC-47AB-9618-42F813A6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31DB7-C9C4-479D-B2E9-E8D325497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4f460a20044c0"/>
          <a:stretch xmlns:a="http://schemas.openxmlformats.org/drawingml/2006/main"/>
        </p:blipFill>
        <p:spPr>
          <a:xfrm xmlns:a="http://schemas.openxmlformats.org/drawingml/2006/main">
            <a:off x="381000" y="1580117"/>
            <a:ext cx="5715000" cy="320246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49F2A32-1D7E-4CB6-8537-02C48D69AC05}"/>
              </a:ext>
            </a:extLst>
          </p:cNvPr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3911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5ae27dd1eb41b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01EE5-0AB4-43EB-A216-FFCB7C7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η = 1：能带宽度 4Jₓ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CC8FF-DB46-4146-AA3D-2D62F45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 Jₓ，减小 η 会降低 y 方向带宽。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98256-3DE9-4D39-A0B6-CD95E64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54D98-0D26-4652-94C2-DD689353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正方晶格在大波矢处保留晶格对称性，长波区域才近似抛物面。</a:t>
            </a:r>
          </a:p>
        </p:txBody>
      </p:sp>
    </p:spTree>
    <p:extLst>
      <p:ext uri="{BB962C8B-B14F-4D97-AF65-F5344CB8AC3E}">
        <p14:creationId xmlns:p14="http://schemas.microsoft.com/office/powerpoint/2010/main" val="38021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6BCD7-359F-4007-81EC-612ACED2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等频线与能量传播方向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6B40C-41D8-41D7-BD00-370DAD63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4D998-E935-4B80-926C-8DD5B69E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A05、A06，η = 1 与 0.35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A9569-8FA0-422C-A974-257B0923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4B47F-060B-4875-AF43-F37C00A49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b96530e574e88"/>
          <a:stretch xmlns:a="http://schemas.openxmlformats.org/drawingml/2006/main"/>
        </p:blipFill>
        <p:spPr>
          <a:xfrm xmlns:a="http://schemas.openxmlformats.org/drawingml/2006/main">
            <a:off x="2589883" y="1190625"/>
            <a:ext cx="701223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8CE70-DF72-45D4-8267-8E3AA2F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同一条等频线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07472-2447-44AD-9102-6D7567CC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线上各模式的频率相同。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群速度指向色散曲面的梯度方向。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FD1E4-AD5C-4ECB-B957-18485BA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空间各向异性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F5737-E98F-49E0-9D47-405DC03A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 Jᵧ 会降低群速度的 y 分量。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波矢方向与传播方向需分别判断。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11243971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66AF4-25EF-42B2-9405-1BED136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群速度由色散斜率决定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4244C-AD54-4DCD-B9C4-57CCAE6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15E57-88A6-447E-8E95-26BE4368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A07　ω = ε /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F5FFA-8481-4B7C-A3C1-04A9DC3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7830-3FCE-44DB-BD7D-6B1F9D928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2f3cb680c48a6"/>
          <a:stretch xmlns:a="http://schemas.openxmlformats.org/drawingml/2006/main"/>
        </p:blipFill>
        <p:spPr>
          <a:xfrm xmlns:a="http://schemas.openxmlformats.org/drawingml/2006/main">
            <a:off x="2652337" y="1190625"/>
            <a:ext cx="688732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F44C-80D6-4B3C-A719-DF462F9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群速度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E769B-9F67-437C-AC22-2BFE6702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v = (1/ℏ)∇ₖε。沿 x 方向，vₓ = (Jₓa/ℏ) sin qₓ。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AD6AD-3A32-4E2E-8C59-B436C4E1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方向与速度上限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22701-1D87-4524-9891-72DDD585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近原点，qₓ 的符号决定方向。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最大 |vₓ| 对应 qₓ = ±π/2。</a:t>
            </a:r>
          </a:p>
        </p:txBody>
      </p:sp>
    </p:spTree>
    <p:extLst>
      <p:ext uri="{BB962C8B-B14F-4D97-AF65-F5344CB8AC3E}">
        <p14:creationId xmlns:p14="http://schemas.microsoft.com/office/powerpoint/2010/main" val="1835512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21220-6354-42BF-8B70-3E186EA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原理公式与传播模拟的对应关系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35FB0-927A-4BA5-96A9-9D984B3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43BC4-EE47-4B2A-AA4C-B918294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　模拟 common.py 与 THEORY.md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934B1-56D1-4B93-B34A-A146BF24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5FE54-0DF3-45E8-B9CF-B205A504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0D35E-E87E-419E-8628-536743BD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95400"/>
            <a:ext cx="28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D6E6D-706E-41D6-B4D6-45D3B36D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382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021CB-4EB7-4541-B4C0-65872BBE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954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67366-5BAB-4609-BE71-44238B93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95400"/>
            <a:ext cx="595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|ψ|² = |c|²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0163B-2AD8-4C38-B42E-969623C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n = r/a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48BEC-573E-48A9-96A5-F3837BB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9775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B42EB-9359-403F-B7F9-1FB5CC0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97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τ = Jₓt/ℏ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B77CD-700A-4189-AF7F-58DD302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η = Jᵧ/Jₓ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894C5-7056-4E15-9DCB-A786B01E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ℏv/(Jₓa)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D1BEE-CF15-49E2-A6AF-BED6BFA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e(q) = ε/Jₓ = 1 − cos qₓ + η(1 − cos qᵧ)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83524-D727-4374-8278-B9BD5FAA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A(q,τ) = A(q,0) exp[−i e(q)τ]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8F492-C324-4F34-A5BB-E88F3F867963}"/>
              </a:ext>
            </a:extLst>
          </p:cNvPr>
          <p:cNvGraphicFramePr/>
          <p:nvPr/>
        </p:nvGraphicFramePr>
        <p:xfrm>
          <a:off xmlns:a="http://schemas.openxmlformats.org/drawingml/2006/main" x="600075" y="4229100"/>
          <a:ext xmlns:a="http://schemas.openxmlformats.org/drawingml/2006/main" cx="11001375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52875"/>
                <a:gridCol w="3667125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波矢空间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 ψ(n,0)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 得到 A(q,0)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P(n,0) = |ψ(n,0)|²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FFT 得到 ψ(n,τ)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各模式独立积累时间相位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P(n,τ)、质心、RMS 宽度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AAC3C-9253-4420-A33A-7B885710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470E5-64FE-491F-9A89-48EC88B2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完整余弦色散直接决定时间演化，有限周期盒的影响另用扩大晶格对照检查。</a:t>
            </a:r>
          </a:p>
        </p:txBody>
      </p:sp>
    </p:spTree>
    <p:extLst>
      <p:ext uri="{BB962C8B-B14F-4D97-AF65-F5344CB8AC3E}">
        <p14:creationId xmlns:p14="http://schemas.microsoft.com/office/powerpoint/2010/main" val="417555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2307-AA54-4A08-9C53-48EF2CC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一个格点的局域翻转包含整个能带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34132-B6CE-4E9C-878F-476FCF9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5F1EE-77E0-487B-9635-9D88E6B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B02　N = 256 表示 256 × 256 格点，Σ|A|²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9E26B-10B2-4699-9E25-6E3914C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62566-82E1-4A72-ABFC-DE8306552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8c659fd0248fa"/>
          <a:stretch xmlns:a="http://schemas.openxmlformats.org/drawingml/2006/main"/>
        </p:blipFill>
        <p:spPr>
          <a:xfrm xmlns:a="http://schemas.openxmlformats.org/drawingml/2006/main">
            <a:off x="2523468" y="1190625"/>
            <a:ext cx="7145064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69D12-4E30-4100-B58C-7910097E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位置越局域，频谱越宽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5849B-9245-4096-B1A2-7E17722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单点初态 ψₘₙ = δₘ₀δₙ₀。每个离散波矢的概率都为 1/N²。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173BA-5458-4053-860A-F2A4F236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传播的直接后果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2522D-2AC2-45F6-9DC9-0C51188A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许多方向和速度的分量同时参与演化，局域激发自然向周围展开。</a:t>
            </a:r>
          </a:p>
        </p:txBody>
      </p:sp>
    </p:spTree>
    <p:extLst>
      <p:ext uri="{BB962C8B-B14F-4D97-AF65-F5344CB8AC3E}">
        <p14:creationId xmlns:p14="http://schemas.microsoft.com/office/powerpoint/2010/main" val="7706226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3A4E8-CDAF-41ED-AAE6-77C0AD7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局域激发的后期传播与干涉图样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4FD71-126E-4BDA-85D5-AC49DBB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EF59B-6F92-4C9B-88D4-E687F68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B04　η = 1，四个时刻使用共同对数色标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EB2BA-9DA7-4221-83F1-37E69686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0A7A6-F649-4272-A2E7-127ABDCAB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95acd678c4640"/>
          <a:stretch xmlns:a="http://schemas.openxmlformats.org/drawingml/2006/main"/>
        </p:blipFill>
        <p:spPr>
          <a:xfrm xmlns:a="http://schemas.openxmlformats.org/drawingml/2006/main">
            <a:off x="419100" y="1289508"/>
            <a:ext cx="11353800" cy="32788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E805A-70B1-490E-A195-6161A91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由近邻传递到空间展开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F3228-919F-4328-B7AC-A4E70644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6、12、24、36 时，概率逐步向外展开，图中保留完整余弦能带的贡献。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FFC1E-9755-4DEB-B123-6FE6706D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晶格与相干干涉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6A629-B049-45DC-BA61-E50B8A5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方格晶格留下四重对称图样。不同传播路径叠加形成条纹和旁瓣。</a:t>
            </a:r>
          </a:p>
        </p:txBody>
      </p:sp>
    </p:spTree>
    <p:extLst>
      <p:ext uri="{BB962C8B-B14F-4D97-AF65-F5344CB8AC3E}">
        <p14:creationId xmlns:p14="http://schemas.microsoft.com/office/powerpoint/2010/main" val="11923563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CA946-5F9F-4B51-B330-A7C897F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交换各向异性控制概率展开的方向尺度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963AB-8B9C-40E9-A9DE-5E6AFB27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5E9FA-96C3-4F0F-89F9-1EB7502C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B05、B11、B16　Jₓ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75731-BCA6-4109-8230-2FBBF1A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913F-7427-4778-A691-5229B641C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75a0607214477"/>
          <a:stretch xmlns:a="http://schemas.openxmlformats.org/drawingml/2006/main"/>
        </p:blipFill>
        <p:spPr>
          <a:xfrm xmlns:a="http://schemas.openxmlformats.org/drawingml/2006/main">
            <a:off x="400050" y="2116989"/>
            <a:ext cx="7639050" cy="2452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95371-420B-401D-99D8-BEEF77F9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382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相同初态，相同时间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01FFF-B6A4-42DD-8273-BCB44C40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24 时，x 方向 RMS 宽度均为 16.971a。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0D69A-02BD-4193-B1EF-01330ADF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改变 η = Jᵧ/Jₓ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867D9-D779-412C-8DD8-CDB20A61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1：σᵧ = 16.971a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0.3：σᵧ = 5.091a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0：严格停留在原链。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FD015-EFA1-4D31-8028-6BE6B587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B8A55-2088-4CC8-B975-E59CED6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单点初态的 RMS 长宽比 σᵧ/σₓ = η，给出可直接检查的各向异性规律。</a:t>
            </a:r>
          </a:p>
        </p:txBody>
      </p:sp>
    </p:spTree>
    <p:extLst>
      <p:ext uri="{BB962C8B-B14F-4D97-AF65-F5344CB8AC3E}">
        <p14:creationId xmlns:p14="http://schemas.microsoft.com/office/powerpoint/2010/main" val="8643441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38A95-B6CA-4E35-9439-2EFE521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传播前沿与均方根宽度描述不同尺度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E2FE6-512A-4696-B530-991B591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BA2BD-1C9D-4186-927E-BB87D42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B07、B09　左图 η = 1，右图 η = 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9CB14-0232-49EB-886A-905D6DA6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30990-6C1B-40DB-9054-7D4A76E16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bec496fcd406a"/>
          <a:stretch xmlns:a="http://schemas.openxmlformats.org/drawingml/2006/main"/>
        </p:blipFill>
        <p:spPr>
          <a:xfrm xmlns:a="http://schemas.openxmlformats.org/drawingml/2006/main">
            <a:off x="361950" y="1931352"/>
            <a:ext cx="6238875" cy="278574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8A33E38-6B2A-4E11-9D11-931084B4287A}"/>
              </a:ext>
            </a:extLst>
          </p:cNvPr>
          <p:cNvGraphicFramePr/>
          <p:nvPr/>
        </p:nvGraphicFramePr>
        <p:xfrm>
          <a:off xmlns:a="http://schemas.openxmlformats.org/drawingml/2006/main" x="6781800" y="1390650"/>
          <a:ext xmlns:a="http://schemas.openxmlformats.org/drawingml/2006/main" cx="4914900" cy="370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dc9aa18bdf4b5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A2D1D-99BB-4B96-875E-07000A1E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A8CE1-CDA8-4B6A-8774-895493FD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721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等方情形：σₓ/a = σᵧ/a = 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6748A-13F3-418E-B3F7-DF5048C3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07EBA-BEBD-4205-A65F-69E77E4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宽度与时间成正比，对应相干弹道展开。图示前沿之外仍存在小尾部。</a:t>
            </a:r>
          </a:p>
        </p:txBody>
      </p:sp>
    </p:spTree>
    <p:extLst>
      <p:ext uri="{BB962C8B-B14F-4D97-AF65-F5344CB8AC3E}">
        <p14:creationId xmlns:p14="http://schemas.microsoft.com/office/powerpoint/2010/main" val="19729412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7A7F9-7CC0-4174-9700-63F5D59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局域返回概率的相干振荡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11052-0446-4DC9-9B4F-0118C59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891A6-6DEA-4E99-9B9B-EEE8F174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B10　固定单磁子数态，η = 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48807-C8D7-481F-BC70-D0193D00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8E7E1-5C18-4684-890D-FEEFF13A89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8e64f20c145c4"/>
          <a:stretch xmlns:a="http://schemas.openxmlformats.org/drawingml/2006/main"/>
        </p:blipFill>
        <p:spPr>
          <a:xfrm xmlns:a="http://schemas.openxmlformats.org/drawingml/2006/main">
            <a:off x="2305028" y="1295400"/>
            <a:ext cx="7562894" cy="3590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AC268-B25B-41DA-8DD1-EB3B4186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P₀₀ 随时间降低并出现振荡，ΣP 始终为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12DB9-EF0D-44EF-9300-FF743A2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62117-2E62-425B-AF94-819E64D1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局部概率减少表示激发向外传播，当前模型没有引入阻尼或磁子损失。</a:t>
            </a:r>
          </a:p>
        </p:txBody>
      </p:sp>
    </p:spTree>
    <p:extLst>
      <p:ext uri="{BB962C8B-B14F-4D97-AF65-F5344CB8AC3E}">
        <p14:creationId xmlns:p14="http://schemas.microsoft.com/office/powerpoint/2010/main" val="11191444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045E4-86C1-42C9-9C0E-43A5CD6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翻转概率对应纵向自旋亏损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7FCF-8EA1-46D6-BB5A-E7C52AE0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05FC4-D420-4A88-AB92-8A3195F2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B12　η = 1，τ = 8，背景沿 +x 极化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A8433-46C0-4198-8739-272F5C27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7FF24-0D6E-458B-BB29-8BA19FC19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99a46fa6e4396"/>
          <a:stretch xmlns:a="http://schemas.openxmlformats.org/drawingml/2006/main"/>
        </p:blipFill>
        <p:spPr>
          <a:xfrm xmlns:a="http://schemas.openxmlformats.org/drawingml/2006/main">
            <a:off x="2368150" y="1190625"/>
            <a:ext cx="7455699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E448E-BCD5-4B18-9B61-B3317C40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局域观测量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5D34A-BF3E-44FF-B91A-9480765D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〈Sᵢˣ〉 = 1/2 − Pᵢ。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概率峰对应自旋亏损。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全部格点的亏损之和为 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7EBF8-D002-4B28-BD95-09EEF0F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量子态的解释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CAC15-E58B-45B3-BD65-586711E0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固定单磁子数态满足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〈Sᵢʸ〉 = 〈Sᵢᶻ〉 = 0。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概率振幅描述翻转位置的量子叠加。</a:t>
            </a:r>
          </a:p>
        </p:txBody>
      </p:sp>
    </p:spTree>
    <p:extLst>
      <p:ext uri="{BB962C8B-B14F-4D97-AF65-F5344CB8AC3E}">
        <p14:creationId xmlns:p14="http://schemas.microsoft.com/office/powerpoint/2010/main" val="5624873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4FB93-0F70-4FF8-9025-D95735DF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载波、包络与初始频谱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8C808-FBD2-4915-A3CC-CBBA008F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1724C-CA6C-4F90-B036-D393444A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C01　n = r/a，σ 以格点数计，σ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BC120-3D59-4F40-90F1-207B08B6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F9424-9CF8-487F-AC1F-6C73D4F4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0934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ψ₀(n) ∝ exp[−(nₓ²+nᵧ²)/(4σ²)] exp(i q₀·n)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7027D-263C-4877-B99F-85DDE996D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95be43df34a9d"/>
          <a:stretch xmlns:a="http://schemas.openxmlformats.org/drawingml/2006/main"/>
        </p:blipFill>
        <p:spPr>
          <a:xfrm xmlns:a="http://schemas.openxmlformats.org/drawingml/2006/main">
            <a:off x="1762612" y="1905000"/>
            <a:ext cx="8647726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F9715-C02C-4A75-8487-0E7E832C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σ 是初始概率 RMS 宽度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13114-8707-45A1-B450-83AD64F8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载波只改变相位与频谱。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初始位置概率包络保持相同。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49DDD-1EE2-404A-833D-8D689649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相位决定频谱位置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10B63-BAB5-4DD5-B97A-30EF8E2D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频谱中心移到 q₀。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平均速度与传播方向随之改变。</a:t>
            </a:r>
          </a:p>
        </p:txBody>
      </p:sp>
    </p:spTree>
    <p:extLst>
      <p:ext uri="{BB962C8B-B14F-4D97-AF65-F5344CB8AC3E}">
        <p14:creationId xmlns:p14="http://schemas.microsoft.com/office/powerpoint/2010/main" val="18706785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8AFC6-8196-48D3-854A-A4D4127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载波选择静止、左行、右行与斜向传播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E226-5955-4D97-A365-DA7F2DC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DE99D-4FD5-4EED-9C5A-B46F79A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C05　静态快照 τ = 60，σ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C9FEA-05D1-4847-8FB5-16CF0485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893A7-CF22-48C7-8F49-68861FBA24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84d3a909f4a73"/>
          <a:stretch xmlns:a="http://schemas.openxmlformats.org/drawingml/2006/main"/>
        </p:blipFill>
        <p:spPr>
          <a:xfrm xmlns:a="http://schemas.openxmlformats.org/drawingml/2006/main">
            <a:off x="400050" y="1652696"/>
            <a:ext cx="11315700" cy="2676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A70DA-7F0E-438A-B4F2-9D354054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零中心波矢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91ECB-8238-4309-9565-587EB17C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200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= (0,0) 时，平均速度为零。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向两侧运动的分量仍使包络展宽。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1D1B2-C001-4B6C-A4C2-EADDAD6B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291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非零中心波矢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85F05-A373-44A2-A0FF-F7842888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相位梯度改变频谱权重，让概率质心产生净位移。</a:t>
            </a:r>
          </a:p>
        </p:txBody>
      </p:sp>
    </p:spTree>
    <p:extLst>
      <p:ext uri="{BB962C8B-B14F-4D97-AF65-F5344CB8AC3E}">
        <p14:creationId xmlns:p14="http://schemas.microsoft.com/office/powerpoint/2010/main" val="338080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9BDE0-2ABF-40A5-86D3-F8E61AF5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质心速度是整个频谱的加权平均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6201D-B0FB-4C22-A7C1-422A3DA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A75D9-BC14-4596-BCB5-D5B3331C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C06　σ = 4，η = 1，τ ≤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8BDF7-ED2D-4B5E-BE9D-21189372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EEF947E-E55A-4ABF-8855-DDF60E00FE77}"/>
              </a:ext>
            </a:extLst>
          </p:cNvPr>
          <p:cNvGraphicFramePr/>
          <p:nvPr/>
        </p:nvGraphicFramePr>
        <p:xfrm>
          <a:off xmlns:a="http://schemas.openxmlformats.org/drawingml/2006/main" x="428625" y="1362075"/>
          <a:ext xmlns:a="http://schemas.openxmlformats.org/drawingml/2006/main" cx="76390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f2c1b8b51749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9EFA1-63DD-4916-B64E-AB034F03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精确谱平均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B3E61-77B4-41D5-9498-DEFF1177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Σ |A(q)|² sin qₓ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相同初态的谱权重保持不变。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80FED-9387-4820-A479-3D960852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有限频宽的差别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1420A-74E5-4D02-A8B4-01E56D9D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0.639204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sin(0.7) = 0.644218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60：〈x〉 = 38.3523a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E2789-F562-4BFA-AF43-4A8F807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FA04C-F83F-4155-A4CC-AFAD055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中心波矢处群速度适用于窄带近似，实际质心轨迹由谱平均给出。</a:t>
            </a:r>
          </a:p>
        </p:txBody>
      </p:sp>
    </p:spTree>
    <p:extLst>
      <p:ext uri="{BB962C8B-B14F-4D97-AF65-F5344CB8AC3E}">
        <p14:creationId xmlns:p14="http://schemas.microsoft.com/office/powerpoint/2010/main" val="799943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9321B-A12A-4783-8E95-38168DE9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共动坐标把展宽从整体移动中分离出来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C52E-CB08-40BF-8530-7D08575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73B1B-29AE-4950-8F1F-768816D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C07　q₀ = (0.7,0)，σ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848BB-BC86-456D-BD82-900308EF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06E08-0651-4F55-8477-6C1C34A45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daa5c58bd486a"/>
          <a:stretch xmlns:a="http://schemas.openxmlformats.org/drawingml/2006/main"/>
        </p:blipFill>
        <p:spPr>
          <a:xfrm xmlns:a="http://schemas.openxmlformats.org/drawingml/2006/main">
            <a:off x="1309520" y="1190625"/>
            <a:ext cx="957296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868C3-6FAF-477A-859D-3746202E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只减去质心位移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BEEDC-02F2-45D7-BF87-A50B9E4B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每条曲线都在各自的共动坐标中显示，峰值与宽度没有重新归一化。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AE49-6260-4917-A6B0-9A3A3E3B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两个方向分别展宽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2D9F4-17CB-444B-A021-61350D4B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 时 σₓ = 6.970a，σᵧ = 8.449a。不同方向的曲率导致不同速度方差。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16826236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F46D3-81B5-4712-BC9D-250BE53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速度方差决定无啁啾 Gaussian 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5562F-C982-417D-BD94-6BB5343D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B054D-CC66-4377-A774-06232C14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C09　完整色散下的数值宽度与谱矩关系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477A7-A9FF-4F9C-ABEC-61021FC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EAD2DF8-6D47-4C84-A9A1-F6F452DB664E}"/>
              </a:ext>
            </a:extLst>
          </p:cNvPr>
          <p:cNvGraphicFramePr/>
          <p:nvPr/>
        </p:nvGraphicFramePr>
        <p:xfrm>
          <a:off xmlns:a="http://schemas.openxmlformats.org/drawingml/2006/main" x="419100" y="1400175"/>
          <a:ext xmlns:a="http://schemas.openxmlformats.org/drawingml/2006/main" cx="7553325" cy="3971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85fd0e230248a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2F99-15DE-405A-A71B-E710A5C7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</a:t>
            </a:r>
          </a:p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                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2748B-56EC-41AE-A706-E3007A2B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4F416-14AB-4B7D-8C6E-7C9805D7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不同波矢的群速度不同。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速度差随传播时间积累，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形成包络宽度的增长。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AF57A-5FF0-4BAE-B03E-575B4AFA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E1DD9-0DA0-44F7-B070-08199563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这里使用完整余弦色散的谱矩，不把结果限制为二阶抛物线近似。</a:t>
            </a:r>
          </a:p>
        </p:txBody>
      </p:sp>
    </p:spTree>
    <p:extLst>
      <p:ext uri="{BB962C8B-B14F-4D97-AF65-F5344CB8AC3E}">
        <p14:creationId xmlns:p14="http://schemas.microsoft.com/office/powerpoint/2010/main" val="7221910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E92D2-7082-4139-82ED-306907EA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初始空间宽度与相对展宽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35FF-C2E7-4B3F-8E0B-A6E98D0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09EF-700B-48C7-9A87-E0E3FC92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C02、C08　q₀ = (0.7,0)，η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6ACE1-2F4B-4743-958D-2640DED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C9270-07D1-4CF8-837B-4A58ED6B9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331c336a145e3"/>
          <a:stretch xmlns:a="http://schemas.openxmlformats.org/drawingml/2006/main"/>
        </p:blipFill>
        <p:spPr>
          <a:xfrm xmlns:a="http://schemas.openxmlformats.org/drawingml/2006/main">
            <a:off x="409575" y="1797541"/>
            <a:ext cx="6924675" cy="24532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3CB2803-E3E4-4940-B26A-15B82CCE878B}"/>
              </a:ext>
            </a:extLst>
          </p:cNvPr>
          <p:cNvGraphicFramePr/>
          <p:nvPr/>
        </p:nvGraphicFramePr>
        <p:xfrm>
          <a:off xmlns:a="http://schemas.openxmlformats.org/drawingml/2006/main" x="7524750" y="1438275"/>
          <a:ext xmlns:a="http://schemas.openxmlformats.org/drawingml/2006/main" cx="41529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1f50d76e5e4c3c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19B83-DADC-4354-9EEA-CFB7DDD568EC}"/>
              </a:ext>
            </a:extLst>
          </p:cNvPr>
          <p:cNvGraphicFramePr/>
          <p:nvPr/>
        </p:nvGraphicFramePr>
        <p:xfrm>
          <a:off xmlns:a="http://schemas.openxmlformats.org/drawingml/2006/main" x="581025" y="5010150"/>
          <a:ext xmlns:a="http://schemas.openxmlformats.org/drawingml/2006/main" cx="11001375" cy="78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667000"/>
                <a:gridCol w="2667000"/>
                <a:gridCol w="2667000"/>
              </a:tblGrid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 / 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 / 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1AAD0-7893-4308-A368-1308174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E287E-F8A8-4A84-A74C-23912FC1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更窄频谱减小速度分散，同时需要更大的初始空间范围。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5438916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D7F3A-D9B8-4931-ADED-0346635B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各向异性同时改变方向与包络尺度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B7889-B469-413F-984C-6401642C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FD9A0-22DF-4BA6-9275-8528BE5B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C10、C11　q₀ = (0.7,0.7)，σ =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3FE24-25F5-468D-B1A5-8867122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A2002-1E19-410B-AC41-4973994183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e699f67b34b2d"/>
          <a:stretch xmlns:a="http://schemas.openxmlformats.org/drawingml/2006/main"/>
        </p:blipFill>
        <p:spPr>
          <a:xfrm xmlns:a="http://schemas.openxmlformats.org/drawingml/2006/main">
            <a:off x="428625" y="2008013"/>
            <a:ext cx="7534275" cy="241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86E25-AFEA-4AA8-8FC0-6B3BD1B6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相同的波矢方向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3674C-A838-443E-A7F4-E54C2741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的方向均为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1：传播方向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0.3：传播方向 16.70°。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D023D-7781-4025-8BB4-1CAC35C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575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 的宽度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5F72C-91F0-434E-B3B6-FB318A7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 时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σₓ = 6.970a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σᵧ = 4.351a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38E60-0E5B-4AFA-853F-BA63619D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8E8A7-C35F-4FB3-853B-4A78CD31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减弱 y 方向交换会同时降低 y 向质心速度和速度方差。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6123938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9040C-3BB4-447B-AE26-9BA5BD6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频谱概率守恒，实空间形状仍会改变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7F146-1A54-4D2E-B006-338DD11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69235-3E5C-4232-ADD1-8E4AB797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C12　e = ε/Jₓ，τ = 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0970B-BC8E-4CEF-8BA9-BBE31C30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D8F5-7774-4559-8EF6-BEF49A12C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7d8822d5646a4"/>
          <a:stretch xmlns:a="http://schemas.openxmlformats.org/drawingml/2006/main"/>
        </p:blipFill>
        <p:spPr>
          <a:xfrm xmlns:a="http://schemas.openxmlformats.org/drawingml/2006/main">
            <a:off x="1299726" y="1190625"/>
            <a:ext cx="9592547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F69EB-2418-48A2-B10C-F3AB5CBA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时间演化保持谱权重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E1038-DD7A-4500-8410-F96AAB7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A(q,τ) = A(q,0) exp[−ie(q)τ]。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每个模式的概率保持不变。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FE38D-995F-4245-8D00-DC9A382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相对相位产生形变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1781A-4258-4B5D-8BF4-6B40CF9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去掉整体与平移相位后，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高阶残余相位继续累积。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动力学本身仍为线性。</a:t>
            </a:r>
          </a:p>
        </p:txBody>
      </p:sp>
    </p:spTree>
    <p:extLst>
      <p:ext uri="{BB962C8B-B14F-4D97-AF65-F5344CB8AC3E}">
        <p14:creationId xmlns:p14="http://schemas.microsoft.com/office/powerpoint/2010/main" val="373716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476C2-AB88-41E8-82CE-DEDA6FA1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零二阶曲率是后续保形研究的入口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153EE-B0F8-4338-B310-51D2E74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B5347-8B4B-4506-BA9B-B249BE6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C13　同初宽 σ = 3，η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99ABE-6961-4062-B55D-ADAC97F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3E969D4-7182-496E-BE00-C6B07B7D6BDE}"/>
              </a:ext>
            </a:extLst>
          </p:cNvPr>
          <p:cNvGraphicFramePr/>
          <p:nvPr/>
        </p:nvGraphicFramePr>
        <p:xfrm>
          <a:off xmlns:a="http://schemas.openxmlformats.org/drawingml/2006/main" x="4476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288877175a4f60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9668BD6-EC9E-4CD4-934F-CDBC335C1433}"/>
              </a:ext>
            </a:extLst>
          </p:cNvPr>
          <p:cNvGraphicFramePr/>
          <p:nvPr/>
        </p:nvGraphicFramePr>
        <p:xfrm>
          <a:off xmlns:a="http://schemas.openxmlformats.org/drawingml/2006/main" x="62388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58952ff4b0497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C2D89-BE10-471F-A8F1-3462485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AAA65-99F9-4F1D-ACA1-4942AE1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60：普通波矢 F = 0.3823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6E3DB-1E0E-4B58-AFB1-9D09457F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244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rPr>
              <a:t>τ = 60：零曲率点 F = 0.9771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EA15F-89C2-41D2-B199-B662A54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916B5-E37A-4BA6-8401-B7EA76A9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二阶项消失能减慢有限时间内的形变，三阶及更高阶色散仍然存在。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7476390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8908E-DE3A-455E-9FBC-B8739F2C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当前结果与下一阶段问题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B42B4-6DEA-4CD5-B02B-BCD9255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EFB95-A405-4B0B-8BFE-45DEF2F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 PDF 第 1–5 页　模拟 A、B、C 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FF071-AD6A-453A-810D-BA50750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9503B-EEB2-4562-AC3C-43B12E7EB1B4}"/>
              </a:ext>
            </a:extLst>
          </p:cNvPr>
          <p:cNvGraphicFramePr/>
          <p:nvPr/>
        </p:nvGraphicFramePr>
        <p:xfrm>
          <a:off xmlns:a="http://schemas.openxmlformats.org/drawingml/2006/main" x="523875" y="1371600"/>
          <a:ext xmlns:a="http://schemas.openxmlformats.org/drawingml/2006/main" cx="1114425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52875"/>
                <a:gridCol w="4048125"/>
              </a:tblGrid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理论或模拟结果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已建立的物理认识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下一步需要回答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两电子矩阵与 J = 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交换作用连接不同翻转位置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具体材料的有效交换参数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色散曲面与群速度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斜率控制运动，曲率影响展宽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给定波包尺寸下的参数选择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单点与 Gaussian 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质心、宽度和干涉可分别度量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完整二维波包的保形指标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零二阶曲率点对照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有限时间内形变受到抑制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高阶残差与可用传播距离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B7E4E-4620-4F1D-A4B7-E3905D4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模型范围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903F-D83A-41C4-B318-CA90454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53000"/>
            <a:ext cx="881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均匀晶格、单磁子、零外场、无耗散。当前结论对应记录的参数与时间窗口。</a:t>
            </a:r>
          </a:p>
        </p:txBody>
      </p:sp>
    </p:spTree>
    <p:extLst>
      <p:ext uri="{BB962C8B-B14F-4D97-AF65-F5344CB8AC3E}">
        <p14:creationId xmlns:p14="http://schemas.microsoft.com/office/powerpoint/2010/main" val="2726570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05BD3-050A-42FF-9749-589EEE23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附录：费米交换符号与自旋矩阵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51F29-D273-47EF-8DEE-1347902D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06A4B-6543-46A3-9B4C-C3A10D11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2–4 页，式 (9)、(15)、(17)、(27)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E99BE-6D97-4F0D-9D2C-076F751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0FA14-85F2-4D12-BC1E-7B8B7358F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bfd64c6fb495d"/>
          <a:stretch xmlns:a="http://schemas.openxmlformats.org/drawingml/2006/main"/>
        </p:blipFill>
        <p:spPr>
          <a:xfrm xmlns:a="http://schemas.openxmlformats.org/drawingml/2006/main">
            <a:off x="3216783" y="1419225"/>
            <a:ext cx="5701284" cy="8286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603AE-C713-47B8-BF4A-8B088AA9E1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5a9e0131d45d6"/>
          <a:stretch xmlns:a="http://schemas.openxmlformats.org/drawingml/2006/main"/>
        </p:blipFill>
        <p:spPr>
          <a:xfrm xmlns:a="http://schemas.openxmlformats.org/drawingml/2006/main">
            <a:off x="2700338" y="2638425"/>
            <a:ext cx="6600825" cy="857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7D6EB-C21A-4A93-B4BF-BCEE62BED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19fc7aa064eb5"/>
          <a:stretch xmlns:a="http://schemas.openxmlformats.org/drawingml/2006/main"/>
        </p:blipFill>
        <p:spPr>
          <a:xfrm xmlns:a="http://schemas.openxmlformats.org/drawingml/2006/main">
            <a:off x="1994146" y="3962400"/>
            <a:ext cx="4279408" cy="1400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99307-3CEC-4BA4-99C7-A47F0A2C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4861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费米反对易关系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决定交换项的负号。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自旋矩阵沿 x 轴量子化。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40108-6C9E-4388-8B32-68CE130A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67C30-52CC-4DD2-AFE2-A33B7B3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固定基底与算符顺序后，矩阵元符号和 J = 2K 的系数保持一致。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0285312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E5D1A-2ECC-429F-84FB-03C6B56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附录：长波二次近似的适用范围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6ED0F-EC59-4505-9C03-AF5490B2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E4AFE-EFF7-468F-A032-FF641C8C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A08、A09　轴向能量近似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49B8E-4795-4885-B331-4C5C83E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0917A-9042-484D-A089-0C929120A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5dafa91a8456e"/>
          <a:stretch xmlns:a="http://schemas.openxmlformats.org/drawingml/2006/main"/>
        </p:blipFill>
        <p:spPr>
          <a:xfrm xmlns:a="http://schemas.openxmlformats.org/drawingml/2006/main">
            <a:off x="579746" y="1409700"/>
            <a:ext cx="7108209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72401-81A6-45D5-9D55-5B927E1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811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相对能量误差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73BFC-7589-499C-A14A-A1B052A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9072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1%：q ≈ 0.3454</a:t>
            </a:r>
          </a:p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5%：q ≈ 0.7633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009FD-F736-479C-A5DB-B02EB4DA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传播时的限制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9D223-9992-46BE-9BD9-3C436A8A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33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同样的能量误差会随时间积累为相位误差。主模拟保留完整余弦能带。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CA679-C270-4063-9F68-F306009E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A7696-C7D0-4391-8253-9A24699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长波近似便于理解局部机制，其使用范围由波矢与传播时间共同约束。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15234877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3C848-F882-4784-9939-5623604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附录：独立计算路径与边界检验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F312A-8540-4363-B616-518601E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A0497-53B9-41E6-8591-091E7C8F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checks_independent.json、checks_b.json、checks_c.json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FC51A-8873-4E97-8822-AD116AC0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6F2BC-CEB3-4CDF-A7AC-DC98F15D78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5a85791f749ba"/>
          <a:stretch xmlns:a="http://schemas.openxmlformats.org/drawingml/2006/main"/>
        </p:blipFill>
        <p:spPr>
          <a:xfrm xmlns:a="http://schemas.openxmlformats.org/drawingml/2006/main">
            <a:off x="390525" y="1495055"/>
            <a:ext cx="7067550" cy="322971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DC7C-3647-4738-94A7-A42324E95745}"/>
              </a:ext>
            </a:extLst>
          </p:cNvPr>
          <p:cNvGraphicFramePr/>
          <p:nvPr/>
        </p:nvGraphicFramePr>
        <p:xfrm>
          <a:off xmlns:a="http://schemas.openxmlformats.org/drawingml/2006/main" x="7715250" y="1514475"/>
          <a:ext xmlns:a="http://schemas.openxmlformats.org/drawingml/2006/main" cx="3962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66900"/>
              </a:tblGrid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误差量级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实空间矩阵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振幅 L² ≈ 3.4×10⁻¹⁵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Bessel 核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max|ΔP| ≈ 5.6×10⁻¹⁶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扩大晶格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 L¹ ≤ 3.8×10⁻¹⁵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边缘概率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5.7×10⁻¹⁴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70F64-67D7-409D-89A3-DE92A17B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2BEA6-E93D-4F4E-9828-BC138E5D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解析解、独立推进与扩大晶格对照，共同约束计算误差和边界影响。</a:t>
            </a:r>
          </a:p>
        </p:txBody>
      </p:sp>
    </p:spTree>
    <p:extLst>
      <p:ext uri="{BB962C8B-B14F-4D97-AF65-F5344CB8AC3E}">
        <p14:creationId xmlns:p14="http://schemas.microsoft.com/office/powerpoint/2010/main" val="345586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4FE9-48BF-4212-B71C-AEBE030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附录：零二阶曲率后的高阶形变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7536C-2B6F-44A7-AF2F-3216A8B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4D29F-F4DD-433F-8A70-4377E99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C14　独立示例 σ = 2，q₀ = (π/2,π/2)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9E1CD-C018-41B3-B6F8-D00F65DC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D3DAB-3077-4913-8F96-2C90481E3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3d808c8ff47cd"/>
          <a:stretch xmlns:a="http://schemas.openxmlformats.org/drawingml/2006/main"/>
        </p:blipFill>
        <p:spPr>
          <a:xfrm xmlns:a="http://schemas.openxmlformats.org/drawingml/2006/main">
            <a:off x="1167517" y="1190625"/>
            <a:ext cx="985696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C45C5-07B4-4DCB-8B62-5EFE578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残余色散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47EA5-4279-4320-866E-DBA77BDB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扣除常数和线性项后，sin δq − δq 的首项为 −δq³/6。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09E8-01E0-4D2F-A3EF-3355DE7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A848D-9078-44FA-B2CA-D5F86DB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相位差仍会积累，产生偏斜与尾部。本页 σ = 2，与前面的 σ = 3 对照不同。</a:t>
            </a:r>
          </a:p>
        </p:txBody>
      </p:sp>
    </p:spTree>
    <p:extLst>
      <p:ext uri="{BB962C8B-B14F-4D97-AF65-F5344CB8AC3E}">
        <p14:creationId xmlns:p14="http://schemas.microsoft.com/office/powerpoint/2010/main" val="106212039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42DC6-3D14-41CF-BDCE-5EC6EF35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附录：传播动画对照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3AA0-B631-43E1-B166-FC43B974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CDC6A-47DC-49AE-B998-368C80D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单点翻转 B16　Gaussian 载波方向 C16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8452-0F68-4D8E-BF4E-39B1C9D8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5AE27-8FA0-4D12-B8AD-DBFDEB8BF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281711cda4cee"/>
          <a:stretch xmlns:a="http://schemas.openxmlformats.org/drawingml/2006/main"/>
        </p:blipFill>
        <p:spPr>
          <a:xfrm xmlns:a="http://schemas.openxmlformats.org/drawingml/2006/main">
            <a:off x="381000" y="1739503"/>
            <a:ext cx="5715000" cy="30360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8C496-0F32-4727-913C-37C0B57FF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0550478484abb"/>
          <a:stretch xmlns:a="http://schemas.openxmlformats.org/drawingml/2006/main"/>
        </p:blipFill>
        <p:spPr>
          <a:xfrm xmlns:a="http://schemas.openxmlformats.org/drawingml/2006/main">
            <a:off x="6238875" y="2152650"/>
            <a:ext cx="552450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C2E00-B187-4A5D-B802-868901C0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单点激发：η = 1 与 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94132-9540-4EB9-AD3F-D65AED5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673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 Gaussian 包络，不同载波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7FFDF-4FA2-420F-8B82-95117EBA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0FEF0-48FD-4BB1-AA41-069B5045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放映时观察时间演化，静态关键帧与定量曲线用于比较传播规律。</a:t>
            </a:r>
          </a:p>
        </p:txBody>
      </p:sp>
    </p:spTree>
    <p:extLst>
      <p:ext uri="{BB962C8B-B14F-4D97-AF65-F5344CB8AC3E}">
        <p14:creationId xmlns:p14="http://schemas.microsoft.com/office/powerpoint/2010/main" val="2238813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6D36A-A2D9-4090-A2B8-1A1B4D0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附录：原理、图组与数据来源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FE426-C17B-4911-BA36-711DC8F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78265-9CFB-47E7-9D56-90961A48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项目本地材料与可复现模拟文件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AB736-78F6-4413-B445-0DE64467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94FB1-3541-4E66-A0D7-6384A5B309BD}"/>
              </a:ext>
            </a:extLst>
          </p:cNvPr>
          <p:cNvGraphicFramePr/>
          <p:nvPr/>
        </p:nvGraphicFramePr>
        <p:xfrm>
          <a:off xmlns:a="http://schemas.openxmlformats.org/drawingml/2006/main" x="523875" y="13620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8577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承担的内容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 PDF，5 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直接交换、矩阵匹配、EOM、色散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Note/single_magnon_derivation/main.pdf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组，12 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色散、群速度、近似范围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figures/midterm-report/a-dispersion/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组，13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局域翻转与解析传播核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b-local-flip/local_flip_data.npz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组，14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质心、宽度与相位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c-gaussian/gaussian_simulation_data.npz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2D050-5E13-45DF-83CE-124FEAB1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符号对照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66BAD-556E-42C1-823A-A00A8FB1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     τ = Jₓt/ℏ     η = Jᵧ/Jₓ     e = ε/Jₓ</a:t>
            </a:r>
          </a:p>
        </p:txBody>
      </p:sp>
    </p:spTree>
    <p:extLst>
      <p:ext uri="{BB962C8B-B14F-4D97-AF65-F5344CB8AC3E}">
        <p14:creationId xmlns:p14="http://schemas.microsoft.com/office/powerpoint/2010/main" val="557088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2026-10-19T14:10:51.8150000Z</dcterms:created>
  <dcterms:modified xsi:type="dcterms:W3CDTF">2026-10-19T14:10:51.8150000Z</dcterms:modified>
</coreProperties>
</file>