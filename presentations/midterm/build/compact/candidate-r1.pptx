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334aa3725c4dc3" /><Relationship Type="http://schemas.openxmlformats.org/officeDocument/2006/relationships/extended-properties" Target="/docProps/app.xml" Id="Rff867241f8ec437a" /><Relationship Type="http://schemas.openxmlformats.org/officeDocument/2006/relationships/officeDocument" Target="/ppt/presentation.xml" Id="R68f0a11e68db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934ac7ead476e"/>
  </p:sldMasterIdLst>
  <p:notesMasterIdLst>
    <p:notesMasterId xmlns:r="http://schemas.openxmlformats.org/officeDocument/2006/relationships" r:id="R28b6d57e29724480"/>
  </p:notesMasterIdLst>
  <p:sldIdLst>
    <p:sldId xmlns:r="http://schemas.openxmlformats.org/officeDocument/2006/relationships" id="256" r:id="Rb1a648e513914645"/>
    <p:sldId xmlns:r="http://schemas.openxmlformats.org/officeDocument/2006/relationships" id="257" r:id="R8ef7915f94b7492c"/>
    <p:sldId xmlns:r="http://schemas.openxmlformats.org/officeDocument/2006/relationships" id="258" r:id="R618131e3cf324620"/>
    <p:sldId xmlns:r="http://schemas.openxmlformats.org/officeDocument/2006/relationships" id="259" r:id="Re19380a411514576"/>
    <p:sldId xmlns:r="http://schemas.openxmlformats.org/officeDocument/2006/relationships" id="260" r:id="R676e98d287804bff"/>
    <p:sldId xmlns:r="http://schemas.openxmlformats.org/officeDocument/2006/relationships" id="261" r:id="R236d42b55030449a"/>
    <p:sldId xmlns:r="http://schemas.openxmlformats.org/officeDocument/2006/relationships" id="262" r:id="R9ef71d47a729465c"/>
    <p:sldId xmlns:r="http://schemas.openxmlformats.org/officeDocument/2006/relationships" id="263" r:id="Rea8175fbb54b4cf6"/>
    <p:sldId xmlns:r="http://schemas.openxmlformats.org/officeDocument/2006/relationships" id="264" r:id="Reab200f2d5ce4ba6"/>
    <p:sldId xmlns:r="http://schemas.openxmlformats.org/officeDocument/2006/relationships" id="265" r:id="R1519e0aa4b7f4b5e"/>
    <p:sldId xmlns:r="http://schemas.openxmlformats.org/officeDocument/2006/relationships" id="266" r:id="R05cf86db7dc7469e"/>
    <p:sldId xmlns:r="http://schemas.openxmlformats.org/officeDocument/2006/relationships" id="267" r:id="Rfc845731af024448"/>
    <p:sldId xmlns:r="http://schemas.openxmlformats.org/officeDocument/2006/relationships" id="268" r:id="R64fc738e5e8a423c"/>
    <p:sldId xmlns:r="http://schemas.openxmlformats.org/officeDocument/2006/relationships" id="269" r:id="R9189e7a42f1d4ff0"/>
    <p:sldId xmlns:r="http://schemas.openxmlformats.org/officeDocument/2006/relationships" id="270" r:id="Rf1ce7cb93dc94840"/>
    <p:sldId xmlns:r="http://schemas.openxmlformats.org/officeDocument/2006/relationships" id="271" r:id="Rb4b7c0b11e6f4123"/>
    <p:sldId xmlns:r="http://schemas.openxmlformats.org/officeDocument/2006/relationships" id="272" r:id="R58802e209e2f4a04"/>
    <p:sldId xmlns:r="http://schemas.openxmlformats.org/officeDocument/2006/relationships" id="273" r:id="R8f527f48335f41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5d1705d044fe5" /><Relationship Type="http://schemas.openxmlformats.org/officeDocument/2006/relationships/slideMaster" Target="/ppt/slideMasters/slideMaster1.xml" Id="Rc49934ac7ead476e" /><Relationship Type="http://schemas.openxmlformats.org/officeDocument/2006/relationships/notesMaster" Target="/ppt/notesMasters/notesMaster1.xml" Id="R28b6d57e29724480" /><Relationship Type="http://schemas.openxmlformats.org/officeDocument/2006/relationships/presProps" Target="/ppt/presProps.xml" Id="Rebbea4f9e3174bea" /><Relationship Type="http://schemas.openxmlformats.org/officeDocument/2006/relationships/tableStyles" Target="/ppt/tableStyles.xml" Id="R6dffb7fe276a479a" /><Relationship Type="http://schemas.openxmlformats.org/officeDocument/2006/relationships/slide" Target="/ppt/slides/slide1.xml" Id="Rb1a648e513914645" /><Relationship Type="http://schemas.openxmlformats.org/officeDocument/2006/relationships/slide" Target="/ppt/slides/slide2.xml" Id="R8ef7915f94b7492c" /><Relationship Type="http://schemas.openxmlformats.org/officeDocument/2006/relationships/slide" Target="/ppt/slides/slide3.xml" Id="R618131e3cf324620" /><Relationship Type="http://schemas.openxmlformats.org/officeDocument/2006/relationships/slide" Target="/ppt/slides/slide4.xml" Id="Re19380a411514576" /><Relationship Type="http://schemas.openxmlformats.org/officeDocument/2006/relationships/slide" Target="/ppt/slides/slide5.xml" Id="R676e98d287804bff" /><Relationship Type="http://schemas.openxmlformats.org/officeDocument/2006/relationships/slide" Target="/ppt/slides/slide6.xml" Id="R236d42b55030449a" /><Relationship Type="http://schemas.openxmlformats.org/officeDocument/2006/relationships/slide" Target="/ppt/slides/slide7.xml" Id="R9ef71d47a729465c" /><Relationship Type="http://schemas.openxmlformats.org/officeDocument/2006/relationships/slide" Target="/ppt/slides/slide8.xml" Id="Rea8175fbb54b4cf6" /><Relationship Type="http://schemas.openxmlformats.org/officeDocument/2006/relationships/slide" Target="/ppt/slides/slide9.xml" Id="Reab200f2d5ce4ba6" /><Relationship Type="http://schemas.openxmlformats.org/officeDocument/2006/relationships/slide" Target="/ppt/slides/slide10.xml" Id="R1519e0aa4b7f4b5e" /><Relationship Type="http://schemas.openxmlformats.org/officeDocument/2006/relationships/slide" Target="/ppt/slides/slide11.xml" Id="R05cf86db7dc7469e" /><Relationship Type="http://schemas.openxmlformats.org/officeDocument/2006/relationships/slide" Target="/ppt/slides/slide12.xml" Id="Rfc845731af024448" /><Relationship Type="http://schemas.openxmlformats.org/officeDocument/2006/relationships/slide" Target="/ppt/slides/slide13.xml" Id="R64fc738e5e8a423c" /><Relationship Type="http://schemas.openxmlformats.org/officeDocument/2006/relationships/slide" Target="/ppt/slides/slide14.xml" Id="R9189e7a42f1d4ff0" /><Relationship Type="http://schemas.openxmlformats.org/officeDocument/2006/relationships/slide" Target="/ppt/slides/slide15.xml" Id="Rf1ce7cb93dc94840" /><Relationship Type="http://schemas.openxmlformats.org/officeDocument/2006/relationships/slide" Target="/ppt/slides/slide16.xml" Id="Rb4b7c0b11e6f4123" /><Relationship Type="http://schemas.openxmlformats.org/officeDocument/2006/relationships/slide" Target="/ppt/slides/slide17.xml" Id="R58802e209e2f4a04" /><Relationship Type="http://schemas.openxmlformats.org/officeDocument/2006/relationships/slide" Target="/ppt/slides/slide18.xml" Id="R8f527f48335f41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3cb8e3776b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aedd43ad2a48a1" /><Relationship Type="http://schemas.openxmlformats.org/officeDocument/2006/relationships/notesMaster" Target="/ppt/notesMasters/notesMaster1.xml" Id="Rcb90fdfe1467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4ef0a8d914240" /><Relationship Type="http://schemas.openxmlformats.org/officeDocument/2006/relationships/notesMaster" Target="/ppt/notesMasters/notesMaster1.xml" Id="Rcec9b2c68c68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62a14822342bb" /><Relationship Type="http://schemas.openxmlformats.org/officeDocument/2006/relationships/notesMaster" Target="/ppt/notesMasters/notesMaster1.xml" Id="Rab4cac1a4ba74c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c256b1e73d4171" /><Relationship Type="http://schemas.openxmlformats.org/officeDocument/2006/relationships/notesMaster" Target="/ppt/notesMasters/notesMaster1.xml" Id="Rd132997d516a40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611a58e5ce4e3b" /><Relationship Type="http://schemas.openxmlformats.org/officeDocument/2006/relationships/notesMaster" Target="/ppt/notesMasters/notesMaster1.xml" Id="R5c503617aa7441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90ceaa0e24b63" /><Relationship Type="http://schemas.openxmlformats.org/officeDocument/2006/relationships/notesMaster" Target="/ppt/notesMasters/notesMaster1.xml" Id="R05241b0f528c47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57873a8844a4a" /><Relationship Type="http://schemas.openxmlformats.org/officeDocument/2006/relationships/notesMaster" Target="/ppt/notesMasters/notesMaster1.xml" Id="R6c7861c6bdcf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91eeeb68814f6c" /><Relationship Type="http://schemas.openxmlformats.org/officeDocument/2006/relationships/notesMaster" Target="/ppt/notesMasters/notesMaster1.xml" Id="R4a6289b2c1c742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fcf6cc483e44e8" /><Relationship Type="http://schemas.openxmlformats.org/officeDocument/2006/relationships/notesMaster" Target="/ppt/notesMasters/notesMaster1.xml" Id="Rc7970a6ee59e48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efdfeadad04990" /><Relationship Type="http://schemas.openxmlformats.org/officeDocument/2006/relationships/notesMaster" Target="/ppt/notesMasters/notesMaster1.xml" Id="R20de51ea890949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200d0f52724867" /><Relationship Type="http://schemas.openxmlformats.org/officeDocument/2006/relationships/notesMaster" Target="/ppt/notesMasters/notesMaster1.xml" Id="Rdb251be5512945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71dbd80596469d" /><Relationship Type="http://schemas.openxmlformats.org/officeDocument/2006/relationships/notesMaster" Target="/ppt/notesMasters/notesMaster1.xml" Id="R6b22f65a0d404b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6603b6aad840e1" /><Relationship Type="http://schemas.openxmlformats.org/officeDocument/2006/relationships/notesMaster" Target="/ppt/notesMasters/notesMaster1.xml" Id="R49ae9519cd4445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50ee6576454082" /><Relationship Type="http://schemas.openxmlformats.org/officeDocument/2006/relationships/notesMaster" Target="/ppt/notesMasters/notesMaster1.xml" Id="R57ee6f75f5a344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be5bfb9f654bee" /><Relationship Type="http://schemas.openxmlformats.org/officeDocument/2006/relationships/notesMaster" Target="/ppt/notesMasters/notesMaster1.xml" Id="Rf54a4d0c8a4d41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fc1ea840324dbd" /><Relationship Type="http://schemas.openxmlformats.org/officeDocument/2006/relationships/notesMaster" Target="/ppt/notesMasters/notesMaster1.xml" Id="Rf8efb1b218f64b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bbbe2b3a8f4d87" /><Relationship Type="http://schemas.openxmlformats.org/officeDocument/2006/relationships/notesMaster" Target="/ppt/notesMasters/notesMaster1.xml" Id="R92c18a154c444f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ae54d5ae4949a2" /><Relationship Type="http://schemas.openxmlformats.org/officeDocument/2006/relationships/notesMaster" Target="/ppt/notesMasters/notesMaster1.xml" Id="R4dc2d50d5155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固定初始相位并去除E_F公共相位。主波场采用512×512周期盒、初始概率RMS宽度10a。左侧局部图和右侧真实格点样本表现振幅波峰波谷，N改变盒长而不是晶格常数。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 与实际格点传播模拟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波场说明：τ=0，q₀=(0.7,0.7)，σ=10a。左图逐格显示振幅实部；右图每个圆点是一个实际格点，连线只帮助读图。沿 x 每个载波周期约9个格点，二维波峰沿对角方向排列。增大 N 扩大周期盒，并不改变格距或每个波长的采样数；波的可见度来自选取合适局部视窗并画出相位敏感振幅。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固定正交轨道a,b，各占据一个电子；只保留直接库仑交换。矩阵基底依次为↑↑、↑↓、↓↑、↓↓。反平行积态的对称与反对称组合给出D−K和D+K。矩阵匹配得到J=2K。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1–3 页，式 (2)、(3)、(11)、(14)、(20)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图中5×5只是局部交换晶格示意，中心额外标出单翻转。全极化基态所有自旋沿+x。单翻转空间在H作用下精确闭合。每条键计一次。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(22)、(25)、(26)、(29)　A01 局部示意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每条含翻转的键产生−Jij/2的相邻位置振幅。平面波移动一个格点只改变相位。正反方向指数相加为2cos，得到余弦色散。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(28)、(35)–(39)　本页沿用 ℏ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图为沿x轴的能量与群速度。空间各向异性使uy=eta sin qy，群速度一般不平行于q。单点激发包含整个能带，不能用单一箭头描述。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来源：色散 ε/Jₓ = 1−cos qₓ+η(1−cos qᵧ)，q = ka，η = Jᵧ/Jₓ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采用psi=e^{iE_Ft/hbar}c去掉共同基态相位，固定初始相位且不逐帧重定相位。Repsi是此约定下的概率振幅实部，不是固定单磁子数态的横向自旋期望。|psi|²是翻转概率。A0=max|psi(0)|,P0=A0²固定。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W01　512×512，初始 RMS 宽度 10a，q₀=(0.7,0)，τ=30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波场说明：N=512，σ=10a，q₀=(0.7,0)，η=1，τ=30。上方为同一复振幅的实部与模方；下方取 y=0 的实际格点截线。实部显出波峰和波谷，概率显示包络。A₀=max|ψ(0)|、P₀=A₀²；色标固定，未逐帧归一化。Reψ 依赖固定相位约定，不表示固定单磁子态的横向自旋期望。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单点在波矢空间中权重均匀，含整个能带。热图显示实际格点，无连续插值。实部可正可负而概率非负。Bessel传播核可独立验证单点演化。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W04　单点翻转，η = 1，τ = 24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波场说明：初态 ψₘₙ(0)=δₘ₀δₙ₀，η=1，N=512，τ=24。图示实际格点的振幅实部与翻转概率。两者直接使用原数值；指定色标范围为 Reψ∈[−0.06,0.06]、P∈[0,0.0036]，无归一化缩放。干涉结构是全布里渊区模式相干叠加的结果，不能用一个中心波矢的群速度解释全部细节。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Px为对y求和的边际概率。最大群速度给出主要前沿|x|/a约tau；尾部不严格为零。RMS_x/a=tau/sqrt2，RMS_y/a=eta*tau/sqrt2。原有256与512格点盒比较已验证。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来源：单点初态 B07、B09　左图 η=1，右图 η=1、0.3、0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这里sigma为物理位置概率的RMS宽度，初态振幅exp[-(x²+y²)/(4sigma²)] exp(ik0.r)。q0=k0a，主波场q0=(.7,0)，沿x周期2pi/.7约8.98a。N只改变盒长，不改变a。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来源：C02 宽度对照；新波场以初始 RMS 宽度 10a 为主要展示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仅在横坐标减去实际概率质心，没有逐帧旋转复相位。载波相位与包络运动是不同概念，质心位移从P计算。截线显示实际格点样本与包络。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W03　σ=10a，q₀=(0.7,0)，τ=0、30、60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波场说明：q₀=(0.7,0)，σ=10a，η=1；取 y=0 的真实格点数据，以 x−〈x〉作横坐标，并未空间插值或逐帧重定相位。蓝线为 Reψ/A₀，橙线为 ±|ψ|/A₀，灰虚线为初始正包络。共动坐标消去质心平移，但仍能看见载波相位变化及有限展宽。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GIF含61个真实演化时刻，固定色标与坐标。右侧质心轨迹来自新512格点模型保存的概率矩。平均速度.643412918，与sin(.7)=.644217687的差来自有限频宽。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W07　σ=10a，q₀=(0.7,0)，η=1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波场说明：N=512，q₀=(0.7,0)，σ=10a，η=1，τ=0…60。两图是同一复态，色标分别为固定 Reψ/A₀∈[−1,1]、P/P₀∈[0,1]。无逐帧归一化、无相位重置、无热图插值。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左图是原有sigma4a的共动边际，右图比较3a/6a/10a的相对RMS宽度。初始空间资源不同，应把结果解释为频宽规律，不是同资源性能排名。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来源：C07、C08：q₀=(0.7,0)，η=1，归一化总概率均为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波矢的方向都是45度，但平均群速度方向分别45度和arctan(.3)=16.699度。深色箭头表示实际概率质心位移。Repsi只作波纹显示，不能把条纹法线直接当作各向异性下的群速度方向。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W05　σ=10a，q₀=(0.7,0.7)，τ=60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波场说明：两图均为 q₀=(0.7,0.7)、σ=10a、τ=60。仅改变 η=Jᵧ/Jₓ：左1，右0.3；箭头从初始中心指向此刻概率质心。同一固定振幅色标。各向异性改变 y 方向群速度，载波相位法线方向与群速度方向因此一般不重合。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两组初态相同，只有Jy改变。动画使用固定实部色标，未逐帧峰值归一化。y质心来自保存的概率分布，tau60分别38.6048a和11.5814a。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W08　η=1 与 0.3，σ=10a，q₀=(0.7,0.7)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波场说明：两侧均 q₀=(0.7,0.7)、σ=10a，分别 η=1 与0.3；τ=0…60。固定初始峰值 A₀，统一色标 Reψ/A₀∈[−1,1]。热图严格取实际格点值；未改变格距。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左图谱概率保持不变，右图扣去常数与线性平移相位后仍有高阶残差。无啁啾Gaussian的初始位置-速度协方差为零，方差律成立；一般初态还要加协方差项。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来源：C12：σ=4a 的相位示例　e=ε/Jₓ，τ=Jₓt/ℏ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普通中心(.7,.7)与(pi/2,pi/2)同初宽比较。F是与按各自平均速度平移的初态的复态重合模平方，含相对相位差。二阶曲率cos q=0仍留三阶色散，不能宣称永久保形。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来源：C13　两组初始 RMS 宽度均为 3a，η=1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左图是原有FFT与Bessel核比较。右表使用新增512波场的实际误差记录，N512到1024是相同a下的扩大盒检查。N增加不改变载波每波长格点数。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来源：左：B13 解析核对照　右：新增密集波场 checks.json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本报告仅建立均匀、零外场、无耗散、单磁子模型中的传播图像。真实材料参数、阻尼以及多磁子相互作用需要后续扩展。当前零曲率结论是有限时间效果。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来源：理论：原理 PDF 第 1–5 页　模拟：A/B/C 与 dense-wave 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880d252cf48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d626915844b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feca1f3a14b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beb790ad742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a30a99e5442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da371f3ca43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7e4061ca44b23" /><Relationship Type="http://schemas.openxmlformats.org/officeDocument/2006/relationships/slideLayout" Target="/ppt/slideLayouts/slideLayout1.xml" Id="R3957aff8c7a5485b" /><Relationship Type="http://schemas.openxmlformats.org/officeDocument/2006/relationships/slideLayout" Target="/ppt/slideLayouts/slideLayout2.xml" Id="R5ee6e17fad504149" /><Relationship Type="http://schemas.openxmlformats.org/officeDocument/2006/relationships/slideLayout" Target="/ppt/slideLayouts/slideLayout3.xml" Id="R85203c13a213459a" /><Relationship Type="http://schemas.openxmlformats.org/officeDocument/2006/relationships/slideLayout" Target="/ppt/slideLayouts/slideLayout4.xml" Id="Rbce38cef172743f2" /><Relationship Type="http://schemas.openxmlformats.org/officeDocument/2006/relationships/slideLayout" Target="/ppt/slideLayouts/slideLayout5.xml" Id="Re577f3829fda433a" /><Relationship Type="http://schemas.openxmlformats.org/officeDocument/2006/relationships/slideLayout" Target="/ppt/slideLayouts/slideLayout6.xml" Id="Rd947f55492e0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57aff8c7a5485b"/>
    <p:sldLayoutId xmlns:r="http://schemas.openxmlformats.org/officeDocument/2006/relationships" id="2147483650" r:id="R5ee6e17fad504149"/>
    <p:sldLayoutId xmlns:r="http://schemas.openxmlformats.org/officeDocument/2006/relationships" id="2147483651" r:id="R85203c13a213459a"/>
    <p:sldLayoutId xmlns:r="http://schemas.openxmlformats.org/officeDocument/2006/relationships" id="2147483652" r:id="Rbce38cef172743f2"/>
    <p:sldLayoutId xmlns:r="http://schemas.openxmlformats.org/officeDocument/2006/relationships" id="2147483653" r:id="Re577f3829fda433a"/>
    <p:sldLayoutId xmlns:r="http://schemas.openxmlformats.org/officeDocument/2006/relationships" id="2147483654" r:id="Rd947f55492e0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54ca94f289472b" /><Relationship Type="http://schemas.openxmlformats.org/officeDocument/2006/relationships/image" Target="/ppt/media/image.png" Id="Rccdbc8f9dc314dd8" /><Relationship Type="http://schemas.openxmlformats.org/officeDocument/2006/relationships/image" Target="/ppt/media/image2.png" Id="R66f19fe889b74f56" /><Relationship Type="http://schemas.openxmlformats.org/officeDocument/2006/relationships/notesSlide" Target="/ppt/notesSlides/notesSlide1.xml" Id="R31cbb9752af64f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33945d1d64a7d" /><Relationship Type="http://schemas.openxmlformats.org/officeDocument/2006/relationships/image" Target="/ppt/media/image3.png" Id="R45342d4a5aaa495d" /><Relationship Type="http://schemas.openxmlformats.org/officeDocument/2006/relationships/image" Target="/ppt/media/image4.png" Id="Rb6cf660a6494438e" /><Relationship Type="http://schemas.openxmlformats.org/officeDocument/2006/relationships/chart" Target="/ppt/slides/charts/chart1.xml" Id="Rf942fc2f006144c1" /><Relationship Type="http://schemas.openxmlformats.org/officeDocument/2006/relationships/image" Target="/ppt/media/image5.png" Id="Rbd8793a573d24536" /><Relationship Type="http://schemas.openxmlformats.org/officeDocument/2006/relationships/notesSlide" Target="/ppt/notesSlides/notesSlide2.xml" Id="Ra0c24f20e8fa4d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96e7fd17e4312" /><Relationship Type="http://schemas.openxmlformats.org/officeDocument/2006/relationships/image" Target="/ppt/media/image6.png" Id="R8bd135f221bd40c6" /><Relationship Type="http://schemas.openxmlformats.org/officeDocument/2006/relationships/image" Target="/ppt/media/image7.png" Id="Rd7d5638ab0fc4b9f" /><Relationship Type="http://schemas.openxmlformats.org/officeDocument/2006/relationships/image" Target="/ppt/media/image8.png" Id="Rd1c7524928eb4a2a" /><Relationship Type="http://schemas.openxmlformats.org/officeDocument/2006/relationships/image" Target="/ppt/media/image9.png" Id="R67ad0d190b7a4cda" /><Relationship Type="http://schemas.openxmlformats.org/officeDocument/2006/relationships/image" Target="/ppt/media/image10.png" Id="Rf56f4698b36744c9" /><Relationship Type="http://schemas.openxmlformats.org/officeDocument/2006/relationships/notesSlide" Target="/ppt/notesSlides/notesSlide3.xml" Id="R313e75a846c8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98a2651364697" /><Relationship Type="http://schemas.openxmlformats.org/officeDocument/2006/relationships/image" Target="/ppt/media/image11.png" Id="R2e9fde7be21a4332" /><Relationship Type="http://schemas.openxmlformats.org/officeDocument/2006/relationships/image" Target="/ppt/media/image12.png" Id="R77841bb42b8f4af9" /><Relationship Type="http://schemas.openxmlformats.org/officeDocument/2006/relationships/image" Target="/ppt/media/image13.png" Id="R6529b5643819419a" /><Relationship Type="http://schemas.openxmlformats.org/officeDocument/2006/relationships/image" Target="/ppt/media/image14.png" Id="R11a2081506fb443d" /><Relationship Type="http://schemas.openxmlformats.org/officeDocument/2006/relationships/notesSlide" Target="/ppt/notesSlides/notesSlide4.xml" Id="Rc2f2803f49f3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22cd432c2442b" /><Relationship Type="http://schemas.openxmlformats.org/officeDocument/2006/relationships/image" Target="/ppt/media/image15.png" Id="R579527e0f5144a59" /><Relationship Type="http://schemas.openxmlformats.org/officeDocument/2006/relationships/notesSlide" Target="/ppt/notesSlides/notesSlide5.xml" Id="Rb4a45ae5aa0149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43c3117cf41f8" /><Relationship Type="http://schemas.openxmlformats.org/officeDocument/2006/relationships/image" Target="/ppt/media/image16.png" Id="R192a2810c63a43c3" /><Relationship Type="http://schemas.openxmlformats.org/officeDocument/2006/relationships/notesSlide" Target="/ppt/notesSlides/notesSlide6.xml" Id="R08fd555c0d7443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aae7e2c014096" /><Relationship Type="http://schemas.openxmlformats.org/officeDocument/2006/relationships/image" Target="/ppt/media/image17.png" Id="Rcc8bca3f05f641f5" /><Relationship Type="http://schemas.openxmlformats.org/officeDocument/2006/relationships/notesSlide" Target="/ppt/notesSlides/notesSlide7.xml" Id="R7f5b118ad79b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4da0dfdfd4023" /><Relationship Type="http://schemas.openxmlformats.org/officeDocument/2006/relationships/image" Target="/ppt/media/image18.png" Id="R63770ece5440495c" /><Relationship Type="http://schemas.openxmlformats.org/officeDocument/2006/relationships/chart" Target="/ppt/slides/charts/chart2.xml" Id="R3ac8a8266bad40ea" /><Relationship Type="http://schemas.openxmlformats.org/officeDocument/2006/relationships/notesSlide" Target="/ppt/notesSlides/notesSlide8.xml" Id="Rf4598593fdd348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24ace4df34337" /><Relationship Type="http://schemas.openxmlformats.org/officeDocument/2006/relationships/image" Target="/ppt/media/image19.png" Id="R67a952c1324747bf" /><Relationship Type="http://schemas.openxmlformats.org/officeDocument/2006/relationships/notesSlide" Target="/ppt/notesSlides/notesSlide9.xml" Id="R29c78e012ab643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7d5e28ce04dbc" /><Relationship Type="http://schemas.openxmlformats.org/officeDocument/2006/relationships/image" Target="/ppt/media/image20.png" Id="R6bdd8b3db9d742da" /><Relationship Type="http://schemas.openxmlformats.org/officeDocument/2006/relationships/notesSlide" Target="/ppt/notesSlides/notesSlide10.xml" Id="R6c6f6076c0f54d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4a15d723f42da" /><Relationship Type="http://schemas.openxmlformats.org/officeDocument/2006/relationships/image" Target="/ppt/media/image.gif" Id="Rd1056820140f4f3e" /><Relationship Type="http://schemas.openxmlformats.org/officeDocument/2006/relationships/chart" Target="/ppt/slides/charts/chart3.xml" Id="R3f28492d4c9a405d" /><Relationship Type="http://schemas.openxmlformats.org/officeDocument/2006/relationships/notesSlide" Target="/ppt/notesSlides/notesSlide11.xml" Id="R6cdb002ccbb247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1140eacaf473e" /><Relationship Type="http://schemas.openxmlformats.org/officeDocument/2006/relationships/image" Target="/ppt/media/image21.png" Id="Rd6d6869bd4bd40a6" /><Relationship Type="http://schemas.openxmlformats.org/officeDocument/2006/relationships/chart" Target="/ppt/slides/charts/chart4.xml" Id="R40242d99474a4968" /><Relationship Type="http://schemas.openxmlformats.org/officeDocument/2006/relationships/notesSlide" Target="/ppt/notesSlides/notesSlide12.xml" Id="Rd881e2f3bdfd47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4a5074f204bd5" /><Relationship Type="http://schemas.openxmlformats.org/officeDocument/2006/relationships/image" Target="/ppt/media/image22.png" Id="R0deddc66e4734897" /><Relationship Type="http://schemas.openxmlformats.org/officeDocument/2006/relationships/notesSlide" Target="/ppt/notesSlides/notesSlide13.xml" Id="Rd50b2e39df294f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db931e1dbf4275" /><Relationship Type="http://schemas.openxmlformats.org/officeDocument/2006/relationships/image" Target="/ppt/media/image2.gif" Id="R4504df47d06a4524" /><Relationship Type="http://schemas.openxmlformats.org/officeDocument/2006/relationships/chart" Target="/ppt/slides/charts/chart5.xml" Id="R78fecba160af4b62" /><Relationship Type="http://schemas.openxmlformats.org/officeDocument/2006/relationships/notesSlide" Target="/ppt/notesSlides/notesSlide14.xml" Id="Rdd8c8415d8ed4b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89d582baf41de" /><Relationship Type="http://schemas.openxmlformats.org/officeDocument/2006/relationships/image" Target="/ppt/media/image23.png" Id="R23a485c8f7ee49cd" /><Relationship Type="http://schemas.openxmlformats.org/officeDocument/2006/relationships/notesSlide" Target="/ppt/notesSlides/notesSlide15.xml" Id="Rdb1edefd3dae4d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a430fed194372" /><Relationship Type="http://schemas.openxmlformats.org/officeDocument/2006/relationships/chart" Target="/ppt/slides/charts/chart6.xml" Id="R4fb0af8e40364f3a" /><Relationship Type="http://schemas.openxmlformats.org/officeDocument/2006/relationships/chart" Target="/ppt/slides/charts/chart7.xml" Id="R51ce247ab732408e" /><Relationship Type="http://schemas.openxmlformats.org/officeDocument/2006/relationships/notesSlide" Target="/ppt/notesSlides/notesSlide16.xml" Id="R03160361fed14f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9a5b740dd14040" /><Relationship Type="http://schemas.openxmlformats.org/officeDocument/2006/relationships/image" Target="/ppt/media/image24.png" Id="R9fb38ab204144bcb" /><Relationship Type="http://schemas.openxmlformats.org/officeDocument/2006/relationships/notesSlide" Target="/ppt/notesSlides/notesSlide17.xml" Id="Refb33578a1e24f1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5f04e83674c49" /><Relationship Type="http://schemas.openxmlformats.org/officeDocument/2006/relationships/notesSlide" Target="/ppt/notesSlides/notesSlide18.xml" Id="R31d4b9cde70f47b0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D)/K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两个方向的展开尺度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10a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-4.0291987632698377E-16</c:v>
              </c:pt>
              <c:pt idx="1">
                <c:v>0.6434129182140708</c:v>
              </c:pt>
              <c:pt idx="2">
                <c:v>1.286825836428141</c:v>
              </c:pt>
              <c:pt idx="3">
                <c:v>1.9302387546422124</c:v>
              </c:pt>
              <c:pt idx="4">
                <c:v>2.5736516728562835</c:v>
              </c:pt>
              <c:pt idx="5">
                <c:v>3.2170645910703546</c:v>
              </c:pt>
              <c:pt idx="6">
                <c:v>3.860477509284426</c:v>
              </c:pt>
              <c:pt idx="7">
                <c:v>4.503890427498497</c:v>
              </c:pt>
              <c:pt idx="8">
                <c:v>5.147303345712569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7.077542100354782</c:v>
              </c:pt>
              <c:pt idx="12">
                <c:v>7.720955018568853</c:v>
              </c:pt>
              <c:pt idx="13">
                <c:v>8.364367936782921</c:v>
              </c:pt>
              <c:pt idx="14">
                <c:v>9.007780854996994</c:v>
              </c:pt>
              <c:pt idx="15">
                <c:v>9.651193773211062</c:v>
              </c:pt>
              <c:pt idx="16">
                <c:v>10.294606691425136</c:v>
              </c:pt>
              <c:pt idx="17">
                <c:v>10.938019609639205</c:v>
              </c:pt>
              <c:pt idx="18">
                <c:v>11.58143252785328</c:v>
              </c:pt>
              <c:pt idx="19">
                <c:v>12.22484544606735</c:v>
              </c:pt>
              <c:pt idx="20">
                <c:v>12.868258364281422</c:v>
              </c:pt>
              <c:pt idx="21">
                <c:v>13.511671282495493</c:v>
              </c:pt>
              <c:pt idx="22">
                <c:v>14.155084200709565</c:v>
              </c:pt>
              <c:pt idx="23">
                <c:v>14.798497118923631</c:v>
              </c:pt>
              <c:pt idx="24">
                <c:v>15.441910037137701</c:v>
              </c:pt>
              <c:pt idx="25">
                <c:v>16.085322955351774</c:v>
              </c:pt>
              <c:pt idx="26">
                <c:v>16.728735873565842</c:v>
              </c:pt>
              <c:pt idx="27">
                <c:v>17.372148791779914</c:v>
              </c:pt>
              <c:pt idx="28">
                <c:v>18.01556170999399</c:v>
              </c:pt>
              <c:pt idx="29">
                <c:v>18.65897462820806</c:v>
              </c:pt>
              <c:pt idx="30">
                <c:v>19.30238754642213</c:v>
              </c:pt>
              <c:pt idx="31">
                <c:v>19.9458004646362</c:v>
              </c:pt>
              <c:pt idx="32">
                <c:v>20.589213382850268</c:v>
              </c:pt>
              <c:pt idx="33">
                <c:v>21.232626301064347</c:v>
              </c:pt>
              <c:pt idx="34">
                <c:v>21.87603921927841</c:v>
              </c:pt>
              <c:pt idx="35">
                <c:v>22.519452137492486</c:v>
              </c:pt>
              <c:pt idx="36">
                <c:v>23.162865055706558</c:v>
              </c:pt>
              <c:pt idx="37">
                <c:v>23.80627797392063</c:v>
              </c:pt>
              <c:pt idx="38">
                <c:v>24.449690892134694</c:v>
              </c:pt>
              <c:pt idx="39">
                <c:v>25.09310381034877</c:v>
              </c:pt>
              <c:pt idx="40">
                <c:v>25.736516728562837</c:v>
              </c:pt>
              <c:pt idx="41">
                <c:v>26.37992964677691</c:v>
              </c:pt>
              <c:pt idx="42">
                <c:v>27.02334256499098</c:v>
              </c:pt>
              <c:pt idx="43">
                <c:v>27.66675548320505</c:v>
              </c:pt>
              <c:pt idx="44">
                <c:v>28.310168401419123</c:v>
              </c:pt>
              <c:pt idx="45">
                <c:v>28.953581319633194</c:v>
              </c:pt>
              <c:pt idx="46">
                <c:v>29.596994237847262</c:v>
              </c:pt>
              <c:pt idx="47">
                <c:v>30.240407156061345</c:v>
              </c:pt>
              <c:pt idx="48">
                <c:v>30.883820074275405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32.81405882891763</c:v>
              </c:pt>
              <c:pt idx="52">
                <c:v>33.457471747131684</c:v>
              </c:pt>
              <c:pt idx="53">
                <c:v>34.10088466534577</c:v>
              </c:pt>
              <c:pt idx="54">
                <c:v>34.744297583559835</c:v>
              </c:pt>
              <c:pt idx="55">
                <c:v>35.3877105017739</c:v>
              </c:pt>
              <c:pt idx="56">
                <c:v>36.03112341998798</c:v>
              </c:pt>
              <c:pt idx="57">
                <c:v>36.674536338202046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σₓ(τ)/σₓ(0)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方向的概率质心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0.6434129182140688</c:v>
              </c:pt>
              <c:pt idx="2">
                <c:v>1.2868258364281424</c:v>
              </c:pt>
              <c:pt idx="3">
                <c:v>1.930238754642212</c:v>
              </c:pt>
              <c:pt idx="4">
                <c:v>2.5736516728562826</c:v>
              </c:pt>
              <c:pt idx="5">
                <c:v>3.217064591070355</c:v>
              </c:pt>
              <c:pt idx="6">
                <c:v>3.860477509284424</c:v>
              </c:pt>
              <c:pt idx="7">
                <c:v>4.503890427498495</c:v>
              </c:pt>
              <c:pt idx="8">
                <c:v>5.147303345712568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7.077542100354781</c:v>
              </c:pt>
              <c:pt idx="12">
                <c:v>7.720955018568851</c:v>
              </c:pt>
              <c:pt idx="13">
                <c:v>8.364367936782923</c:v>
              </c:pt>
              <c:pt idx="14">
                <c:v>9.007780854996993</c:v>
              </c:pt>
              <c:pt idx="15">
                <c:v>9.651193773211064</c:v>
              </c:pt>
              <c:pt idx="16">
                <c:v>10.294606691425134</c:v>
              </c:pt>
              <c:pt idx="17">
                <c:v>10.938019609639209</c:v>
              </c:pt>
              <c:pt idx="18">
                <c:v>11.581432527853279</c:v>
              </c:pt>
              <c:pt idx="19">
                <c:v>12.22484544606735</c:v>
              </c:pt>
              <c:pt idx="20">
                <c:v>12.86825836428142</c:v>
              </c:pt>
              <c:pt idx="21">
                <c:v>13.51167128249549</c:v>
              </c:pt>
              <c:pt idx="22">
                <c:v>14.15508420070956</c:v>
              </c:pt>
              <c:pt idx="23">
                <c:v>14.798497118923635</c:v>
              </c:pt>
              <c:pt idx="24">
                <c:v>15.441910037137703</c:v>
              </c:pt>
              <c:pt idx="25">
                <c:v>16.085322955351778</c:v>
              </c:pt>
              <c:pt idx="26">
                <c:v>16.728735873565842</c:v>
              </c:pt>
              <c:pt idx="27">
                <c:v>17.372148791779917</c:v>
              </c:pt>
              <c:pt idx="28">
                <c:v>18.01556170999398</c:v>
              </c:pt>
              <c:pt idx="29">
                <c:v>18.658974628208057</c:v>
              </c:pt>
              <c:pt idx="30">
                <c:v>19.302387546422132</c:v>
              </c:pt>
              <c:pt idx="31">
                <c:v>19.945800464636203</c:v>
              </c:pt>
              <c:pt idx="32">
                <c:v>20.58921338285027</c:v>
              </c:pt>
              <c:pt idx="33">
                <c:v>21.232626301064347</c:v>
              </c:pt>
              <c:pt idx="34">
                <c:v>21.876039219278418</c:v>
              </c:pt>
              <c:pt idx="35">
                <c:v>22.519452137492486</c:v>
              </c:pt>
              <c:pt idx="36">
                <c:v>23.162865055706554</c:v>
              </c:pt>
              <c:pt idx="37">
                <c:v>23.80627797392063</c:v>
              </c:pt>
              <c:pt idx="38">
                <c:v>24.4496908921347</c:v>
              </c:pt>
              <c:pt idx="39">
                <c:v>25.093103810348772</c:v>
              </c:pt>
              <c:pt idx="40">
                <c:v>25.73651672856284</c:v>
              </c:pt>
              <c:pt idx="41">
                <c:v>26.379929646776915</c:v>
              </c:pt>
              <c:pt idx="42">
                <c:v>27.023342564990983</c:v>
              </c:pt>
              <c:pt idx="43">
                <c:v>27.666755483205048</c:v>
              </c:pt>
              <c:pt idx="44">
                <c:v>28.310168401419123</c:v>
              </c:pt>
              <c:pt idx="45">
                <c:v>28.953581319633198</c:v>
              </c:pt>
              <c:pt idx="46">
                <c:v>29.596994237847262</c:v>
              </c:pt>
              <c:pt idx="47">
                <c:v>30.240407156061337</c:v>
              </c:pt>
              <c:pt idx="48">
                <c:v>30.883820074275413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32.81405882891762</c:v>
              </c:pt>
              <c:pt idx="52">
                <c:v>33.4574717471317</c:v>
              </c:pt>
              <c:pt idx="53">
                <c:v>34.10088466534575</c:v>
              </c:pt>
              <c:pt idx="54">
                <c:v>34.744297583559835</c:v>
              </c:pt>
              <c:pt idx="55">
                <c:v>35.387710501773896</c:v>
              </c:pt>
              <c:pt idx="56">
                <c:v>36.03112341998798</c:v>
              </c:pt>
              <c:pt idx="57">
                <c:v>36.67453633820204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0.19302387546422017</c:v>
              </c:pt>
              <c:pt idx="2">
                <c:v>0.38604775092844135</c:v>
              </c:pt>
              <c:pt idx="3">
                <c:v>0.5790716263926624</c:v>
              </c:pt>
              <c:pt idx="4">
                <c:v>0.7720955018568845</c:v>
              </c:pt>
              <c:pt idx="5">
                <c:v>0.965119377321104</c:v>
              </c:pt>
              <c:pt idx="6">
                <c:v>1.158143252785327</c:v>
              </c:pt>
              <c:pt idx="7">
                <c:v>1.351167128249547</c:v>
              </c:pt>
              <c:pt idx="8">
                <c:v>1.5441910037137685</c:v>
              </c:pt>
              <c:pt idx="9">
                <c:v>1.73721487917799</c:v>
              </c:pt>
              <c:pt idx="10">
                <c:v>1.9302387546422106</c:v>
              </c:pt>
              <c:pt idx="11">
                <c:v>2.1232626301064337</c:v>
              </c:pt>
              <c:pt idx="12">
                <c:v>2.316286505570654</c:v>
              </c:pt>
              <c:pt idx="13">
                <c:v>2.5093103810348754</c:v>
              </c:pt>
              <c:pt idx="14">
                <c:v>2.7023342564990966</c:v>
              </c:pt>
              <c:pt idx="15">
                <c:v>2.8953581319633175</c:v>
              </c:pt>
              <c:pt idx="16">
                <c:v>3.0883820074275374</c:v>
              </c:pt>
              <c:pt idx="17">
                <c:v>3.2814058828917596</c:v>
              </c:pt>
              <c:pt idx="18">
                <c:v>3.474429758355981</c:v>
              </c:pt>
              <c:pt idx="19">
                <c:v>3.667453633820203</c:v>
              </c:pt>
              <c:pt idx="20">
                <c:v>3.860477509284424</c:v>
              </c:pt>
              <c:pt idx="21">
                <c:v>4.053501384748647</c:v>
              </c:pt>
              <c:pt idx="22">
                <c:v>4.2465252602128665</c:v>
              </c:pt>
              <c:pt idx="23">
                <c:v>4.439549135677087</c:v>
              </c:pt>
              <c:pt idx="24">
                <c:v>4.632573011141307</c:v>
              </c:pt>
              <c:pt idx="25">
                <c:v>4.82559688660553</c:v>
              </c:pt>
              <c:pt idx="26">
                <c:v>5.0186207620697525</c:v>
              </c:pt>
              <c:pt idx="27">
                <c:v>5.211644637533973</c:v>
              </c:pt>
              <c:pt idx="28">
                <c:v>5.404668512998195</c:v>
              </c:pt>
              <c:pt idx="29">
                <c:v>5.597692388462415</c:v>
              </c:pt>
              <c:pt idx="30">
                <c:v>5.790716263926636</c:v>
              </c:pt>
              <c:pt idx="31">
                <c:v>5.983740139390856</c:v>
              </c:pt>
              <c:pt idx="32">
                <c:v>6.1767640148550775</c:v>
              </c:pt>
              <c:pt idx="33">
                <c:v>6.3697878903193</c:v>
              </c:pt>
              <c:pt idx="34">
                <c:v>6.562811765783521</c:v>
              </c:pt>
              <c:pt idx="35">
                <c:v>6.755835641247744</c:v>
              </c:pt>
              <c:pt idx="36">
                <c:v>6.948859516711963</c:v>
              </c:pt>
              <c:pt idx="37">
                <c:v>7.141883392176184</c:v>
              </c:pt>
              <c:pt idx="38">
                <c:v>7.334907267640406</c:v>
              </c:pt>
              <c:pt idx="39">
                <c:v>7.527931143104627</c:v>
              </c:pt>
              <c:pt idx="40">
                <c:v>7.720955018568845</c:v>
              </c:pt>
              <c:pt idx="41">
                <c:v>7.91397889403307</c:v>
              </c:pt>
              <c:pt idx="42">
                <c:v>8.107002769497292</c:v>
              </c:pt>
              <c:pt idx="43">
                <c:v>8.300026644961509</c:v>
              </c:pt>
              <c:pt idx="44">
                <c:v>8.493050520425731</c:v>
              </c:pt>
              <c:pt idx="45">
                <c:v>8.686074395889957</c:v>
              </c:pt>
              <c:pt idx="46">
                <c:v>8.879098271354177</c:v>
              </c:pt>
              <c:pt idx="47">
                <c:v>9.072122146818394</c:v>
              </c:pt>
              <c:pt idx="48">
                <c:v>9.26514602228262</c:v>
              </c:pt>
              <c:pt idx="49">
                <c:v>9.45816989774684</c:v>
              </c:pt>
              <c:pt idx="50">
                <c:v>9.65119377321106</c:v>
              </c:pt>
              <c:pt idx="51">
                <c:v>9.844217648675283</c:v>
              </c:pt>
              <c:pt idx="52">
                <c:v>10.037241524139501</c:v>
              </c:pt>
              <c:pt idx="53">
                <c:v>10.230265399603722</c:v>
              </c:pt>
              <c:pt idx="54">
                <c:v>10.423289275067942</c:v>
              </c:pt>
              <c:pt idx="55">
                <c:v>10.616313150532164</c:v>
              </c:pt>
              <c:pt idx="56">
                <c:v>10.80933702599639</c:v>
              </c:pt>
              <c:pt idx="57">
                <c:v>11.002360901460609</c:v>
              </c:pt>
              <c:pt idx="58">
                <c:v>11.19538477692483</c:v>
              </c:pt>
              <c:pt idx="59">
                <c:v>11.388408652389051</c:v>
              </c:pt>
              <c:pt idx="60">
                <c:v>11.581432527853272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〈y〉/a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相对平移参考态的重合度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724E-2048-4C0B-9112-AA08034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3DF8-B0AA-46BD-8F55-6CEF9901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99023-0E2D-4529-8F08-24C40AB2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 与实际格点传播模拟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9F969-F749-40B6-AC02-1CF5CFA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F4538-626E-43E0-883F-E0B6EB7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交换作用、色散与波包的移动和展宽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674D5-52A7-46B4-8751-9E0CDC415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bc8f9dc314dd8"/>
          <a:stretch xmlns:a="http://schemas.openxmlformats.org/drawingml/2006/main"/>
        </p:blipFill>
        <p:spPr>
          <a:xfrm xmlns:a="http://schemas.openxmlformats.org/drawingml/2006/main">
            <a:off x="1792189" y="1695450"/>
            <a:ext cx="8569521" cy="33623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1010F-5DDF-46D5-9413-C017B86B8A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19fe889b74f56"/>
          <a:stretch xmlns:a="http://schemas.openxmlformats.org/drawingml/2006/main"/>
        </p:blipFill>
        <p:spPr>
          <a:xfrm xmlns:a="http://schemas.openxmlformats.org/drawingml/2006/main">
            <a:off x="1868199" y="5295900"/>
            <a:ext cx="8512752" cy="828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60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1C689-5BDC-4850-B909-6D80820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库仑交换、能级分裂与自旋耦合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48DC4-D301-4A90-BA8B-44E831C2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2CDC1-7BD2-4FF7-93C4-3E55EF74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1–3 页，式 (2)、(3)、(11)、(14)、(20)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89A8C-4DDC-4775-93AF-FEF9EAC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8220C-47FE-4EFC-B820-EF905C5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固定轨道，各有一个电子。矩阵基底：↑↑、↑↓、↓↑、↓↓。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2BF3B-4A28-4886-A727-98765EAD2B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42d4a5aaa495d"/>
          <a:stretch xmlns:a="http://schemas.openxmlformats.org/drawingml/2006/main"/>
        </p:blipFill>
        <p:spPr>
          <a:xfrm xmlns:a="http://schemas.openxmlformats.org/drawingml/2006/main">
            <a:off x="654024" y="1562100"/>
            <a:ext cx="5702352" cy="13430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0C13F-DB4C-4550-ABDE-5C146B7E5D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f660a6494438e"/>
          <a:stretch xmlns:a="http://schemas.openxmlformats.org/drawingml/2006/main"/>
        </p:blipFill>
        <p:spPr>
          <a:xfrm xmlns:a="http://schemas.openxmlformats.org/drawingml/2006/main">
            <a:off x="619125" y="3175156"/>
            <a:ext cx="5572125" cy="213646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50C5DC3-1982-44E4-B155-72B9D80CB57F}"/>
              </a:ext>
            </a:extLst>
          </p:cNvPr>
          <p:cNvGraphicFramePr/>
          <p:nvPr/>
        </p:nvGraphicFramePr>
        <p:xfrm>
          <a:off xmlns:a="http://schemas.openxmlformats.org/drawingml/2006/main" x="7000875" y="1428750"/>
          <a:ext xmlns:a="http://schemas.openxmlformats.org/drawingml/2006/main" cx="4762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2fc2f006144c1"/>
          </a:graphicData>
        </a:graphic>
      </p:graphicFrame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FC178-7297-4B2C-B5A2-7B7348165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793a573d24536"/>
          <a:stretch xmlns:a="http://schemas.openxmlformats.org/drawingml/2006/main"/>
        </p:blipFill>
        <p:spPr>
          <a:xfrm xmlns:a="http://schemas.openxmlformats.org/drawingml/2006/main">
            <a:off x="7533631" y="4086225"/>
            <a:ext cx="3525537" cy="790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4EBA2-323A-44A6-AFA8-7186EFB9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958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130F4-88DE-480E-91D4-7CE5F783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CCAC6-621C-4705-A760-F3AFA133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时三重态更低；去掉共同能量常数后，得到铁磁 Heisenberg 交换。</a:t>
            </a:r>
          </a:p>
        </p:txBody>
      </p:sp>
    </p:spTree>
    <p:extLst>
      <p:ext uri="{BB962C8B-B14F-4D97-AF65-F5344CB8AC3E}">
        <p14:creationId xmlns:p14="http://schemas.microsoft.com/office/powerpoint/2010/main" val="278960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3E90A-671C-4A05-A147-D74CDD70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晶格模型与单翻转子空间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27514-AB25-42A6-88BE-13E3CC5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FD3F8-0044-4EEA-ADA7-70DDABA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(22)、(25)、(26)、(29)　A01 局部示意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19A53-1A52-4494-B141-7AEEA4D4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80E2E-531C-4D60-9325-DA5BB9848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135f221bd40c6"/>
          <a:stretch xmlns:a="http://schemas.openxmlformats.org/drawingml/2006/main"/>
        </p:blipFill>
        <p:spPr>
          <a:xfrm xmlns:a="http://schemas.openxmlformats.org/drawingml/2006/main">
            <a:off x="3452676" y="1152525"/>
            <a:ext cx="5191397" cy="7239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18D33-92E1-4F6A-A0BF-B1944C770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5638ab0fc4b9f"/>
          <a:stretch xmlns:a="http://schemas.openxmlformats.org/drawingml/2006/main"/>
        </p:blipFill>
        <p:spPr>
          <a:xfrm xmlns:a="http://schemas.openxmlformats.org/drawingml/2006/main">
            <a:off x="361950" y="2217476"/>
            <a:ext cx="5372100" cy="291834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38661-DA52-40FA-944D-E9850675A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7524928eb4a2a"/>
          <a:stretch xmlns:a="http://schemas.openxmlformats.org/drawingml/2006/main"/>
        </p:blipFill>
        <p:spPr>
          <a:xfrm xmlns:a="http://schemas.openxmlformats.org/drawingml/2006/main">
            <a:off x="6106477" y="2066925"/>
            <a:ext cx="5522595" cy="11144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B8699-1081-436E-B260-5CCA2CCDD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d0d190b7a4cda"/>
          <a:stretch xmlns:a="http://schemas.openxmlformats.org/drawingml/2006/main"/>
        </p:blipFill>
        <p:spPr>
          <a:xfrm xmlns:a="http://schemas.openxmlformats.org/drawingml/2006/main">
            <a:off x="6010275" y="3509213"/>
            <a:ext cx="5715000" cy="70634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3D20E-4A63-494F-87D9-AE416BA0D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f4698b36744c9"/>
          <a:stretch xmlns:a="http://schemas.openxmlformats.org/drawingml/2006/main"/>
        </p:blipFill>
        <p:spPr>
          <a:xfrm xmlns:a="http://schemas.openxmlformats.org/drawingml/2006/main">
            <a:off x="7652497" y="4581525"/>
            <a:ext cx="2259106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8682D-1340-492C-B06A-C9554500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57825"/>
            <a:ext cx="1119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左图为局部模型示意；数值波场保留全部格点。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A2590-63F6-41FB-AB68-C0661215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ED0BD-66CE-45B7-B916-9C2BDCB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单翻转态的叠加始终留在同一子空间，能够精确计算其概率振幅。</a:t>
            </a:r>
          </a:p>
        </p:txBody>
      </p:sp>
    </p:spTree>
    <p:extLst>
      <p:ext uri="{BB962C8B-B14F-4D97-AF65-F5344CB8AC3E}">
        <p14:creationId xmlns:p14="http://schemas.microsoft.com/office/powerpoint/2010/main" val="27371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EEA1B-9FE9-4B3D-96B7-61B95C38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运动方程与单磁子色散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0F447-2384-4B3A-845E-A8764FFB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ED5A-A13E-447A-BE7E-6AFBDF6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(28)、(35)–(39)　本页沿用 ℏ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AD219-789E-44E8-87CB-929CAFF7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FFD3B-4A22-46CC-9B34-72E2FF37B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fde7be21a4332"/>
          <a:stretch xmlns:a="http://schemas.openxmlformats.org/drawingml/2006/main"/>
        </p:blipFill>
        <p:spPr>
          <a:xfrm xmlns:a="http://schemas.openxmlformats.org/drawingml/2006/main">
            <a:off x="2922827" y="1190625"/>
            <a:ext cx="6241571" cy="1438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FEC66-638B-4A3A-B6A2-AF2502940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41bb42b8f4af9"/>
          <a:stretch xmlns:a="http://schemas.openxmlformats.org/drawingml/2006/main"/>
        </p:blipFill>
        <p:spPr>
          <a:xfrm xmlns:a="http://schemas.openxmlformats.org/drawingml/2006/main">
            <a:off x="1526381" y="2857500"/>
            <a:ext cx="4138613" cy="7524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76E53-1A90-4C05-9CC1-8630BA0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最近邻位移只产生相位因子。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两个相反方向合并成为余弦项。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D65E2-224F-4208-A523-E64357DB4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9b5643819419a"/>
          <a:stretch xmlns:a="http://schemas.openxmlformats.org/drawingml/2006/main"/>
        </p:blipFill>
        <p:spPr>
          <a:xfrm xmlns:a="http://schemas.openxmlformats.org/drawingml/2006/main">
            <a:off x="2581482" y="3886200"/>
            <a:ext cx="6971886" cy="619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C911D-7553-42A2-9332-D05E0EBD8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2081506fb443d"/>
          <a:stretch xmlns:a="http://schemas.openxmlformats.org/drawingml/2006/main"/>
        </p:blipFill>
        <p:spPr>
          <a:xfrm xmlns:a="http://schemas.openxmlformats.org/drawingml/2006/main">
            <a:off x="2854001" y="4714875"/>
            <a:ext cx="6350648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80B67-B783-4012-8CBE-0CE07BD5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6E334-74BB-4FD4-88C4-1CEB4B6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激发能 ε = Eₖ − Eꜰ 决定传播相位，Eꜰ 只贡献整个态共有的相位。</a:t>
            </a:r>
          </a:p>
        </p:txBody>
      </p:sp>
    </p:spTree>
    <p:extLst>
      <p:ext uri="{BB962C8B-B14F-4D97-AF65-F5344CB8AC3E}">
        <p14:creationId xmlns:p14="http://schemas.microsoft.com/office/powerpoint/2010/main" val="2131447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ABE01-C486-4C89-A2BB-C979118A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色散的斜率决定群速度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4ECE2-3A03-4683-9EEB-D9D2310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5954F-54F1-49E0-ADDB-395158E6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色散 ε/Jₓ = 1−cos qₓ+η(1−cos qᵧ)，q = ka，η = Jᵧ/Jₓ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64238-A48B-4210-88DC-E232793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61DF3-040A-4231-AC57-3D957E1E82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527e0f5144a59"/>
          <a:stretch xmlns:a="http://schemas.openxmlformats.org/drawingml/2006/main"/>
        </p:blipFill>
        <p:spPr>
          <a:xfrm xmlns:a="http://schemas.openxmlformats.org/drawingml/2006/main">
            <a:off x="400050" y="1297982"/>
            <a:ext cx="7877175" cy="397628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9B3FE-47A3-48B7-9F90-6F882730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763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0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(sin qₓ, η sin qᵧ)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CC6F8-BC53-4A5C-9242-FDD5E843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19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速度与方向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17C98-53E2-474C-B838-E3CA570A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28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群速度是色散的梯度。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改变 y 向传播速度。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C20A3-D90A-4B17-903F-538571F7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62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带宽与长波极限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10C9D-DD5C-49AB-B205-53524FA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 时带宽为 4Jₓ。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小波矢附近近似抛物面。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CD6E6-9541-4A22-BEC1-22009B10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F0D3-831F-4A2C-955B-8A97E860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有限频宽波包的精确质心速度由整个频谱加权平均。</a:t>
            </a:r>
          </a:p>
        </p:txBody>
      </p:sp>
    </p:spTree>
    <p:extLst>
      <p:ext uri="{BB962C8B-B14F-4D97-AF65-F5344CB8AC3E}">
        <p14:creationId xmlns:p14="http://schemas.microsoft.com/office/powerpoint/2010/main" val="1398445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A34FD-7C38-4A26-8023-C2577FF6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同一个波包：振幅波纹与概率包络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23546-DC3E-433D-B166-C3E7C58E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D5A11-6780-4F00-B935-D5555337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W01　512×512，初始 RMS 宽度 10a，q₀=(0.7,0)，τ=30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C36F-3095-4944-B8A8-E01AADF3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C5295-67F9-479D-B22D-80B43114A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a2810c63a43c3"/>
          <a:stretch xmlns:a="http://schemas.openxmlformats.org/drawingml/2006/main"/>
        </p:blipFill>
        <p:spPr>
          <a:xfrm xmlns:a="http://schemas.openxmlformats.org/drawingml/2006/main">
            <a:off x="1492607" y="1123950"/>
            <a:ext cx="9187735" cy="4352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CAA91-5329-45D7-97B0-4DDC76AB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显示正负波峰，P=|ψ|² 显示位置概率；两者来自同一个复态。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5EB24-973D-4A98-B4AA-B73EF4E7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23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相位约定固定，仅去掉 Eꜰ 公共相位。固定单磁子态中 〈Sʸ〉=〈Sᶻ〉=0。</a:t>
            </a:r>
          </a:p>
        </p:txBody>
      </p:sp>
    </p:spTree>
    <p:extLst>
      <p:ext uri="{BB962C8B-B14F-4D97-AF65-F5344CB8AC3E}">
        <p14:creationId xmlns:p14="http://schemas.microsoft.com/office/powerpoint/2010/main" val="1390447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5D7A8-A81A-47EF-9B0D-AABAFC9B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单点激发形成多波矢干涉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01E1-83F1-425D-9E42-6A491811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DF089-8E39-490B-B076-EEB236B0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W04　单点翻转，η = 1，τ =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405B-55D3-47C7-987A-35B98454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BF48A-991E-405F-8ECF-539E98E414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bca3f05f641f5"/>
          <a:stretch xmlns:a="http://schemas.openxmlformats.org/drawingml/2006/main"/>
        </p:blipFill>
        <p:spPr>
          <a:xfrm xmlns:a="http://schemas.openxmlformats.org/drawingml/2006/main">
            <a:off x="1189066" y="1123950"/>
            <a:ext cx="979481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5A34F-7F91-4A3A-AD1C-EA71512F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0196A-EA4F-4B8A-8254-2EDE62D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00725"/>
            <a:ext cx="5286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ψₘₙ(0)=δₘ₀δₙ₀。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各个波矢共同参与传播。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3FADA-E114-48A8-803D-A5975B9E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相干展开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F9B33-1685-42F1-8235-E40EB17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286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不同路径的振幅相加，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在空间中形成条纹与旁瓣。</a:t>
            </a:r>
          </a:p>
        </p:txBody>
      </p:sp>
    </p:spTree>
    <p:extLst>
      <p:ext uri="{BB962C8B-B14F-4D97-AF65-F5344CB8AC3E}">
        <p14:creationId xmlns:p14="http://schemas.microsoft.com/office/powerpoint/2010/main" val="984268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D2E3-4024-4A15-B2BF-30A095C8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传播前沿与弹道展宽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DC226-D37D-4FA5-A5BF-D3102129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ED233-F9A5-48C1-8F89-743EB62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单点初态 B07、B09　左图 η=1，右图 η=1、0.3、0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FBFA2-7154-4A90-8E21-24C4964C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A5A7-F185-4044-8582-A768EB363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70ece5440495c"/>
          <a:stretch xmlns:a="http://schemas.openxmlformats.org/drawingml/2006/main"/>
        </p:blipFill>
        <p:spPr>
          <a:xfrm xmlns:a="http://schemas.openxmlformats.org/drawingml/2006/main">
            <a:off x="323850" y="1825470"/>
            <a:ext cx="6286500" cy="280701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FB5D725-40E2-4C83-910A-870ACBE42285}"/>
              </a:ext>
            </a:extLst>
          </p:cNvPr>
          <p:cNvGraphicFramePr/>
          <p:nvPr/>
        </p:nvGraphicFramePr>
        <p:xfrm>
          <a:off xmlns:a="http://schemas.openxmlformats.org/drawingml/2006/main" x="6724650" y="1219200"/>
          <a:ext xmlns:a="http://schemas.openxmlformats.org/drawingml/2006/main" cx="504825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8a8266bad40e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6B7A5-3E73-495E-B42C-B517B80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BA292-4E25-4FAF-B7E6-833DDEC9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5782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σₓ/a = τ/√2；σᵧ/a = ητ/√2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73F3-CA6A-4C58-AD4A-BEBE7648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26A1A-B486-450D-8626-8838F0E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概率宽度与时间成正比；主要前沿和 RMS 宽度是不同的传播尺度。</a:t>
            </a:r>
          </a:p>
        </p:txBody>
      </p:sp>
    </p:spTree>
    <p:extLst>
      <p:ext uri="{BB962C8B-B14F-4D97-AF65-F5344CB8AC3E}">
        <p14:creationId xmlns:p14="http://schemas.microsoft.com/office/powerpoint/2010/main" val="2105793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1E989-46D4-4BD8-9A53-3E1D934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Gaussian 包络、频宽与载波周期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8054C-5ECA-4479-986E-E59BA9C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77635-1896-424C-90F8-8807D690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C02 宽度对照；新波场以初始 RMS 宽度 10a 为主要展示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3F6B3-E50F-491D-922B-BF90AB0D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0C8A0-04C6-4A7C-B2A4-26F2706A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ψ(r,0) ∝ exp[−(x²+y²)/(4σ²)] exp(i k₀·r)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92019-14D9-43B7-98DF-83DFB0515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952c1324747bf"/>
          <a:stretch xmlns:a="http://schemas.openxmlformats.org/drawingml/2006/main"/>
        </p:blipFill>
        <p:spPr>
          <a:xfrm xmlns:a="http://schemas.openxmlformats.org/drawingml/2006/main">
            <a:off x="1381547" y="1781175"/>
            <a:ext cx="9409855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98E1D-4060-470D-8D70-CFA0E37C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本组主波场：σ=10a，q₀=(0.7,0)，沿 x 每个周期约含 9 个格点。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7C278-2C46-49D9-A346-F25D768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0D7BF-023E-4B1F-9783-0BA47EE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较宽包络容纳更多载波周期；局部视窗与完整格点展示让波峰波谷可辨。</a:t>
            </a:r>
          </a:p>
        </p:txBody>
      </p:sp>
    </p:spTree>
    <p:extLst>
      <p:ext uri="{BB962C8B-B14F-4D97-AF65-F5344CB8AC3E}">
        <p14:creationId xmlns:p14="http://schemas.microsoft.com/office/powerpoint/2010/main" val="162722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51103-424F-46D8-A956-1E63C8D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波纹与包络在共动坐标中的变化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9C480-A0A1-4388-831B-F0165DAC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4CF38-6F13-46AF-84E1-E3555075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W03　σ=10a，q₀=(0.7,0)，τ=0、30、60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F7BE7-CA58-4AF9-8EB0-FF6725BC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089E6-A1EF-48C1-8647-D2E786D89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d8b3db9d742da"/>
          <a:stretch xmlns:a="http://schemas.openxmlformats.org/drawingml/2006/main"/>
        </p:blipFill>
        <p:spPr>
          <a:xfrm xmlns:a="http://schemas.openxmlformats.org/drawingml/2006/main">
            <a:off x="400050" y="1654247"/>
            <a:ext cx="11372850" cy="32351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5C285-4831-41EB-AD31-5A29DC4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横轴跟随概率质心；蓝色实部保留波纹，虚线标出振幅包络。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6E3A6-6999-457A-A324-1D3A475C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07390-FC5B-4966-A4EC-160B7298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载波波峰与概率质心不必同速；传播位置与展宽应由概率分布度量。</a:t>
            </a:r>
          </a:p>
        </p:txBody>
      </p:sp>
    </p:spTree>
    <p:extLst>
      <p:ext uri="{BB962C8B-B14F-4D97-AF65-F5344CB8AC3E}">
        <p14:creationId xmlns:p14="http://schemas.microsoft.com/office/powerpoint/2010/main" val="19447344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1D0AE-5DFA-445D-A17A-5ABBAF1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载波传播与概率质心运动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70E33-4467-4C11-8B2E-D69AED02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B27CF-5B7E-4D24-B560-909E4F9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W07　σ=10a，q₀=(0.7,0)，η=1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6BCD3-E325-45C4-BBF4-31973A2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C09C-1297-465F-8D5A-A1A5860EF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56820140f4f3e"/>
          <a:stretch xmlns:a="http://schemas.openxmlformats.org/drawingml/2006/main"/>
        </p:blipFill>
        <p:spPr>
          <a:xfrm xmlns:a="http://schemas.openxmlformats.org/drawingml/2006/main">
            <a:off x="352425" y="1830214"/>
            <a:ext cx="7572375" cy="2721322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22E8E69-7EA7-401C-8CE3-A7FAB0209A00}"/>
              </a:ext>
            </a:extLst>
          </p:cNvPr>
          <p:cNvGraphicFramePr/>
          <p:nvPr/>
        </p:nvGraphicFramePr>
        <p:xfrm>
          <a:off xmlns:a="http://schemas.openxmlformats.org/drawingml/2006/main" x="8058150" y="1362075"/>
          <a:ext xmlns:a="http://schemas.openxmlformats.org/drawingml/2006/main" cx="3733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28492d4c9a405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62A19-7E39-4691-BC51-DA83CC3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3533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谱平均速度 ūₓ = 0.643413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 时 〈x〉=38.6048a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C8A93-2C96-46C7-826B-0081C4F7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430C2-AEB4-433E-A34A-265562E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动画同时展示 Reψ 和 P，定量位移使用 P 的质心。</a:t>
            </a:r>
          </a:p>
        </p:txBody>
      </p:sp>
    </p:spTree>
    <p:extLst>
      <p:ext uri="{BB962C8B-B14F-4D97-AF65-F5344CB8AC3E}">
        <p14:creationId xmlns:p14="http://schemas.microsoft.com/office/powerpoint/2010/main" val="685025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85B62-346B-43CA-9279-604F8751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初始宽度如何影响展宽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D4473-AF2A-4E73-AE36-CC152BA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8E331-54B0-4869-A918-6623A1D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C07、C08：q₀=(0.7,0)，η=1，归一化总概率均为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E5061-DBD0-42DA-992F-836BF30D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3EC9C-1601-4111-9A62-0C1372B36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6869bd4bd40a6"/>
          <a:stretch xmlns:a="http://schemas.openxmlformats.org/drawingml/2006/main"/>
        </p:blipFill>
        <p:spPr>
          <a:xfrm xmlns:a="http://schemas.openxmlformats.org/drawingml/2006/main">
            <a:off x="352425" y="1704451"/>
            <a:ext cx="7058025" cy="25632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127C74D-CCCE-400D-9960-B194E2FDCE3A}"/>
              </a:ext>
            </a:extLst>
          </p:cNvPr>
          <p:cNvGraphicFramePr/>
          <p:nvPr/>
        </p:nvGraphicFramePr>
        <p:xfrm>
          <a:off xmlns:a="http://schemas.openxmlformats.org/drawingml/2006/main" x="7620000" y="1295400"/>
          <a:ext xmlns:a="http://schemas.openxmlformats.org/drawingml/2006/main" cx="4162425" cy="3419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242d99474a4968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AE1AB-65E1-4411-B7E5-CAF00FD02E38}"/>
              </a:ext>
            </a:extLst>
          </p:cNvPr>
          <p:cNvGraphicFramePr/>
          <p:nvPr/>
        </p:nvGraphicFramePr>
        <p:xfrm>
          <a:off xmlns:a="http://schemas.openxmlformats.org/drawingml/2006/main" x="447675" y="5048250"/>
          <a:ext xmlns:a="http://schemas.openxmlformats.org/drawingml/2006/main" cx="11287125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714625"/>
                <a:gridCol w="2714625"/>
                <a:gridCol w="2714625"/>
              </a:tblGrid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σₓ(60)/σₓ(0)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0D290-AD56-42D4-8308-ED93B399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13E0A-4B8D-41E6-B49D-D9E25310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更窄频谱通常带来更小的相对展宽，同时需要更大的初始空间范围。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9368185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D702D-F907-41D1-BC36-30EBFDAB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各向异性改变波包的传播方向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260E8-1BD9-4629-A825-C1964A5D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8F9B2-A4B4-4B0D-8ED0-6F4B60F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W05　σ=10a，q₀=(0.7,0.7)，τ=60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F0753-C30A-4E1A-A789-38E94DCD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28F52-407B-44DB-8126-234BF8586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ddc66e4734897"/>
          <a:stretch xmlns:a="http://schemas.openxmlformats.org/drawingml/2006/main"/>
        </p:blipFill>
        <p:spPr>
          <a:xfrm xmlns:a="http://schemas.openxmlformats.org/drawingml/2006/main">
            <a:off x="1212998" y="1114425"/>
            <a:ext cx="9746955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F5673-BABF-4EBE-8585-BB93F7B0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245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相同载波方向 45°；包络传播方向随 η 从 45° 改变到 16.70°。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8A11F-0BCC-4A10-92B7-068DA05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C21B1-AC9A-49F6-B173-34E2F915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条纹法线由载波决定，包络轨迹由谱平均群速度决定。</a:t>
            </a:r>
          </a:p>
        </p:txBody>
      </p:sp>
    </p:spTree>
    <p:extLst>
      <p:ext uri="{BB962C8B-B14F-4D97-AF65-F5344CB8AC3E}">
        <p14:creationId xmlns:p14="http://schemas.microsoft.com/office/powerpoint/2010/main" val="476469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EA3E4-B6B9-4621-B21D-6F71838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方向变化的动态与定量对照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A670C-8083-4ECB-BCE2-E0BBC8D3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D9846-52D0-45AE-A7C9-42C75747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W08　η=1 与 0.3，σ=10a，q₀=(0.7,0.7)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3B113-D473-4204-8E91-A39755D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01281-DE26-4BCC-8EA0-7D6D01B98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4df47d06a4524"/>
          <a:stretch xmlns:a="http://schemas.openxmlformats.org/drawingml/2006/main"/>
        </p:blipFill>
        <p:spPr>
          <a:xfrm xmlns:a="http://schemas.openxmlformats.org/drawingml/2006/main">
            <a:off x="361950" y="1484426"/>
            <a:ext cx="7572375" cy="35938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371BF21-17EA-4928-9F34-99D08CFBDD2B}"/>
              </a:ext>
            </a:extLst>
          </p:cNvPr>
          <p:cNvGraphicFramePr/>
          <p:nvPr/>
        </p:nvGraphicFramePr>
        <p:xfrm>
          <a:off xmlns:a="http://schemas.openxmlformats.org/drawingml/2006/main" x="8077200" y="1381125"/>
          <a:ext xmlns:a="http://schemas.openxmlformats.org/drawingml/2006/main" cx="3714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fecba160af4b6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44A4D-E537-42B3-8262-883C2FB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67275"/>
            <a:ext cx="360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τ=60：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η=1：〈y〉=38.6048a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η=0.3：〈y〉=11.5814a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E683A-510E-4101-B751-2C0ED0E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93CFB-FE14-452A-9E64-3D6701A1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降低 y 向交换会减小 y 向位移；它不改变初始载波的波矢方向。</a:t>
            </a:r>
          </a:p>
        </p:txBody>
      </p:sp>
    </p:spTree>
    <p:extLst>
      <p:ext uri="{BB962C8B-B14F-4D97-AF65-F5344CB8AC3E}">
        <p14:creationId xmlns:p14="http://schemas.microsoft.com/office/powerpoint/2010/main" val="12966876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C331-544C-4C13-B990-D5C91AA8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展宽来自速度差与相对相位积累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2C86-A9CD-4C25-B8A1-7E87EDBA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8CD6-6012-44A0-9FFD-8D5E1BE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C12：σ=4a 的相位示例　e=ε/Jₓ，τ=Jₓt/ℏ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D0E4C-FEF6-4288-A453-E342735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50620-8FF7-4264-B0E7-FFC69E282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485c8f7ee49cd"/>
          <a:stretch xmlns:a="http://schemas.openxmlformats.org/drawingml/2006/main"/>
        </p:blipFill>
        <p:spPr>
          <a:xfrm xmlns:a="http://schemas.openxmlformats.org/drawingml/2006/main">
            <a:off x="1334385" y="1104900"/>
            <a:ext cx="9513704" cy="3448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4502A-8043-40FD-8AE9-ECCCFC97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90ED7-4B6A-48A8-9A6C-D3772AE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911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适用于初始位置—速度协方差为零的 Gaussian。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各模式权重不变，相对相位仍改变实空间轮廓；动力学本身保持线性。</a:t>
            </a:r>
          </a:p>
        </p:txBody>
      </p:sp>
    </p:spTree>
    <p:extLst>
      <p:ext uri="{BB962C8B-B14F-4D97-AF65-F5344CB8AC3E}">
        <p14:creationId xmlns:p14="http://schemas.microsoft.com/office/powerpoint/2010/main" val="19976144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DE435-C50E-4223-B09B-8DC8F17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零二阶曲率点的有限时间保形探索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A9E16-07C4-471E-9BDC-D947B7D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BF112-095C-4AD2-B5E6-4AF3B66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C13　两组初始 RMS 宽度均为 3a，η=1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6AB1-F3F7-4283-AD9B-703C1A17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C9F16B7-9889-462F-8346-09E082544A00}"/>
              </a:ext>
            </a:extLst>
          </p:cNvPr>
          <p:cNvGraphicFramePr/>
          <p:nvPr/>
        </p:nvGraphicFramePr>
        <p:xfrm>
          <a:off xmlns:a="http://schemas.openxmlformats.org/drawingml/2006/main" x="381000" y="1228725"/>
          <a:ext xmlns:a="http://schemas.openxmlformats.org/drawingml/2006/main" cx="5495925" cy="3248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b0af8e40364f3a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B5F3D75-6CCA-48E1-9141-089195AC0ABB}"/>
              </a:ext>
            </a:extLst>
          </p:cNvPr>
          <p:cNvGraphicFramePr/>
          <p:nvPr/>
        </p:nvGraphicFramePr>
        <p:xfrm>
          <a:off xmlns:a="http://schemas.openxmlformats.org/drawingml/2006/main" x="6238875" y="1228725"/>
          <a:ext xmlns:a="http://schemas.openxmlformats.org/drawingml/2006/main" cx="5524500" cy="3248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ce247ab732408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44263-5FED-42F8-B1DE-02B8BC37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6250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ECECB-FE30-442A-B1E8-A8561F3B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1495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τ=60：普通中心 F=0.3823；零曲率点 F=0.9771。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B395C-A6C1-4852-85D3-48E44BF4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FC995-791A-4C54-9B23-02944EC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二阶项消失可以减慢形变，高阶色散仍限制可用的保形时间。</a:t>
            </a:r>
          </a:p>
        </p:txBody>
      </p:sp>
    </p:spTree>
    <p:extLst>
      <p:ext uri="{BB962C8B-B14F-4D97-AF65-F5344CB8AC3E}">
        <p14:creationId xmlns:p14="http://schemas.microsoft.com/office/powerpoint/2010/main" val="13971210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92BD7-B90F-42F1-8E48-5299007C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数值结果的独立核验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B8962-5ABF-497A-97E6-1228786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A9BA-374A-4EE2-BE25-9DAF5D2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左：B13 解析核对照　右：新增密集波场 checks.json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7C3DE-AEC8-4208-8CED-24A9896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7A661-1C2B-4849-9893-5F796D405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38ab204144bcb"/>
          <a:stretch xmlns:a="http://schemas.openxmlformats.org/drawingml/2006/main"/>
        </p:blipFill>
        <p:spPr>
          <a:xfrm xmlns:a="http://schemas.openxmlformats.org/drawingml/2006/main">
            <a:off x="323850" y="1380091"/>
            <a:ext cx="7258050" cy="3316769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51766-3455-4619-974E-216A0004C3F7}"/>
              </a:ext>
            </a:extLst>
          </p:cNvPr>
          <p:cNvGraphicFramePr/>
          <p:nvPr/>
        </p:nvGraphicFramePr>
        <p:xfrm>
          <a:off xmlns:a="http://schemas.openxmlformats.org/drawingml/2006/main" x="7743825" y="1485900"/>
          <a:ext xmlns:a="http://schemas.openxmlformats.org/drawingml/2006/main" cx="40195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19431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新增波场检查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1.33×10⁻¹⁵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512→1024 末态振幅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&lt; 5.82×10⁻¹⁷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点激发 Bessel 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≈ 2.10×10⁻¹⁶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A7DB8-930A-47A2-AD51-B77C11BF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11163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真实格点直接显示，无连续插值。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固定色标与相位约定，全程不按峰值重标度。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4A6B6-DE1A-4990-A478-42C2604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47676-2874-44A9-A644-C263A66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扩大盒、独立传播核与概率矩共同检查当前模型和时间范围内的计算。</a:t>
            </a:r>
          </a:p>
        </p:txBody>
      </p:sp>
    </p:spTree>
    <p:extLst>
      <p:ext uri="{BB962C8B-B14F-4D97-AF65-F5344CB8AC3E}">
        <p14:creationId xmlns:p14="http://schemas.microsoft.com/office/powerpoint/2010/main" val="10161499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9C49A-3983-4D2E-86D0-ECD41BF0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物理认识与后续研究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3B78E-C692-4F7A-8396-3C0B460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C4259-381C-4968-B17F-46E1D99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理论：原理 PDF 第 1–5 页　模拟：A/B/C 与 dense-wave 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CA0A8-88F4-4925-BFD8-69E5FE76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E4300-D1E1-4E44-BACF-C83A3C08C6F0}"/>
              </a:ext>
            </a:extLst>
          </p:cNvPr>
          <p:cNvGraphicFramePr/>
          <p:nvPr/>
        </p:nvGraphicFramePr>
        <p:xfrm>
          <a:off xmlns:a="http://schemas.openxmlformats.org/drawingml/2006/main" x="438150" y="1266825"/>
          <a:ext xmlns:a="http://schemas.openxmlformats.org/drawingml/2006/main" cx="11306175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210425"/>
              </a:tblGrid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原理与证据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库仑矩阵与 J=2K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交换作用耦合相邻翻转位置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余弦色散与群速度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色散斜率控制运动方向与速度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Reψ、概率和共动剖面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载波波纹、质心移动和包络展宽可以分别观察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等初宽的零曲率对照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有限时间形变减弱，高阶残差仍然存在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435D-C4A3-4EFA-A693-9711E8E4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4FC2D-4B69-47EF-A093-09307EF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9587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以给定初始宽度为约束，比较保形距离与高阶色散。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09D5C-33CB-4ACD-8474-6E285F95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16DB5-28FF-4875-BC95-3B52223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均匀晶格、单磁子、零外场、无耗散；材料实现仍需具体参数。</a:t>
            </a:r>
          </a:p>
        </p:txBody>
      </p:sp>
    </p:spTree>
    <p:extLst>
      <p:ext uri="{BB962C8B-B14F-4D97-AF65-F5344CB8AC3E}">
        <p14:creationId xmlns:p14="http://schemas.microsoft.com/office/powerpoint/2010/main" val="1612309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2026-10-19T14:31:56.1930000Z</dcterms:created>
  <dcterms:modified xsi:type="dcterms:W3CDTF">2026-10-19T14:31:56.1940000Z</dcterms:modified>
</coreProperties>
</file>