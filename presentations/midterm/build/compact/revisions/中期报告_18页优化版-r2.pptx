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1bb4c145b44193" /><Relationship Type="http://schemas.openxmlformats.org/officeDocument/2006/relationships/extended-properties" Target="/docProps/app.xml" Id="R9cb711a474bb4a84" /><Relationship Type="http://schemas.openxmlformats.org/officeDocument/2006/relationships/officeDocument" Target="/ppt/presentation.xml" Id="R1e8b1265f39c48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ef18fff4d04809"/>
  </p:sldMasterIdLst>
  <p:notesMasterIdLst>
    <p:notesMasterId xmlns:r="http://schemas.openxmlformats.org/officeDocument/2006/relationships" r:id="R6f77f9af23274ffb"/>
  </p:notesMasterIdLst>
  <p:sldIdLst>
    <p:sldId xmlns:r="http://schemas.openxmlformats.org/officeDocument/2006/relationships" id="256" r:id="R2c42912a06624e7e"/>
    <p:sldId xmlns:r="http://schemas.openxmlformats.org/officeDocument/2006/relationships" id="257" r:id="R8ed364db8b3a4ecc"/>
    <p:sldId xmlns:r="http://schemas.openxmlformats.org/officeDocument/2006/relationships" id="258" r:id="R649a110f09a54a92"/>
    <p:sldId xmlns:r="http://schemas.openxmlformats.org/officeDocument/2006/relationships" id="259" r:id="R39cb48cb6ad74b87"/>
    <p:sldId xmlns:r="http://schemas.openxmlformats.org/officeDocument/2006/relationships" id="260" r:id="R355e1ff1be7048fc"/>
    <p:sldId xmlns:r="http://schemas.openxmlformats.org/officeDocument/2006/relationships" id="261" r:id="R12c5afd645094028"/>
    <p:sldId xmlns:r="http://schemas.openxmlformats.org/officeDocument/2006/relationships" id="262" r:id="R6bf36c6803c84eb1"/>
    <p:sldId xmlns:r="http://schemas.openxmlformats.org/officeDocument/2006/relationships" id="263" r:id="R857d847cb0434dd1"/>
    <p:sldId xmlns:r="http://schemas.openxmlformats.org/officeDocument/2006/relationships" id="264" r:id="R44c04d4ab5e34ca1"/>
    <p:sldId xmlns:r="http://schemas.openxmlformats.org/officeDocument/2006/relationships" id="265" r:id="Rc78a146d37a04d5a"/>
    <p:sldId xmlns:r="http://schemas.openxmlformats.org/officeDocument/2006/relationships" id="266" r:id="Rf0dcde3241e94850"/>
    <p:sldId xmlns:r="http://schemas.openxmlformats.org/officeDocument/2006/relationships" id="267" r:id="Rfdd0fe5a06b24fa1"/>
    <p:sldId xmlns:r="http://schemas.openxmlformats.org/officeDocument/2006/relationships" id="268" r:id="R183e18f53df9405b"/>
    <p:sldId xmlns:r="http://schemas.openxmlformats.org/officeDocument/2006/relationships" id="269" r:id="R69293757d0734dd8"/>
    <p:sldId xmlns:r="http://schemas.openxmlformats.org/officeDocument/2006/relationships" id="270" r:id="Rce20d6f3713240ee"/>
    <p:sldId xmlns:r="http://schemas.openxmlformats.org/officeDocument/2006/relationships" id="271" r:id="R0dd168e83f9446de"/>
    <p:sldId xmlns:r="http://schemas.openxmlformats.org/officeDocument/2006/relationships" id="272" r:id="R5069d86a2fdc44c3"/>
    <p:sldId xmlns:r="http://schemas.openxmlformats.org/officeDocument/2006/relationships" id="273" r:id="R58a218a2ba384c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568cde81f84ecc" /><Relationship Type="http://schemas.openxmlformats.org/officeDocument/2006/relationships/slideMaster" Target="/ppt/slideMasters/slideMaster1.xml" Id="R86ef18fff4d04809" /><Relationship Type="http://schemas.openxmlformats.org/officeDocument/2006/relationships/notesMaster" Target="/ppt/notesMasters/notesMaster1.xml" Id="R6f77f9af23274ffb" /><Relationship Type="http://schemas.openxmlformats.org/officeDocument/2006/relationships/presProps" Target="/ppt/presProps.xml" Id="R65efcbea68c14db8" /><Relationship Type="http://schemas.openxmlformats.org/officeDocument/2006/relationships/tableStyles" Target="/ppt/tableStyles.xml" Id="R9129731457be4693" /><Relationship Type="http://schemas.openxmlformats.org/officeDocument/2006/relationships/slide" Target="/ppt/slides/slide1.xml" Id="R2c42912a06624e7e" /><Relationship Type="http://schemas.openxmlformats.org/officeDocument/2006/relationships/slide" Target="/ppt/slides/slide2.xml" Id="R8ed364db8b3a4ecc" /><Relationship Type="http://schemas.openxmlformats.org/officeDocument/2006/relationships/slide" Target="/ppt/slides/slide3.xml" Id="R649a110f09a54a92" /><Relationship Type="http://schemas.openxmlformats.org/officeDocument/2006/relationships/slide" Target="/ppt/slides/slide4.xml" Id="R39cb48cb6ad74b87" /><Relationship Type="http://schemas.openxmlformats.org/officeDocument/2006/relationships/slide" Target="/ppt/slides/slide5.xml" Id="R355e1ff1be7048fc" /><Relationship Type="http://schemas.openxmlformats.org/officeDocument/2006/relationships/slide" Target="/ppt/slides/slide6.xml" Id="R12c5afd645094028" /><Relationship Type="http://schemas.openxmlformats.org/officeDocument/2006/relationships/slide" Target="/ppt/slides/slide7.xml" Id="R6bf36c6803c84eb1" /><Relationship Type="http://schemas.openxmlformats.org/officeDocument/2006/relationships/slide" Target="/ppt/slides/slide8.xml" Id="R857d847cb0434dd1" /><Relationship Type="http://schemas.openxmlformats.org/officeDocument/2006/relationships/slide" Target="/ppt/slides/slide9.xml" Id="R44c04d4ab5e34ca1" /><Relationship Type="http://schemas.openxmlformats.org/officeDocument/2006/relationships/slide" Target="/ppt/slides/slide10.xml" Id="Rc78a146d37a04d5a" /><Relationship Type="http://schemas.openxmlformats.org/officeDocument/2006/relationships/slide" Target="/ppt/slides/slide11.xml" Id="Rf0dcde3241e94850" /><Relationship Type="http://schemas.openxmlformats.org/officeDocument/2006/relationships/slide" Target="/ppt/slides/slide12.xml" Id="Rfdd0fe5a06b24fa1" /><Relationship Type="http://schemas.openxmlformats.org/officeDocument/2006/relationships/slide" Target="/ppt/slides/slide13.xml" Id="R183e18f53df9405b" /><Relationship Type="http://schemas.openxmlformats.org/officeDocument/2006/relationships/slide" Target="/ppt/slides/slide14.xml" Id="R69293757d0734dd8" /><Relationship Type="http://schemas.openxmlformats.org/officeDocument/2006/relationships/slide" Target="/ppt/slides/slide15.xml" Id="Rce20d6f3713240ee" /><Relationship Type="http://schemas.openxmlformats.org/officeDocument/2006/relationships/slide" Target="/ppt/slides/slide16.xml" Id="R0dd168e83f9446de" /><Relationship Type="http://schemas.openxmlformats.org/officeDocument/2006/relationships/slide" Target="/ppt/slides/slide17.xml" Id="R5069d86a2fdc44c3" /><Relationship Type="http://schemas.openxmlformats.org/officeDocument/2006/relationships/slide" Target="/ppt/slides/slide18.xml" Id="R58a218a2ba384c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39e797dcc040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fd809597664c82" /><Relationship Type="http://schemas.openxmlformats.org/officeDocument/2006/relationships/notesMaster" Target="/ppt/notesMasters/notesMaster1.xml" Id="R1e8a8fea110c46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f2a3ed4a01457b" /><Relationship Type="http://schemas.openxmlformats.org/officeDocument/2006/relationships/notesMaster" Target="/ppt/notesMasters/notesMaster1.xml" Id="Rc560a98a9fc54e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5df18045cb4066" /><Relationship Type="http://schemas.openxmlformats.org/officeDocument/2006/relationships/notesMaster" Target="/ppt/notesMasters/notesMaster1.xml" Id="R1387d1ed6d3f44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5ed3f7e60c4cda" /><Relationship Type="http://schemas.openxmlformats.org/officeDocument/2006/relationships/notesMaster" Target="/ppt/notesMasters/notesMaster1.xml" Id="Rff66e9f4f1dc4a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e241b29f6347d0" /><Relationship Type="http://schemas.openxmlformats.org/officeDocument/2006/relationships/notesMaster" Target="/ppt/notesMasters/notesMaster1.xml" Id="R4b4b3c14a9734e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f2c30f600a499f" /><Relationship Type="http://schemas.openxmlformats.org/officeDocument/2006/relationships/notesMaster" Target="/ppt/notesMasters/notesMaster1.xml" Id="R555e60d3308449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33da25be85455f" /><Relationship Type="http://schemas.openxmlformats.org/officeDocument/2006/relationships/notesMaster" Target="/ppt/notesMasters/notesMaster1.xml" Id="Ra72b8dd05ebf47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eafd925ded4821" /><Relationship Type="http://schemas.openxmlformats.org/officeDocument/2006/relationships/notesMaster" Target="/ppt/notesMasters/notesMaster1.xml" Id="R1fa0f7f408cb4b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ac9cc21d6a4ffd" /><Relationship Type="http://schemas.openxmlformats.org/officeDocument/2006/relationships/notesMaster" Target="/ppt/notesMasters/notesMaster1.xml" Id="Rff334a3dfab34c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21c39f96824310" /><Relationship Type="http://schemas.openxmlformats.org/officeDocument/2006/relationships/notesMaster" Target="/ppt/notesMasters/notesMaster1.xml" Id="Ra32df4522d0c4a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39e54276334d8a" /><Relationship Type="http://schemas.openxmlformats.org/officeDocument/2006/relationships/notesMaster" Target="/ppt/notesMasters/notesMaster1.xml" Id="R9bb6277fef7e4f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549b44aa53402b" /><Relationship Type="http://schemas.openxmlformats.org/officeDocument/2006/relationships/notesMaster" Target="/ppt/notesMasters/notesMaster1.xml" Id="Rc08011e5320f44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b7fa4e8c324877" /><Relationship Type="http://schemas.openxmlformats.org/officeDocument/2006/relationships/notesMaster" Target="/ppt/notesMasters/notesMaster1.xml" Id="R5c65884f3a014b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aef73835624629" /><Relationship Type="http://schemas.openxmlformats.org/officeDocument/2006/relationships/notesMaster" Target="/ppt/notesMasters/notesMaster1.xml" Id="R974ea064072741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f50b7d243844b48" /><Relationship Type="http://schemas.openxmlformats.org/officeDocument/2006/relationships/notesMaster" Target="/ppt/notesMasters/notesMaster1.xml" Id="Rfdd03965be6b4c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36a9310fc943b9" /><Relationship Type="http://schemas.openxmlformats.org/officeDocument/2006/relationships/notesMaster" Target="/ppt/notesMasters/notesMaster1.xml" Id="R470e4f3a1e374e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bbecb88a3e4236" /><Relationship Type="http://schemas.openxmlformats.org/officeDocument/2006/relationships/notesMaster" Target="/ppt/notesMasters/notesMaster1.xml" Id="Re92b19667b6842f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d689c0e95f54bfa" /><Relationship Type="http://schemas.openxmlformats.org/officeDocument/2006/relationships/notesMaster" Target="/ppt/notesMasters/notesMaster1.xml" Id="Rccca02a91c394e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固定初始相位并去除E_F公共相位。主波场采用512×512周期盒、初始概率RMS宽度10a。左侧局部图和右侧真实格点样本表现振幅波峰波谷，N改变盒长而不是晶格常数。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来源：中期报告　原理 PDF 与实际格点传播模拟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波场说明：τ=0，q₀=(0.7,0.7)，σ=10a。左图逐格显示振幅实部；右图每个圆点是一个实际格点，连线只帮助读图。沿 x 每个载波周期约9个格点，二维波峰沿对角方向排列。增大 N 扩大周期盒，并不改变格距或每个波长的采样数；波的可见度来自选取合适局部视窗并画出相位敏感振幅。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固定正交轨道a,b，各占据一个电子；只保留直接库仑交换。矩阵基底依次为↑↑、↑↓、↓↑、↓↓。反平行积态的对称与反对称组合给出D−K和D+K。矩阵匹配得到J=2K。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1–3 页，式 (2)、(3)、(11)、(14)、(20)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图中5×5只是局部交换晶格示意，中心额外标出单翻转。全极化基态所有自旋沿+x。单翻转空间在H作用下精确闭合。每条键计一次。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3–4 页，式 (22)、(25)、(26)、(29)　A01 局部示意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每条含翻转的键产生−Jij/2的相邻位置振幅。平面波移动一个格点只改变相位。正反方向指数相加为2cos，得到余弦色散。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4–5 页，式 (28)、(35)–(39)　本页沿用 ℏ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图为沿x轴的能量与群速度。空间各向异性使uy=eta sin qy，群速度一般不平行于q。单点激发包含整个能带，不能用单一箭头描述。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来源：色散 ε/Jₓ = 1−cos qₓ+η(1−cos qᵧ)，q = ka，η = Jᵧ/Jₓ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采用psi=e^{iE_Ft/hbar}c去掉共同基态相位，固定初始相位且不逐帧重定相位。Repsi是此约定下的概率振幅实部，不是固定单磁子数态的横向自旋期望。|psi|²是翻转概率。A0=max|psi(0)|,P0=A0²固定。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W01　512×512，初始 RMS 宽度 10a，q₀=(0.7,0)，τ=30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波场说明：N=512，σ=10a，q₀=(0.7,0)，η=1，τ=30。上方为同一复振幅的实部与模方；下方取 y=0 的实际格点截线。实部显出波峰和波谷，概率显示包络。A₀=max|ψ(0)|、P₀=A₀²；色标固定，未逐帧归一化。Reψ 依赖固定相位约定，不表示固定单磁子态的横向自旋期望。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单点在波矢空间中权重均匀，含整个能带。热图显示实际格点，无连续插值。实部可正可负而概率非负。Bessel传播核可独立验证单点演化。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W04　单点翻转，η = 1，τ = 24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波场说明：初态 ψₘₙ(0)=δₘ₀δₙ₀，η=1，N=512，τ=24。图示实际格点的振幅实部与翻转概率。两者直接使用原数值；指定色标范围为 Reψ∈[−0.06,0.06]、P∈[0,0.0036]，无归一化缩放。干涉结构是全布里渊区模式相干叠加的结果，不能用一个中心波矢的群速度解释全部细节。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Px为对y求和的边际概率。最大群速度给出主要前沿|x|/a约tau；尾部不严格为零。RMS_x/a=tau/sqrt2，RMS_y/a=eta*tau/sqrt2。原有256与512格点盒比较已验证。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来源：单点初态 B07、B09　左图 η=1，右图 η=1、0.3、0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这里sigma为物理位置概率的RMS宽度，初态振幅exp[-(x²+y²)/(4sigma²)] exp(ik0.r)。q0=k0a，主波场q0=(.7,0)，沿x周期2pi/.7约8.98a。N只改变盒长，不改变a。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来源：C02 图例中的宽度数值为 σ/a；新波场主要采用 σ=10a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仅在横坐标减去实际概率质心，没有逐帧旋转复相位。载波相位与包络运动是不同概念，质心位移从P计算。截线显示实际格点样本与包络。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W03　σ=10a，q₀=(0.7,0)，τ=0、30、60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波场说明：q₀=(0.7,0)，σ=10a，η=1；取 y=0 的真实格点数据，以 x−〈x〉作横坐标，并未空间插值或逐帧重定相位。蓝线为 Reψ/A₀，橙线为 ±|ψ|/A₀，灰虚线为初始正包络。共动坐标消去质心平移，但仍能看见载波相位变化及有限展宽。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GIF含61个真实演化时刻，固定色标与坐标。右侧质心轨迹来自新512格点模型保存的概率矩。平均速度.643412918，与sin(.7)=.644217687的差来自有限频宽。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W07　σ=10a，q₀=(0.7,0)，η=1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波场说明：N=512，q₀=(0.7,0)，σ=10a，η=1，τ=0…60。两图是同一复态，色标分别为固定 Reψ/A₀∈[−1,1]、P/P₀∈[0,1]。无逐帧归一化、无相位重置、无热图插值。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左图是原有sigma4a的共动边际，右图比较3a/6a/10a的相对RMS宽度。初始空间资源不同，应把结果解释为频宽规律，不是同资源性能排名。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来源：q₀=(0.7,0)，η=1　左：σ=4a；右：σ=3a、6a、10a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波矢的方向都是45度，但平均群速度方向分别45度和arctan(.3)=16.699度。深色箭头表示实际概率质心位移。Repsi只作波纹显示，不能把条纹法线直接当作各向异性下的群速度方向。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W05　σ=10a，q₀=(0.7,0.7)，τ=60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波场说明：两图均为 q₀=(0.7,0.7)、σ=10a、τ=60。仅改变 η=Jᵧ/Jₓ：左1，右0.3；箭头从初始中心指向此刻概率质心。同一固定振幅色标。各向异性改变 y 方向群速度，载波相位法线方向与群速度方向因此一般不重合。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两组初态相同，只有Jy改变。动画使用固定实部色标，未逐帧峰值归一化。y质心来自保存的概率分布，tau60分别38.6048a和11.5814a。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来源：新波场 W08　η=1 与 0.3，σ=10a，q₀=(0.7,0.7)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波场说明：两侧均 q₀=(0.7,0.7)、σ=10a，分别 η=1 与0.3；τ=0…60。固定初始峰值 A₀，统一色标 Reψ/A₀∈[−1,1]。热图严格取实际格点值；未改变格距。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左图谱概率保持不变，右图扣去常数与线性平移相位后仍有高阶残差。无啁啾Gaussian的初始位置-速度协方差为零，方差律成立；一般初态还要加协方差项。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来源：C12：σ=4a 的相位示例　e=ε/Jₓ，τ=Jₓt/ℏ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普通中心(.7,.7)与(pi/2,pi/2)同初宽比较。F是与按各自平均速度平移的初态的复态重合模平方，含相对相位差。二阶曲率cos q=0仍留三阶色散，不能宣称永久保形。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来源：C13　两组初始 RMS 宽度均为 3a，η=1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左图是原有FFT与Bessel核比较。右表使用新增512波场的实际误差记录，N512到1024是相同a下的扩大盒检查。N增加不改变载波每波长格点数。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来源：左：B13 解析核对照　右：新增密集波场 checks.json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本报告仅建立均匀、零外场、无耗散、单磁子模型中的传播图像。真实材料参数、阻尼以及多磁子相互作用需要后续扩展。当前零曲率结论是有限时间效果。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来源：理论：原理 PDF 第 1–5 页　模拟：A/B/C 与 dense-wave 数据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c8886acbe643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fb2591f8b4c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2e9f0d315146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bde3c59a248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d642f1d564f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079b5667942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5E03F8-CD4F-4F0C-BBFF-EFD885F42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3F2E92-4DD5-4890-9BC6-C8C6673DCC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5A7D41-1FE7-44AE-9636-7F8F257D83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D8E269-E92C-4F50-A7C5-B1CA8E4EB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E3FE72-83C2-49AA-84C6-C697E7E631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0D5E28-65AF-4F57-B569-18CEE2A76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73204B-35DD-4818-B99F-0CA4F694C7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8BA3DD-F00C-4420-9B6A-779BD0695D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ED4B4A-50D0-4C83-917F-F6505DDB4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FF47B5-916D-4E91-A9FA-5CDE988423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64189c91ba4a4b" /><Relationship Type="http://schemas.openxmlformats.org/officeDocument/2006/relationships/slideLayout" Target="/ppt/slideLayouts/slideLayout1.xml" Id="Rfd83923a4e8a4f94" /><Relationship Type="http://schemas.openxmlformats.org/officeDocument/2006/relationships/slideLayout" Target="/ppt/slideLayouts/slideLayout2.xml" Id="Rc86b8074cddd4c08" /><Relationship Type="http://schemas.openxmlformats.org/officeDocument/2006/relationships/slideLayout" Target="/ppt/slideLayouts/slideLayout3.xml" Id="Rf9971f40e1ed4097" /><Relationship Type="http://schemas.openxmlformats.org/officeDocument/2006/relationships/slideLayout" Target="/ppt/slideLayouts/slideLayout4.xml" Id="Rbd78612a5263410e" /><Relationship Type="http://schemas.openxmlformats.org/officeDocument/2006/relationships/slideLayout" Target="/ppt/slideLayouts/slideLayout5.xml" Id="R7032b6b1c45a4bff" /><Relationship Type="http://schemas.openxmlformats.org/officeDocument/2006/relationships/slideLayout" Target="/ppt/slideLayouts/slideLayout6.xml" Id="R6f66a6f61e9e48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83923a4e8a4f94"/>
    <p:sldLayoutId xmlns:r="http://schemas.openxmlformats.org/officeDocument/2006/relationships" id="2147483650" r:id="Rc86b8074cddd4c08"/>
    <p:sldLayoutId xmlns:r="http://schemas.openxmlformats.org/officeDocument/2006/relationships" id="2147483651" r:id="Rf9971f40e1ed4097"/>
    <p:sldLayoutId xmlns:r="http://schemas.openxmlformats.org/officeDocument/2006/relationships" id="2147483652" r:id="Rbd78612a5263410e"/>
    <p:sldLayoutId xmlns:r="http://schemas.openxmlformats.org/officeDocument/2006/relationships" id="2147483653" r:id="R7032b6b1c45a4bff"/>
    <p:sldLayoutId xmlns:r="http://schemas.openxmlformats.org/officeDocument/2006/relationships" id="2147483654" r:id="R6f66a6f61e9e48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376dbb29934a75" /><Relationship Type="http://schemas.openxmlformats.org/officeDocument/2006/relationships/image" Target="/ppt/media/image.png" Id="Re63c364bc9ca4de0" /><Relationship Type="http://schemas.openxmlformats.org/officeDocument/2006/relationships/image" Target="/ppt/media/image2.png" Id="R72087bef49eb4218" /><Relationship Type="http://schemas.openxmlformats.org/officeDocument/2006/relationships/notesSlide" Target="/ppt/notesSlides/notesSlide1.xml" Id="R6e08bd8a1e6d4c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d02c6cfef40a6" /><Relationship Type="http://schemas.openxmlformats.org/officeDocument/2006/relationships/image" Target="/ppt/media/image3.png" Id="R076146ea13244178" /><Relationship Type="http://schemas.openxmlformats.org/officeDocument/2006/relationships/image" Target="/ppt/media/image4.png" Id="R52c7957a810842b0" /><Relationship Type="http://schemas.openxmlformats.org/officeDocument/2006/relationships/chart" Target="/ppt/slides/charts/chart1.xml" Id="R77e857d10b4d4d46" /><Relationship Type="http://schemas.openxmlformats.org/officeDocument/2006/relationships/image" Target="/ppt/media/image5.png" Id="R4aeba6265c40449b" /><Relationship Type="http://schemas.openxmlformats.org/officeDocument/2006/relationships/notesSlide" Target="/ppt/notesSlides/notesSlide2.xml" Id="Rb260098fe03543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7257d2de044f9" /><Relationship Type="http://schemas.openxmlformats.org/officeDocument/2006/relationships/image" Target="/ppt/media/image6.png" Id="R0630dcf7fd0c4da2" /><Relationship Type="http://schemas.openxmlformats.org/officeDocument/2006/relationships/image" Target="/ppt/media/image7.png" Id="R3c784b42e2bf41fb" /><Relationship Type="http://schemas.openxmlformats.org/officeDocument/2006/relationships/image" Target="/ppt/media/image8.png" Id="R914d5d16c78d4372" /><Relationship Type="http://schemas.openxmlformats.org/officeDocument/2006/relationships/image" Target="/ppt/media/image9.png" Id="Rc552827e05b74658" /><Relationship Type="http://schemas.openxmlformats.org/officeDocument/2006/relationships/image" Target="/ppt/media/image10.png" Id="R44279cae651c42d9" /><Relationship Type="http://schemas.openxmlformats.org/officeDocument/2006/relationships/notesSlide" Target="/ppt/notesSlides/notesSlide3.xml" Id="R8d4ee87a616e46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5e428a7b34f0f" /><Relationship Type="http://schemas.openxmlformats.org/officeDocument/2006/relationships/image" Target="/ppt/media/image11.png" Id="R8bc23e8058f844b1" /><Relationship Type="http://schemas.openxmlformats.org/officeDocument/2006/relationships/image" Target="/ppt/media/image12.png" Id="R2d93a65ba86f484c" /><Relationship Type="http://schemas.openxmlformats.org/officeDocument/2006/relationships/image" Target="/ppt/media/image13.png" Id="R420d2a113a5e4b7d" /><Relationship Type="http://schemas.openxmlformats.org/officeDocument/2006/relationships/image" Target="/ppt/media/image14.png" Id="R91a416fbeccc41ee" /><Relationship Type="http://schemas.openxmlformats.org/officeDocument/2006/relationships/notesSlide" Target="/ppt/notesSlides/notesSlide4.xml" Id="R1d7cbaaba4a942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9dedf0d074d32" /><Relationship Type="http://schemas.openxmlformats.org/officeDocument/2006/relationships/image" Target="/ppt/media/image15.png" Id="R303ed20ea41f41e8" /><Relationship Type="http://schemas.openxmlformats.org/officeDocument/2006/relationships/notesSlide" Target="/ppt/notesSlides/notesSlide5.xml" Id="R780ac7a4fd2f42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3397ca1acf47c4" /><Relationship Type="http://schemas.openxmlformats.org/officeDocument/2006/relationships/image" Target="/ppt/media/image16.png" Id="R9878ef50d91c4d6d" /><Relationship Type="http://schemas.openxmlformats.org/officeDocument/2006/relationships/notesSlide" Target="/ppt/notesSlides/notesSlide6.xml" Id="Rb1a3af8487c44b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0d2351b2242a0" /><Relationship Type="http://schemas.openxmlformats.org/officeDocument/2006/relationships/image" Target="/ppt/media/image17.png" Id="Rcaae3346579e4467" /><Relationship Type="http://schemas.openxmlformats.org/officeDocument/2006/relationships/notesSlide" Target="/ppt/notesSlides/notesSlide7.xml" Id="Rf34e2e053a6941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f3f90efbb402a" /><Relationship Type="http://schemas.openxmlformats.org/officeDocument/2006/relationships/image" Target="/ppt/media/image18.png" Id="R27c06f08181a47d4" /><Relationship Type="http://schemas.openxmlformats.org/officeDocument/2006/relationships/chart" Target="/ppt/slides/charts/chart2.xml" Id="Rcd1f7ff9e14a4166" /><Relationship Type="http://schemas.openxmlformats.org/officeDocument/2006/relationships/notesSlide" Target="/ppt/notesSlides/notesSlide8.xml" Id="R1ce0ada81afb42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0d9dbfce3e45af" /><Relationship Type="http://schemas.openxmlformats.org/officeDocument/2006/relationships/image" Target="/ppt/media/image19.png" Id="R112ff04f7d814716" /><Relationship Type="http://schemas.openxmlformats.org/officeDocument/2006/relationships/notesSlide" Target="/ppt/notesSlides/notesSlide9.xml" Id="Rdb2f04f2750049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49785efcd47f7" /><Relationship Type="http://schemas.openxmlformats.org/officeDocument/2006/relationships/image" Target="/ppt/media/image20.png" Id="R18553f5a304045bd" /><Relationship Type="http://schemas.openxmlformats.org/officeDocument/2006/relationships/notesSlide" Target="/ppt/notesSlides/notesSlide10.xml" Id="Rbb26b0562f8542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48502f1c14b5a" /><Relationship Type="http://schemas.openxmlformats.org/officeDocument/2006/relationships/image" Target="/ppt/media/image.gif" Id="Rcae5f15df68848ac" /><Relationship Type="http://schemas.openxmlformats.org/officeDocument/2006/relationships/chart" Target="/ppt/slides/charts/chart3.xml" Id="Reaecd26989504395" /><Relationship Type="http://schemas.openxmlformats.org/officeDocument/2006/relationships/notesSlide" Target="/ppt/notesSlides/notesSlide11.xml" Id="R8805f6ad9bde40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beef2fec9d446b" /><Relationship Type="http://schemas.openxmlformats.org/officeDocument/2006/relationships/image" Target="/ppt/media/image21.png" Id="R0ff0beed2eaa410f" /><Relationship Type="http://schemas.openxmlformats.org/officeDocument/2006/relationships/chart" Target="/ppt/slides/charts/chart4.xml" Id="Ra680fca64e714610" /><Relationship Type="http://schemas.openxmlformats.org/officeDocument/2006/relationships/notesSlide" Target="/ppt/notesSlides/notesSlide12.xml" Id="R4ecbce69199447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03260f5a8441f9" /><Relationship Type="http://schemas.openxmlformats.org/officeDocument/2006/relationships/image" Target="/ppt/media/image22.png" Id="R4aa9222edf3046aa" /><Relationship Type="http://schemas.openxmlformats.org/officeDocument/2006/relationships/notesSlide" Target="/ppt/notesSlides/notesSlide13.xml" Id="Rd947436c71fc41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36c91fde14550" /><Relationship Type="http://schemas.openxmlformats.org/officeDocument/2006/relationships/image" Target="/ppt/media/image2.gif" Id="R3a4e918eb4f24243" /><Relationship Type="http://schemas.openxmlformats.org/officeDocument/2006/relationships/chart" Target="/ppt/slides/charts/chart5.xml" Id="R86d4f873a31e4935" /><Relationship Type="http://schemas.openxmlformats.org/officeDocument/2006/relationships/notesSlide" Target="/ppt/notesSlides/notesSlide14.xml" Id="R2e8e5393379341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2a8a7b43b948d4" /><Relationship Type="http://schemas.openxmlformats.org/officeDocument/2006/relationships/image" Target="/ppt/media/image23.png" Id="R279aa0cf35bc450c" /><Relationship Type="http://schemas.openxmlformats.org/officeDocument/2006/relationships/notesSlide" Target="/ppt/notesSlides/notesSlide15.xml" Id="R7b8008cd868846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ba296f760c4354" /><Relationship Type="http://schemas.openxmlformats.org/officeDocument/2006/relationships/chart" Target="/ppt/slides/charts/chart6.xml" Id="Rb8cd1aacfe234046" /><Relationship Type="http://schemas.openxmlformats.org/officeDocument/2006/relationships/chart" Target="/ppt/slides/charts/chart7.xml" Id="Ra127ee4e837f4c1c" /><Relationship Type="http://schemas.openxmlformats.org/officeDocument/2006/relationships/notesSlide" Target="/ppt/notesSlides/notesSlide16.xml" Id="R37db5f56ca124c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add0537078421d" /><Relationship Type="http://schemas.openxmlformats.org/officeDocument/2006/relationships/image" Target="/ppt/media/image24.png" Id="R24e09521c83e46b7" /><Relationship Type="http://schemas.openxmlformats.org/officeDocument/2006/relationships/notesSlide" Target="/ppt/notesSlides/notesSlide17.xml" Id="R4dd73d8d9f0d41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3e7cfa48724237" /><Relationship Type="http://schemas.openxmlformats.org/officeDocument/2006/relationships/notesSlide" Target="/ppt/notesSlides/notesSlide18.xml" Id="Rc04899bc1135477f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交换引起的能级分裂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三重态</c:v>
          </c:tx>
          <c:spPr>
            <a:ln xmlns:a="http://schemas.openxmlformats.org/drawingml/2006/main" w="4762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0.05</c:v>
              </c:pt>
              <c:pt idx="1">
                <c:v>0.45</c:v>
              </c:pt>
            </c:numLit>
          </c:xVal>
          <c:yVal>
            <c:numLit>
              <c:formatCode>0.0</c:formatCode>
              <c:ptCount val="2"/>
              <c:pt idx="0">
                <c:v>-1</c:v>
              </c:pt>
              <c:pt idx="1">
                <c:v>-1</c:v>
              </c:pt>
            </c:numLit>
          </c:yVal>
        </c:ser>
        <c:ser>
          <c:idx val="1"/>
          <c:order val="1"/>
          <c:tx>
            <c:v>单重态</c:v>
          </c:tx>
          <c:spPr>
            <a:ln xmlns:a="http://schemas.openxmlformats.org/drawingml/2006/main" w="4762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0.55</c:v>
              </c:pt>
              <c:pt idx="1">
                <c:v>0.95</c:v>
              </c:pt>
            </c:numLit>
          </c:xVal>
          <c:yVal>
            <c:numLit>
              <c:formatCode>0.0</c:formatCode>
              <c:ptCount val="2"/>
              <c:pt idx="0">
                <c:v>1</c:v>
              </c:pt>
              <c:pt idx="1">
                <c:v>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(E − D)/K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.5"/>
        <c:majorUnit val="0.5"/>
      </c:valAx>
      <c:valAx>
        <c:axId val="48650112"/>
        <c:scaling>
          <c:orientation val="minMax"/>
          <c:max val="1"/>
          <c:min val="0"/>
        </c:scaling>
        <c:delete val="1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方向 RMS 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η = 1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0.3535533905932738</c:v>
              </c:pt>
              <c:pt idx="2">
                <c:v>0.7071067811865476</c:v>
              </c:pt>
              <c:pt idx="3">
                <c:v>1.0606601717798212</c:v>
              </c:pt>
              <c:pt idx="4">
                <c:v>1.4142135623730951</c:v>
              </c:pt>
              <c:pt idx="5">
                <c:v>1.7677669529663689</c:v>
              </c:pt>
              <c:pt idx="6">
                <c:v>2.1213203435596424</c:v>
              </c:pt>
              <c:pt idx="7">
                <c:v>2.4748737341529163</c:v>
              </c:pt>
              <c:pt idx="8">
                <c:v>2.8284271247461903</c:v>
              </c:pt>
              <c:pt idx="9">
                <c:v>3.181980515339464</c:v>
              </c:pt>
              <c:pt idx="10">
                <c:v>3.5355339059327378</c:v>
              </c:pt>
              <c:pt idx="11">
                <c:v>3.8890872965260113</c:v>
              </c:pt>
              <c:pt idx="12">
                <c:v>4.242640687119285</c:v>
              </c:pt>
              <c:pt idx="13">
                <c:v>4.596194077712559</c:v>
              </c:pt>
              <c:pt idx="14">
                <c:v>4.949747468305833</c:v>
              </c:pt>
              <c:pt idx="15">
                <c:v>5.303300858899106</c:v>
              </c:pt>
              <c:pt idx="16">
                <c:v>5.656854249492381</c:v>
              </c:pt>
              <c:pt idx="17">
                <c:v>6.010407640085654</c:v>
              </c:pt>
              <c:pt idx="18">
                <c:v>6.363961030678928</c:v>
              </c:pt>
              <c:pt idx="19">
                <c:v>6.7175144212722016</c:v>
              </c:pt>
              <c:pt idx="20">
                <c:v>7.0710678118654755</c:v>
              </c:pt>
              <c:pt idx="21">
                <c:v>7.424621202458749</c:v>
              </c:pt>
              <c:pt idx="22">
                <c:v>7.7781745930520225</c:v>
              </c:pt>
              <c:pt idx="23">
                <c:v>8.131727983645296</c:v>
              </c:pt>
              <c:pt idx="24">
                <c:v>8.48528137423857</c:v>
              </c:pt>
              <c:pt idx="25">
                <c:v>8.838834764831843</c:v>
              </c:pt>
              <c:pt idx="26">
                <c:v>9.192388155425117</c:v>
              </c:pt>
              <c:pt idx="27">
                <c:v>9.54594154601839</c:v>
              </c:pt>
              <c:pt idx="28">
                <c:v>9.899494936611664</c:v>
              </c:pt>
              <c:pt idx="29">
                <c:v>10.253048327204938</c:v>
              </c:pt>
              <c:pt idx="30">
                <c:v>10.606601717798213</c:v>
              </c:pt>
              <c:pt idx="31">
                <c:v>10.960155108391486</c:v>
              </c:pt>
              <c:pt idx="32">
                <c:v>11.313708498984761</c:v>
              </c:pt>
              <c:pt idx="33">
                <c:v>11.667261889578034</c:v>
              </c:pt>
              <c:pt idx="34">
                <c:v>12.020815280171307</c:v>
              </c:pt>
              <c:pt idx="35">
                <c:v>12.374368670764582</c:v>
              </c:pt>
              <c:pt idx="36">
                <c:v>12.727922061357855</c:v>
              </c:pt>
              <c:pt idx="37">
                <c:v>13.08147545195113</c:v>
              </c:pt>
              <c:pt idx="38">
                <c:v>13.435028842544403</c:v>
              </c:pt>
              <c:pt idx="39">
                <c:v>13.788582233137676</c:v>
              </c:pt>
              <c:pt idx="40">
                <c:v>14.142135623730951</c:v>
              </c:pt>
              <c:pt idx="41">
                <c:v>14.495689014324224</c:v>
              </c:pt>
              <c:pt idx="42">
                <c:v>14.849242404917497</c:v>
              </c:pt>
              <c:pt idx="43">
                <c:v>15.202795795510774</c:v>
              </c:pt>
              <c:pt idx="44">
                <c:v>15.556349186104047</c:v>
              </c:pt>
              <c:pt idx="45">
                <c:v>15.909902576697322</c:v>
              </c:pt>
              <c:pt idx="46">
                <c:v>16.263455967290593</c:v>
              </c:pt>
              <c:pt idx="47">
                <c:v>16.617009357883866</c:v>
              </c:pt>
              <c:pt idx="48">
                <c:v>16.970562748477143</c:v>
              </c:pt>
              <c:pt idx="49">
                <c:v>17.324116139070416</c:v>
              </c:pt>
              <c:pt idx="50">
                <c:v>17.67766952966369</c:v>
              </c:pt>
              <c:pt idx="51">
                <c:v>18.031222920256962</c:v>
              </c:pt>
              <c:pt idx="52">
                <c:v>18.38477631085024</c:v>
              </c:pt>
              <c:pt idx="53">
                <c:v>18.73832970144351</c:v>
              </c:pt>
              <c:pt idx="54">
                <c:v>19.091883092036785</c:v>
              </c:pt>
              <c:pt idx="55">
                <c:v>19.445436482630058</c:v>
              </c:pt>
              <c:pt idx="56">
                <c:v>19.79898987322333</c:v>
              </c:pt>
              <c:pt idx="57">
                <c:v>20.1525432638166</c:v>
              </c:pt>
              <c:pt idx="58">
                <c:v>20.506096654409877</c:v>
              </c:pt>
              <c:pt idx="59">
                <c:v>20.859650045003153</c:v>
              </c:pt>
              <c:pt idx="60">
                <c:v>21.213203435596427</c:v>
              </c:pt>
              <c:pt idx="61">
                <c:v>21.566756826189696</c:v>
              </c:pt>
              <c:pt idx="62">
                <c:v>21.92031021678297</c:v>
              </c:pt>
              <c:pt idx="63">
                <c:v>22.273863607376246</c:v>
              </c:pt>
              <c:pt idx="64">
                <c:v>22.627416997969522</c:v>
              </c:pt>
              <c:pt idx="65">
                <c:v>22.980970388562795</c:v>
              </c:pt>
              <c:pt idx="66">
                <c:v>23.334523779156065</c:v>
              </c:pt>
              <c:pt idx="67">
                <c:v>23.688077169749338</c:v>
              </c:pt>
              <c:pt idx="68">
                <c:v>24.041630560342615</c:v>
              </c:pt>
              <c:pt idx="69">
                <c:v>24.39518395093589</c:v>
              </c:pt>
              <c:pt idx="70">
                <c:v>24.748737341529164</c:v>
              </c:pt>
              <c:pt idx="71">
                <c:v>25.102290732122437</c:v>
              </c:pt>
              <c:pt idx="72">
                <c:v>25.45584412271571</c:v>
              </c:pt>
              <c:pt idx="73">
                <c:v>25.809397513308983</c:v>
              </c:pt>
              <c:pt idx="74">
                <c:v>26.162950903902257</c:v>
              </c:pt>
              <c:pt idx="75">
                <c:v>26.516504294495533</c:v>
              </c:pt>
              <c:pt idx="76">
                <c:v>26.870057685088806</c:v>
              </c:pt>
              <c:pt idx="77">
                <c:v>27.22361107568208</c:v>
              </c:pt>
              <c:pt idx="78">
                <c:v>27.577164466275352</c:v>
              </c:pt>
              <c:pt idx="79">
                <c:v>27.930717856868622</c:v>
              </c:pt>
              <c:pt idx="80">
                <c:v>28.2842712474619</c:v>
              </c:pt>
            </c:numLit>
          </c:yVal>
        </c:ser>
        <c:ser>
          <c:idx val="1"/>
          <c:order val="1"/>
          <c:tx>
            <c:v>η = 0.3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0.10606601717798214</c:v>
              </c:pt>
              <c:pt idx="2">
                <c:v>0.21213203435596428</c:v>
              </c:pt>
              <c:pt idx="3">
                <c:v>0.31819805153394637</c:v>
              </c:pt>
              <c:pt idx="4">
                <c:v>0.42426406871192845</c:v>
              </c:pt>
              <c:pt idx="5">
                <c:v>0.5303300858899105</c:v>
              </c:pt>
              <c:pt idx="6">
                <c:v>0.6363961030678927</c:v>
              </c:pt>
              <c:pt idx="7">
                <c:v>0.742462120245875</c:v>
              </c:pt>
              <c:pt idx="8">
                <c:v>0.848528137423857</c:v>
              </c:pt>
              <c:pt idx="9">
                <c:v>0.954594154601839</c:v>
              </c:pt>
              <c:pt idx="10">
                <c:v>1.0606601717798212</c:v>
              </c:pt>
              <c:pt idx="11">
                <c:v>1.1667261889578031</c:v>
              </c:pt>
              <c:pt idx="12">
                <c:v>1.2727922061357855</c:v>
              </c:pt>
              <c:pt idx="13">
                <c:v>1.3788582233137674</c:v>
              </c:pt>
              <c:pt idx="14">
                <c:v>1.4849242404917498</c:v>
              </c:pt>
              <c:pt idx="15">
                <c:v>1.590990257669732</c:v>
              </c:pt>
              <c:pt idx="16">
                <c:v>1.697056274847714</c:v>
              </c:pt>
              <c:pt idx="17">
                <c:v>1.8031222920256962</c:v>
              </c:pt>
              <c:pt idx="18">
                <c:v>1.9091883092036785</c:v>
              </c:pt>
              <c:pt idx="19">
                <c:v>2.0152543263816605</c:v>
              </c:pt>
              <c:pt idx="20">
                <c:v>2.121320343559643</c:v>
              </c:pt>
              <c:pt idx="21">
                <c:v>2.2273863607376247</c:v>
              </c:pt>
              <c:pt idx="22">
                <c:v>2.333452377915607</c:v>
              </c:pt>
              <c:pt idx="23">
                <c:v>2.439518395093589</c:v>
              </c:pt>
              <c:pt idx="24">
                <c:v>2.545584412271571</c:v>
              </c:pt>
              <c:pt idx="25">
                <c:v>2.651650429449553</c:v>
              </c:pt>
              <c:pt idx="26">
                <c:v>2.7577164466275352</c:v>
              </c:pt>
              <c:pt idx="27">
                <c:v>2.8637824638055176</c:v>
              </c:pt>
              <c:pt idx="28">
                <c:v>2.9698484809834995</c:v>
              </c:pt>
              <c:pt idx="29">
                <c:v>3.0759144981614814</c:v>
              </c:pt>
              <c:pt idx="30">
                <c:v>3.181980515339464</c:v>
              </c:pt>
              <c:pt idx="31">
                <c:v>3.2880465325174457</c:v>
              </c:pt>
              <c:pt idx="32">
                <c:v>3.394112549695428</c:v>
              </c:pt>
              <c:pt idx="33">
                <c:v>3.50017856687341</c:v>
              </c:pt>
              <c:pt idx="34">
                <c:v>3.6062445840513924</c:v>
              </c:pt>
              <c:pt idx="35">
                <c:v>3.7123106012293743</c:v>
              </c:pt>
              <c:pt idx="36">
                <c:v>3.818376618407356</c:v>
              </c:pt>
              <c:pt idx="37">
                <c:v>3.924442635585339</c:v>
              </c:pt>
              <c:pt idx="38">
                <c:v>4.030508652763321</c:v>
              </c:pt>
              <c:pt idx="39">
                <c:v>4.136574669941303</c:v>
              </c:pt>
              <c:pt idx="40">
                <c:v>4.242640687119285</c:v>
              </c:pt>
              <c:pt idx="41">
                <c:v>4.348706704297268</c:v>
              </c:pt>
              <c:pt idx="42">
                <c:v>4.4547727214752495</c:v>
              </c:pt>
              <c:pt idx="43">
                <c:v>4.5608387386532305</c:v>
              </c:pt>
              <c:pt idx="44">
                <c:v>4.666904755831214</c:v>
              </c:pt>
              <c:pt idx="45">
                <c:v>4.772970773009196</c:v>
              </c:pt>
              <c:pt idx="46">
                <c:v>4.879036790187177</c:v>
              </c:pt>
              <c:pt idx="47">
                <c:v>4.98510280736516</c:v>
              </c:pt>
              <c:pt idx="48">
                <c:v>5.091168824543142</c:v>
              </c:pt>
              <c:pt idx="49">
                <c:v>5.197234841721124</c:v>
              </c:pt>
              <c:pt idx="50">
                <c:v>5.303300858899106</c:v>
              </c:pt>
              <c:pt idx="51">
                <c:v>5.409366876077088</c:v>
              </c:pt>
              <c:pt idx="52">
                <c:v>5.5154328932550705</c:v>
              </c:pt>
              <c:pt idx="53">
                <c:v>5.621498910433052</c:v>
              </c:pt>
              <c:pt idx="54">
                <c:v>5.727564927611035</c:v>
              </c:pt>
              <c:pt idx="55">
                <c:v>5.833630944789016</c:v>
              </c:pt>
              <c:pt idx="56">
                <c:v>5.939696961966999</c:v>
              </c:pt>
              <c:pt idx="57">
                <c:v>6.04576297914498</c:v>
              </c:pt>
              <c:pt idx="58">
                <c:v>6.151828996322964</c:v>
              </c:pt>
              <c:pt idx="59">
                <c:v>6.257895013500945</c:v>
              </c:pt>
              <c:pt idx="60">
                <c:v>6.363961030678928</c:v>
              </c:pt>
              <c:pt idx="61">
                <c:v>6.4700270478569095</c:v>
              </c:pt>
              <c:pt idx="62">
                <c:v>6.576093065034891</c:v>
              </c:pt>
              <c:pt idx="63">
                <c:v>6.6821590822128725</c:v>
              </c:pt>
              <c:pt idx="64">
                <c:v>6.788225099390856</c:v>
              </c:pt>
              <c:pt idx="65">
                <c:v>6.894291116568839</c:v>
              </c:pt>
              <c:pt idx="66">
                <c:v>7.00035713374682</c:v>
              </c:pt>
              <c:pt idx="67">
                <c:v>7.106423150924802</c:v>
              </c:pt>
              <c:pt idx="68">
                <c:v>7.212489168102784</c:v>
              </c:pt>
              <c:pt idx="69">
                <c:v>7.318555185280766</c:v>
              </c:pt>
              <c:pt idx="70">
                <c:v>7.424621202458749</c:v>
              </c:pt>
              <c:pt idx="71">
                <c:v>7.530687219636731</c:v>
              </c:pt>
              <c:pt idx="72">
                <c:v>7.6367532368147115</c:v>
              </c:pt>
              <c:pt idx="73">
                <c:v>7.742819253992695</c:v>
              </c:pt>
              <c:pt idx="74">
                <c:v>7.848885271170678</c:v>
              </c:pt>
              <c:pt idx="75">
                <c:v>7.95495128834866</c:v>
              </c:pt>
              <c:pt idx="76">
                <c:v>8.061017305526642</c:v>
              </c:pt>
              <c:pt idx="77">
                <c:v>8.167083322704624</c:v>
              </c:pt>
              <c:pt idx="78">
                <c:v>8.273149339882606</c:v>
              </c:pt>
              <c:pt idx="79">
                <c:v>8.37921535706059</c:v>
              </c:pt>
              <c:pt idx="80">
                <c:v>8.48528137423857</c:v>
              </c:pt>
            </c:numLit>
          </c:yVal>
        </c:ser>
        <c:ser>
          <c:idx val="2"/>
          <c:order val="2"/>
          <c:tx>
            <c:v>η = 0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概率质心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 = 10a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</c:numLit>
          </c:xVal>
          <c:yVal>
            <c:numLit>
              <c:formatCode>0.0</c:formatCode>
              <c:ptCount val="61"/>
              <c:pt idx="0">
                <c:v>-4.0291987632698377E-16</c:v>
              </c:pt>
              <c:pt idx="1">
                <c:v>0.6434129182140708</c:v>
              </c:pt>
              <c:pt idx="2">
                <c:v>1.286825836428141</c:v>
              </c:pt>
              <c:pt idx="3">
                <c:v>1.9302387546422124</c:v>
              </c:pt>
              <c:pt idx="4">
                <c:v>2.5736516728562835</c:v>
              </c:pt>
              <c:pt idx="5">
                <c:v>3.2170645910703546</c:v>
              </c:pt>
              <c:pt idx="6">
                <c:v>3.860477509284426</c:v>
              </c:pt>
              <c:pt idx="7">
                <c:v>4.503890427498497</c:v>
              </c:pt>
              <c:pt idx="8">
                <c:v>5.147303345712569</c:v>
              </c:pt>
              <c:pt idx="9">
                <c:v>5.7907162639266385</c:v>
              </c:pt>
              <c:pt idx="10">
                <c:v>6.434129182140708</c:v>
              </c:pt>
              <c:pt idx="11">
                <c:v>7.077542100354782</c:v>
              </c:pt>
              <c:pt idx="12">
                <c:v>7.720955018568853</c:v>
              </c:pt>
              <c:pt idx="13">
                <c:v>8.364367936782921</c:v>
              </c:pt>
              <c:pt idx="14">
                <c:v>9.007780854996994</c:v>
              </c:pt>
              <c:pt idx="15">
                <c:v>9.651193773211062</c:v>
              </c:pt>
              <c:pt idx="16">
                <c:v>10.294606691425136</c:v>
              </c:pt>
              <c:pt idx="17">
                <c:v>10.938019609639205</c:v>
              </c:pt>
              <c:pt idx="18">
                <c:v>11.58143252785328</c:v>
              </c:pt>
              <c:pt idx="19">
                <c:v>12.22484544606735</c:v>
              </c:pt>
              <c:pt idx="20">
                <c:v>12.868258364281422</c:v>
              </c:pt>
              <c:pt idx="21">
                <c:v>13.511671282495493</c:v>
              </c:pt>
              <c:pt idx="22">
                <c:v>14.155084200709565</c:v>
              </c:pt>
              <c:pt idx="23">
                <c:v>14.798497118923631</c:v>
              </c:pt>
              <c:pt idx="24">
                <c:v>15.441910037137701</c:v>
              </c:pt>
              <c:pt idx="25">
                <c:v>16.085322955351774</c:v>
              </c:pt>
              <c:pt idx="26">
                <c:v>16.728735873565842</c:v>
              </c:pt>
              <c:pt idx="27">
                <c:v>17.372148791779914</c:v>
              </c:pt>
              <c:pt idx="28">
                <c:v>18.01556170999399</c:v>
              </c:pt>
              <c:pt idx="29">
                <c:v>18.65897462820806</c:v>
              </c:pt>
              <c:pt idx="30">
                <c:v>19.30238754642213</c:v>
              </c:pt>
              <c:pt idx="31">
                <c:v>19.9458004646362</c:v>
              </c:pt>
              <c:pt idx="32">
                <c:v>20.589213382850268</c:v>
              </c:pt>
              <c:pt idx="33">
                <c:v>21.232626301064347</c:v>
              </c:pt>
              <c:pt idx="34">
                <c:v>21.87603921927841</c:v>
              </c:pt>
              <c:pt idx="35">
                <c:v>22.519452137492486</c:v>
              </c:pt>
              <c:pt idx="36">
                <c:v>23.162865055706558</c:v>
              </c:pt>
              <c:pt idx="37">
                <c:v>23.80627797392063</c:v>
              </c:pt>
              <c:pt idx="38">
                <c:v>24.449690892134694</c:v>
              </c:pt>
              <c:pt idx="39">
                <c:v>25.09310381034877</c:v>
              </c:pt>
              <c:pt idx="40">
                <c:v>25.736516728562837</c:v>
              </c:pt>
              <c:pt idx="41">
                <c:v>26.37992964677691</c:v>
              </c:pt>
              <c:pt idx="42">
                <c:v>27.02334256499098</c:v>
              </c:pt>
              <c:pt idx="43">
                <c:v>27.66675548320505</c:v>
              </c:pt>
              <c:pt idx="44">
                <c:v>28.310168401419123</c:v>
              </c:pt>
              <c:pt idx="45">
                <c:v>28.953581319633194</c:v>
              </c:pt>
              <c:pt idx="46">
                <c:v>29.596994237847262</c:v>
              </c:pt>
              <c:pt idx="47">
                <c:v>30.240407156061345</c:v>
              </c:pt>
              <c:pt idx="48">
                <c:v>30.883820074275405</c:v>
              </c:pt>
              <c:pt idx="49">
                <c:v>31.527232992489477</c:v>
              </c:pt>
              <c:pt idx="50">
                <c:v>32.17064591070355</c:v>
              </c:pt>
              <c:pt idx="51">
                <c:v>32.81405882891763</c:v>
              </c:pt>
              <c:pt idx="52">
                <c:v>33.457471747131684</c:v>
              </c:pt>
              <c:pt idx="53">
                <c:v>34.10088466534577</c:v>
              </c:pt>
              <c:pt idx="54">
                <c:v>34.744297583559835</c:v>
              </c:pt>
              <c:pt idx="55">
                <c:v>35.3877105017739</c:v>
              </c:pt>
              <c:pt idx="56">
                <c:v>36.03112341998798</c:v>
              </c:pt>
              <c:pt idx="57">
                <c:v>36.674536338202046</c:v>
              </c:pt>
              <c:pt idx="58">
                <c:v>37.31794925641612</c:v>
              </c:pt>
              <c:pt idx="59">
                <c:v>37.96136217463018</c:v>
              </c:pt>
              <c:pt idx="60">
                <c:v>38.604775092844264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〈x〉/a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相对初始宽度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σ=3a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1.0035408754119461</c:v>
              </c:pt>
              <c:pt idx="2">
                <c:v>1.0140893227375487</c:v>
              </c:pt>
              <c:pt idx="3">
                <c:v>1.031430364883241</c:v>
              </c:pt>
              <c:pt idx="4">
                <c:v>1.0552291779330216</c:v>
              </c:pt>
              <c:pt idx="5">
                <c:v>1.0850609271208584</c:v>
              </c:pt>
              <c:pt idx="6">
                <c:v>1.1204438363491065</c:v>
              </c:pt>
              <c:pt idx="7">
                <c:v>1.160870424511788</c:v>
              </c:pt>
              <c:pt idx="8">
                <c:v>1.2058335174661574</c:v>
              </c:pt>
              <c:pt idx="9">
                <c:v>1.2548455595923278</c:v>
              </c:pt>
              <c:pt idx="10">
                <c:v>1.3074512848506092</c:v>
              </c:pt>
              <c:pt idx="11">
                <c:v>1.3632347278922972</c:v>
              </c:pt>
              <c:pt idx="12">
                <c:v>1.4218219162928996</c:v>
              </c:pt>
              <c:pt idx="13">
                <c:v>1.4828805674143786</c:v>
              </c:pt>
              <c:pt idx="14">
                <c:v>1.5461179030153935</c:v>
              </c:pt>
              <c:pt idx="15">
                <c:v>1.6112774249270032</c:v>
              </c:pt>
              <c:pt idx="16">
                <c:v>1.6781352410873274</c:v>
              </c:pt>
              <c:pt idx="17">
                <c:v>1.7464963246237308</c:v>
              </c:pt>
              <c:pt idx="18">
                <c:v>1.8161909353683958</c:v>
              </c:pt>
              <c:pt idx="19">
                <c:v>1.8870713268844943</c:v>
              </c:pt>
              <c:pt idx="20">
                <c:v>1.9590087924841058</c:v>
              </c:pt>
              <c:pt idx="21">
                <c:v>2.0318910607007483</c:v>
              </c:pt>
              <c:pt idx="22">
                <c:v>2.1056200258656212</c:v>
              </c:pt>
              <c:pt idx="23">
                <c:v>2.180109786534206</c:v>
              </c:pt>
              <c:pt idx="24">
                <c:v>2.2552849590690864</c:v>
              </c:pt>
              <c:pt idx="25">
                <c:v>2.331079232696613</c:v>
              </c:pt>
              <c:pt idx="26">
                <c:v>2.4074341338571985</c:v>
              </c:pt>
              <c:pt idx="27">
                <c:v>2.4842979704248918</c:v>
              </c:pt>
              <c:pt idx="28">
                <c:v>2.561624929629408</c:v>
              </c:pt>
              <c:pt idx="29">
                <c:v>2.6393743068359306</c:v>
              </c:pt>
              <c:pt idx="30">
                <c:v>2.7175098454867794</c:v>
              </c:pt>
            </c:numLit>
          </c:yVal>
        </c:ser>
        <c:ser>
          <c:idx val="1"/>
          <c:order val="1"/>
          <c:tx>
            <c:v>σ=6a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1.000224654931089</c:v>
              </c:pt>
              <c:pt idx="2">
                <c:v>1.000898317177157</c:v>
              </c:pt>
              <c:pt idx="3">
                <c:v>1.0020200811301871</c:v>
              </c:pt>
              <c:pt idx="4">
                <c:v>1.0035884441902772</c:v>
              </c:pt>
              <c:pt idx="5">
                <c:v>1.0056013167753945</c:v>
              </c:pt>
              <c:pt idx="6">
                <c:v>1.0080560361173319</c:v>
              </c:pt>
              <c:pt idx="7">
                <c:v>1.0109493836334236</c:v>
              </c:pt>
              <c:pt idx="8">
                <c:v>1.0142776056134948</c:v>
              </c:pt>
              <c:pt idx="9">
                <c:v>1.0180364369183066</c:v>
              </c:pt>
              <c:pt idx="10">
                <c:v>1.0222211273504531</c:v>
              </c:pt>
              <c:pt idx="11">
                <c:v>1.0268264703317567</c:v>
              </c:pt>
              <c:pt idx="12">
                <c:v>1.031846833503088</c:v>
              </c:pt>
              <c:pt idx="13">
                <c:v>1.0372761908531194</c:v>
              </c:pt>
              <c:pt idx="14">
                <c:v>1.0431081559815345</c:v>
              </c:pt>
              <c:pt idx="15">
                <c:v>1.0493360161090777</c:v>
              </c:pt>
              <c:pt idx="16">
                <c:v>1.0559527664607806</c:v>
              </c:pt>
              <c:pt idx="17">
                <c:v>1.062951144668801</c:v>
              </c:pt>
              <c:pt idx="18">
                <c:v>1.0703236648665138</c:v>
              </c:pt>
              <c:pt idx="19">
                <c:v>1.0780626511747307</c:v>
              </c:pt>
              <c:pt idx="20">
                <c:v>1.0861602703130533</c:v>
              </c:pt>
              <c:pt idx="21">
                <c:v>1.0946085631033562</c:v>
              </c:pt>
              <c:pt idx="22">
                <c:v>1.103399474667219</c:v>
              </c:pt>
              <c:pt idx="23">
                <c:v>1.1125248831539138</c:v>
              </c:pt>
              <c:pt idx="24">
                <c:v>1.1219766268694713</c:v>
              </c:pt>
              <c:pt idx="25">
                <c:v>1.1317465297098088</c:v>
              </c:pt>
              <c:pt idx="26">
                <c:v>1.1418264248312997</c:v>
              </c:pt>
              <c:pt idx="27">
                <c:v>1.1522081765201513</c:v>
              </c:pt>
              <c:pt idx="28">
                <c:v>1.1628837002472732</c:v>
              </c:pt>
              <c:pt idx="29">
                <c:v>1.1738449809177187</c:v>
              </c:pt>
              <c:pt idx="30">
                <c:v>1.1850840893433185</c:v>
              </c:pt>
            </c:numLit>
          </c:yVal>
        </c:ser>
        <c:ser>
          <c:idx val="2"/>
          <c:order val="2"/>
          <c:tx>
            <c:v>σ=10a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1.000029201624753</c:v>
              </c:pt>
              <c:pt idx="2">
                <c:v>1.0001168013832</c:v>
              </c:pt>
              <c:pt idx="3">
                <c:v>1.000262783932386</c:v>
              </c:pt>
              <c:pt idx="4">
                <c:v>1.0004671237156435</c:v>
              </c:pt>
              <c:pt idx="5">
                <c:v>1.000729784984948</c:v>
              </c:pt>
              <c:pt idx="6">
                <c:v>1.0010507218321503</c:v>
              </c:pt>
              <c:pt idx="7">
                <c:v>1.0014298782290247</c:v>
              </c:pt>
              <c:pt idx="8">
                <c:v>1.00186718807605</c:v>
              </c:pt>
              <c:pt idx="9">
                <c:v>1.002362575259823</c:v>
              </c:pt>
              <c:pt idx="10">
                <c:v>1.0029159537189942</c:v>
              </c:pt>
              <c:pt idx="11">
                <c:v>1.0035272275185845</c:v>
              </c:pt>
              <c:pt idx="12">
                <c:v>1.0041962909325421</c:v>
              </c:pt>
              <c:pt idx="13">
                <c:v>1.0049230285343724</c:v>
              </c:pt>
              <c:pt idx="14">
                <c:v>1.0057073152956562</c:v>
              </c:pt>
              <c:pt idx="15">
                <c:v>1.006549016692272</c:v>
              </c:pt>
              <c:pt idx="16">
                <c:v>1.007447988818105</c:v>
              </c:pt>
              <c:pt idx="17">
                <c:v>1.0084040785060275</c:v>
              </c:pt>
              <c:pt idx="18">
                <c:v>1.0094171234559173</c:v>
              </c:pt>
              <c:pt idx="19">
                <c:v>1.010486952369464</c:v>
              </c:pt>
              <c:pt idx="20">
                <c:v>1.0116133850915174</c:v>
              </c:pt>
              <c:pt idx="21">
                <c:v>1.0127962327577014</c:v>
              </c:pt>
              <c:pt idx="22">
                <c:v>1.014035297948028</c:v>
              </c:pt>
              <c:pt idx="23">
                <c:v>1.015330374846228</c:v>
              </c:pt>
              <c:pt idx="24">
                <c:v>1.016681249404502</c:v>
              </c:pt>
              <c:pt idx="25">
                <c:v>1.0180876995134056</c:v>
              </c:pt>
              <c:pt idx="26">
                <c:v>1.0195494951765602</c:v>
              </c:pt>
              <c:pt idx="27">
                <c:v>1.0210663986898898</c:v>
              </c:pt>
              <c:pt idx="28">
                <c:v>1.022638164825069</c:v>
              </c:pt>
              <c:pt idx="29">
                <c:v>1.0242645410168758</c:v>
              </c:pt>
              <c:pt idx="30">
                <c:v>1.0259452675541316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1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σₓ(τ)/σₓ(0)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1"/>
        <c:majorUnit val="0.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方向的概率质心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η = 1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</c:numLit>
          </c:xVal>
          <c:yVal>
            <c:numLit>
              <c:formatCode>0.0</c:formatCode>
              <c:ptCount val="61"/>
              <c:pt idx="0">
                <c:v>0</c:v>
              </c:pt>
              <c:pt idx="1">
                <c:v>0.6434129182140688</c:v>
              </c:pt>
              <c:pt idx="2">
                <c:v>1.2868258364281424</c:v>
              </c:pt>
              <c:pt idx="3">
                <c:v>1.930238754642212</c:v>
              </c:pt>
              <c:pt idx="4">
                <c:v>2.5736516728562826</c:v>
              </c:pt>
              <c:pt idx="5">
                <c:v>3.217064591070355</c:v>
              </c:pt>
              <c:pt idx="6">
                <c:v>3.860477509284424</c:v>
              </c:pt>
              <c:pt idx="7">
                <c:v>4.503890427498495</c:v>
              </c:pt>
              <c:pt idx="8">
                <c:v>5.147303345712568</c:v>
              </c:pt>
              <c:pt idx="9">
                <c:v>5.7907162639266385</c:v>
              </c:pt>
              <c:pt idx="10">
                <c:v>6.434129182140708</c:v>
              </c:pt>
              <c:pt idx="11">
                <c:v>7.077542100354781</c:v>
              </c:pt>
              <c:pt idx="12">
                <c:v>7.720955018568851</c:v>
              </c:pt>
              <c:pt idx="13">
                <c:v>8.364367936782923</c:v>
              </c:pt>
              <c:pt idx="14">
                <c:v>9.007780854996993</c:v>
              </c:pt>
              <c:pt idx="15">
                <c:v>9.651193773211064</c:v>
              </c:pt>
              <c:pt idx="16">
                <c:v>10.294606691425134</c:v>
              </c:pt>
              <c:pt idx="17">
                <c:v>10.938019609639209</c:v>
              </c:pt>
              <c:pt idx="18">
                <c:v>11.581432527853279</c:v>
              </c:pt>
              <c:pt idx="19">
                <c:v>12.22484544606735</c:v>
              </c:pt>
              <c:pt idx="20">
                <c:v>12.86825836428142</c:v>
              </c:pt>
              <c:pt idx="21">
                <c:v>13.51167128249549</c:v>
              </c:pt>
              <c:pt idx="22">
                <c:v>14.15508420070956</c:v>
              </c:pt>
              <c:pt idx="23">
                <c:v>14.798497118923635</c:v>
              </c:pt>
              <c:pt idx="24">
                <c:v>15.441910037137703</c:v>
              </c:pt>
              <c:pt idx="25">
                <c:v>16.085322955351778</c:v>
              </c:pt>
              <c:pt idx="26">
                <c:v>16.728735873565842</c:v>
              </c:pt>
              <c:pt idx="27">
                <c:v>17.372148791779917</c:v>
              </c:pt>
              <c:pt idx="28">
                <c:v>18.01556170999398</c:v>
              </c:pt>
              <c:pt idx="29">
                <c:v>18.658974628208057</c:v>
              </c:pt>
              <c:pt idx="30">
                <c:v>19.302387546422132</c:v>
              </c:pt>
              <c:pt idx="31">
                <c:v>19.945800464636203</c:v>
              </c:pt>
              <c:pt idx="32">
                <c:v>20.58921338285027</c:v>
              </c:pt>
              <c:pt idx="33">
                <c:v>21.232626301064347</c:v>
              </c:pt>
              <c:pt idx="34">
                <c:v>21.876039219278418</c:v>
              </c:pt>
              <c:pt idx="35">
                <c:v>22.519452137492486</c:v>
              </c:pt>
              <c:pt idx="36">
                <c:v>23.162865055706554</c:v>
              </c:pt>
              <c:pt idx="37">
                <c:v>23.80627797392063</c:v>
              </c:pt>
              <c:pt idx="38">
                <c:v>24.4496908921347</c:v>
              </c:pt>
              <c:pt idx="39">
                <c:v>25.093103810348772</c:v>
              </c:pt>
              <c:pt idx="40">
                <c:v>25.73651672856284</c:v>
              </c:pt>
              <c:pt idx="41">
                <c:v>26.379929646776915</c:v>
              </c:pt>
              <c:pt idx="42">
                <c:v>27.023342564990983</c:v>
              </c:pt>
              <c:pt idx="43">
                <c:v>27.666755483205048</c:v>
              </c:pt>
              <c:pt idx="44">
                <c:v>28.310168401419123</c:v>
              </c:pt>
              <c:pt idx="45">
                <c:v>28.953581319633198</c:v>
              </c:pt>
              <c:pt idx="46">
                <c:v>29.596994237847262</c:v>
              </c:pt>
              <c:pt idx="47">
                <c:v>30.240407156061337</c:v>
              </c:pt>
              <c:pt idx="48">
                <c:v>30.883820074275413</c:v>
              </c:pt>
              <c:pt idx="49">
                <c:v>31.527232992489477</c:v>
              </c:pt>
              <c:pt idx="50">
                <c:v>32.17064591070355</c:v>
              </c:pt>
              <c:pt idx="51">
                <c:v>32.81405882891762</c:v>
              </c:pt>
              <c:pt idx="52">
                <c:v>33.4574717471317</c:v>
              </c:pt>
              <c:pt idx="53">
                <c:v>34.10088466534575</c:v>
              </c:pt>
              <c:pt idx="54">
                <c:v>34.744297583559835</c:v>
              </c:pt>
              <c:pt idx="55">
                <c:v>35.387710501773896</c:v>
              </c:pt>
              <c:pt idx="56">
                <c:v>36.03112341998798</c:v>
              </c:pt>
              <c:pt idx="57">
                <c:v>36.67453633820204</c:v>
              </c:pt>
              <c:pt idx="58">
                <c:v>37.31794925641612</c:v>
              </c:pt>
              <c:pt idx="59">
                <c:v>37.96136217463018</c:v>
              </c:pt>
              <c:pt idx="60">
                <c:v>38.604775092844264</c:v>
              </c:pt>
            </c:numLit>
          </c:yVal>
        </c:ser>
        <c:ser>
          <c:idx val="1"/>
          <c:order val="1"/>
          <c:tx>
            <c:v>η = 0.3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  <c:pt idx="48">
                <c:v>48</c:v>
              </c:pt>
              <c:pt idx="49">
                <c:v>49</c:v>
              </c:pt>
              <c:pt idx="50">
                <c:v>50</c:v>
              </c:pt>
              <c:pt idx="51">
                <c:v>51</c:v>
              </c:pt>
              <c:pt idx="52">
                <c:v>52</c:v>
              </c:pt>
              <c:pt idx="53">
                <c:v>53</c:v>
              </c:pt>
              <c:pt idx="54">
                <c:v>54</c:v>
              </c:pt>
              <c:pt idx="55">
                <c:v>55</c:v>
              </c:pt>
              <c:pt idx="56">
                <c:v>56</c:v>
              </c:pt>
              <c:pt idx="57">
                <c:v>57</c:v>
              </c:pt>
              <c:pt idx="58">
                <c:v>58</c:v>
              </c:pt>
              <c:pt idx="59">
                <c:v>59</c:v>
              </c:pt>
              <c:pt idx="60">
                <c:v>60</c:v>
              </c:pt>
            </c:numLit>
          </c:xVal>
          <c:yVal>
            <c:numLit>
              <c:formatCode>0.0</c:formatCode>
              <c:ptCount val="61"/>
              <c:pt idx="0">
                <c:v>0</c:v>
              </c:pt>
              <c:pt idx="1">
                <c:v>0.19302387546422017</c:v>
              </c:pt>
              <c:pt idx="2">
                <c:v>0.38604775092844135</c:v>
              </c:pt>
              <c:pt idx="3">
                <c:v>0.5790716263926624</c:v>
              </c:pt>
              <c:pt idx="4">
                <c:v>0.7720955018568845</c:v>
              </c:pt>
              <c:pt idx="5">
                <c:v>0.965119377321104</c:v>
              </c:pt>
              <c:pt idx="6">
                <c:v>1.158143252785327</c:v>
              </c:pt>
              <c:pt idx="7">
                <c:v>1.351167128249547</c:v>
              </c:pt>
              <c:pt idx="8">
                <c:v>1.5441910037137685</c:v>
              </c:pt>
              <c:pt idx="9">
                <c:v>1.73721487917799</c:v>
              </c:pt>
              <c:pt idx="10">
                <c:v>1.9302387546422106</c:v>
              </c:pt>
              <c:pt idx="11">
                <c:v>2.1232626301064337</c:v>
              </c:pt>
              <c:pt idx="12">
                <c:v>2.316286505570654</c:v>
              </c:pt>
              <c:pt idx="13">
                <c:v>2.5093103810348754</c:v>
              </c:pt>
              <c:pt idx="14">
                <c:v>2.7023342564990966</c:v>
              </c:pt>
              <c:pt idx="15">
                <c:v>2.8953581319633175</c:v>
              </c:pt>
              <c:pt idx="16">
                <c:v>3.0883820074275374</c:v>
              </c:pt>
              <c:pt idx="17">
                <c:v>3.2814058828917596</c:v>
              </c:pt>
              <c:pt idx="18">
                <c:v>3.474429758355981</c:v>
              </c:pt>
              <c:pt idx="19">
                <c:v>3.667453633820203</c:v>
              </c:pt>
              <c:pt idx="20">
                <c:v>3.860477509284424</c:v>
              </c:pt>
              <c:pt idx="21">
                <c:v>4.053501384748647</c:v>
              </c:pt>
              <c:pt idx="22">
                <c:v>4.2465252602128665</c:v>
              </c:pt>
              <c:pt idx="23">
                <c:v>4.439549135677087</c:v>
              </c:pt>
              <c:pt idx="24">
                <c:v>4.632573011141307</c:v>
              </c:pt>
              <c:pt idx="25">
                <c:v>4.82559688660553</c:v>
              </c:pt>
              <c:pt idx="26">
                <c:v>5.0186207620697525</c:v>
              </c:pt>
              <c:pt idx="27">
                <c:v>5.211644637533973</c:v>
              </c:pt>
              <c:pt idx="28">
                <c:v>5.404668512998195</c:v>
              </c:pt>
              <c:pt idx="29">
                <c:v>5.597692388462415</c:v>
              </c:pt>
              <c:pt idx="30">
                <c:v>5.790716263926636</c:v>
              </c:pt>
              <c:pt idx="31">
                <c:v>5.983740139390856</c:v>
              </c:pt>
              <c:pt idx="32">
                <c:v>6.1767640148550775</c:v>
              </c:pt>
              <c:pt idx="33">
                <c:v>6.3697878903193</c:v>
              </c:pt>
              <c:pt idx="34">
                <c:v>6.562811765783521</c:v>
              </c:pt>
              <c:pt idx="35">
                <c:v>6.755835641247744</c:v>
              </c:pt>
              <c:pt idx="36">
                <c:v>6.948859516711963</c:v>
              </c:pt>
              <c:pt idx="37">
                <c:v>7.141883392176184</c:v>
              </c:pt>
              <c:pt idx="38">
                <c:v>7.334907267640406</c:v>
              </c:pt>
              <c:pt idx="39">
                <c:v>7.527931143104627</c:v>
              </c:pt>
              <c:pt idx="40">
                <c:v>7.720955018568845</c:v>
              </c:pt>
              <c:pt idx="41">
                <c:v>7.91397889403307</c:v>
              </c:pt>
              <c:pt idx="42">
                <c:v>8.107002769497292</c:v>
              </c:pt>
              <c:pt idx="43">
                <c:v>8.300026644961509</c:v>
              </c:pt>
              <c:pt idx="44">
                <c:v>8.493050520425731</c:v>
              </c:pt>
              <c:pt idx="45">
                <c:v>8.686074395889957</c:v>
              </c:pt>
              <c:pt idx="46">
                <c:v>8.879098271354177</c:v>
              </c:pt>
              <c:pt idx="47">
                <c:v>9.072122146818394</c:v>
              </c:pt>
              <c:pt idx="48">
                <c:v>9.26514602228262</c:v>
              </c:pt>
              <c:pt idx="49">
                <c:v>9.45816989774684</c:v>
              </c:pt>
              <c:pt idx="50">
                <c:v>9.65119377321106</c:v>
              </c:pt>
              <c:pt idx="51">
                <c:v>9.844217648675283</c:v>
              </c:pt>
              <c:pt idx="52">
                <c:v>10.037241524139501</c:v>
              </c:pt>
              <c:pt idx="53">
                <c:v>10.230265399603722</c:v>
              </c:pt>
              <c:pt idx="54">
                <c:v>10.423289275067942</c:v>
              </c:pt>
              <c:pt idx="55">
                <c:v>10.616313150532164</c:v>
              </c:pt>
              <c:pt idx="56">
                <c:v>10.80933702599639</c:v>
              </c:pt>
              <c:pt idx="57">
                <c:v>11.002360901460609</c:v>
              </c:pt>
              <c:pt idx="58">
                <c:v>11.19538477692483</c:v>
              </c:pt>
              <c:pt idx="59">
                <c:v>11.388408652389051</c:v>
              </c:pt>
              <c:pt idx="60">
                <c:v>11.581432527853272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〈y〉/a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RMS 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</c:v>
              </c:pt>
              <c:pt idx="1">
                <c:v>3.0106226262358384</c:v>
              </c:pt>
              <c:pt idx="2">
                <c:v>3.042267968212647</c:v>
              </c:pt>
              <c:pt idx="3">
                <c:v>3.0942910946497233</c:v>
              </c:pt>
              <c:pt idx="4">
                <c:v>3.165687533799066</c:v>
              </c:pt>
              <c:pt idx="5">
                <c:v>3.2551827813625756</c:v>
              </c:pt>
              <c:pt idx="6">
                <c:v>3.3613315090473193</c:v>
              </c:pt>
              <c:pt idx="7">
                <c:v>3.482611273535364</c:v>
              </c:pt>
              <c:pt idx="8">
                <c:v>3.617500552398472</c:v>
              </c:pt>
              <c:pt idx="9">
                <c:v>3.7645366787769827</c:v>
              </c:pt>
              <c:pt idx="10">
                <c:v>3.9223538545518273</c:v>
              </c:pt>
              <c:pt idx="11">
                <c:v>4.089704183676892</c:v>
              </c:pt>
              <c:pt idx="12">
                <c:v>4.265465748878698</c:v>
              </c:pt>
              <c:pt idx="13">
                <c:v>4.448641702243136</c:v>
              </c:pt>
              <c:pt idx="14">
                <c:v>4.6383537090461795</c:v>
              </c:pt>
              <c:pt idx="15">
                <c:v>4.8338322747810105</c:v>
              </c:pt>
              <c:pt idx="16">
                <c:v>5.034405723261982</c:v>
              </c:pt>
              <c:pt idx="17">
                <c:v>5.239488973871192</c:v>
              </c:pt>
              <c:pt idx="18">
                <c:v>5.448572806105187</c:v>
              </c:pt>
              <c:pt idx="19">
                <c:v>5.661213980653483</c:v>
              </c:pt>
              <c:pt idx="20">
                <c:v>5.877026377452318</c:v>
              </c:pt>
              <c:pt idx="21">
                <c:v>6.095673182102247</c:v>
              </c:pt>
              <c:pt idx="22">
                <c:v>6.316860077596866</c:v>
              </c:pt>
              <c:pt idx="23">
                <c:v>6.540329359602618</c:v>
              </c:pt>
              <c:pt idx="24">
                <c:v>6.765854877207259</c:v>
              </c:pt>
              <c:pt idx="25">
                <c:v>6.993237698089839</c:v>
              </c:pt>
              <c:pt idx="26">
                <c:v>7.2223024015715955</c:v>
              </c:pt>
              <c:pt idx="27">
                <c:v>7.452893911274677</c:v>
              </c:pt>
              <c:pt idx="28">
                <c:v>7.684874788888224</c:v>
              </c:pt>
              <c:pt idx="29">
                <c:v>7.918122920507792</c:v>
              </c:pt>
              <c:pt idx="30">
                <c:v>8.152529536460335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</c:v>
              </c:pt>
              <c:pt idx="1">
                <c:v>3.000250161127925</c:v>
              </c:pt>
              <c:pt idx="2">
                <c:v>3.001000519392249</c:v>
              </c:pt>
              <c:pt idx="3">
                <c:v>3.0022506997473144</c:v>
              </c:pt>
              <c:pt idx="4">
                <c:v>3.004000078157489</c:v>
              </c:pt>
              <c:pt idx="5">
                <c:v>3.0062477831515206</c:v>
              </c:pt>
              <c:pt idx="6">
                <c:v>3.00899269798598</c:v>
              </c:pt>
              <c:pt idx="7">
                <c:v>3.0122334634053067</c:v>
              </c:pt>
              <c:pt idx="8">
                <c:v>3.01596848098265</c:v>
              </c:pt>
              <c:pt idx="9">
                <c:v>3.020195917022458</c:v>
              </c:pt>
              <c:pt idx="10">
                <c:v>3.024913707002852</c:v>
              </c:pt>
              <c:pt idx="11">
                <c:v>3.0301195605329867</c:v>
              </c:pt>
              <c:pt idx="12">
                <c:v>3.0358109667981275</c:v>
              </c:pt>
              <c:pt idx="13">
                <c:v>3.041985200462885</c:v>
              </c:pt>
              <c:pt idx="14">
                <c:v>3.0486393280010886</c:v>
              </c:pt>
              <c:pt idx="15">
                <c:v>3.055770214419093</c:v>
              </c:pt>
              <c:pt idx="16">
                <c:v>3.063374530337936</c:v>
              </c:pt>
              <c:pt idx="17">
                <c:v>3.071448759398681</c:v>
              </c:pt>
              <c:pt idx="18">
                <c:v>3.0799892059545444</c:v>
              </c:pt>
              <c:pt idx="19">
                <c:v>3.088992003012891</c:v>
              </c:pt>
              <c:pt idx="20">
                <c:v>3.0984531203900674</c:v>
              </c:pt>
              <c:pt idx="21">
                <c:v>3.10836837304213</c:v>
              </c:pt>
              <c:pt idx="22">
                <c:v>3.1187334295348945</c:v>
              </c:pt>
              <c:pt idx="23">
                <c:v>3.129543820617418</c:v>
              </c:pt>
              <c:pt idx="24">
                <c:v>3.140794947863858</c:v>
              </c:pt>
              <c:pt idx="25">
                <c:v>3.1524820923497505</c:v>
              </c:pt>
              <c:pt idx="26">
                <c:v>3.1646004233300706</c:v>
              </c:pt>
              <c:pt idx="27">
                <c:v>3.1771450068878093</c:v>
              </c:pt>
              <c:pt idx="28">
                <c:v>3.190110814523486</c:v>
              </c:pt>
              <c:pt idx="29">
                <c:v>3.2034927316576716</c:v>
              </c:pt>
              <c:pt idx="30">
                <c:v>3.217285566020467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3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3"/>
        <c:majorUnit val="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相对平移参考态的重合度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0.00</c:formatCode>
              <c:ptCount val="31"/>
              <c:pt idx="0">
                <c:v>1.0000000000000009</c:v>
              </c:pt>
              <c:pt idx="1">
                <c:v>0.9982354691177964</c:v>
              </c:pt>
              <c:pt idx="2">
                <c:v>0.9929795089846105</c:v>
              </c:pt>
              <c:pt idx="3">
                <c:v>0.984342901991505</c:v>
              </c:pt>
              <c:pt idx="4">
                <c:v>0.9725034726382834</c:v>
              </c:pt>
              <c:pt idx="5">
                <c:v>0.9576966548540987</c:v>
              </c:pt>
              <c:pt idx="6">
                <c:v>0.9402037092003988</c:v>
              </c:pt>
              <c:pt idx="7">
                <c:v>0.9203387051834784</c:v>
              </c:pt>
              <c:pt idx="8">
                <c:v>0.8984353559104562</c:v>
              </c:pt>
              <c:pt idx="9">
                <c:v>0.8748346298177185</c:v>
              </c:pt>
              <c:pt idx="10">
                <c:v>0.8498738210894335</c:v>
              </c:pt>
              <c:pt idx="11">
                <c:v>0.8238774928755461</c:v>
              </c:pt>
              <c:pt idx="12">
                <c:v>0.7971504606496349</c:v>
              </c:pt>
              <c:pt idx="13">
                <c:v>0.7699727848006849</c:v>
              </c:pt>
              <c:pt idx="14">
                <c:v>0.7425966024662298</c:v>
              </c:pt>
              <c:pt idx="15">
                <c:v>0.7152445463578185</c:v>
              </c:pt>
              <c:pt idx="16">
                <c:v>0.6881094630359244</c:v>
              </c:pt>
              <c:pt idx="17">
                <c:v>0.6613551421203839</c:v>
              </c:pt>
              <c:pt idx="18">
                <c:v>0.6351177891113288</c:v>
              </c:pt>
              <c:pt idx="19">
                <c:v>0.6095080078506941</c:v>
              </c:pt>
              <c:pt idx="20">
                <c:v>0.5846130968629312</c:v>
              </c:pt>
              <c:pt idx="21">
                <c:v>0.5604995020493331</c:v>
              </c:pt>
              <c:pt idx="22">
                <c:v>0.5372153036265493</c:v>
              </c:pt>
              <c:pt idx="23">
                <c:v>0.5147926463650534</c:v>
              </c:pt>
              <c:pt idx="24">
                <c:v>0.4932500485924479</c:v>
              </c:pt>
              <c:pt idx="25">
                <c:v>0.47259454713078164</c:v>
              </c:pt>
              <c:pt idx="26">
                <c:v>0.4528236526903018</c:v>
              </c:pt>
              <c:pt idx="27">
                <c:v>0.4339271037396145</c:v>
              </c:pt>
              <c:pt idx="28">
                <c:v>0.41588841705512086</c:v>
              </c:pt>
              <c:pt idx="29">
                <c:v>0.39868624055448487</c:v>
              </c:pt>
              <c:pt idx="30">
                <c:v>0.38229551913806026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0.00</c:formatCode>
              <c:ptCount val="31"/>
              <c:pt idx="0">
                <c:v>1.0000000000000009</c:v>
              </c:pt>
              <c:pt idx="1">
                <c:v>0.9999722070324634</c:v>
              </c:pt>
              <c:pt idx="2">
                <c:v>0.9998888659805631</c:v>
              </c:pt>
              <c:pt idx="3">
                <c:v>0.9997500901184786</c:v>
              </c:pt>
              <c:pt idx="4">
                <c:v>0.9995560673153508</c:v>
              </c:pt>
              <c:pt idx="5">
                <c:v>0.9993070586720312</c:v>
              </c:pt>
              <c:pt idx="6">
                <c:v>0.9990033966487626</c:v>
              </c:pt>
              <c:pt idx="7">
                <c:v>0.9986454827183631</c:v>
              </c:pt>
              <c:pt idx="8">
                <c:v>0.9982337845871062</c:v>
              </c:pt>
              <c:pt idx="9">
                <c:v>0.9977688330316007</c:v>
              </c:pt>
              <c:pt idx="10">
                <c:v>0.997251218404518</c:v>
              </c:pt>
              <c:pt idx="11">
                <c:v>0.9966815868648301</c:v>
              </c:pt>
              <c:pt idx="12">
                <c:v>0.9960606363894896</c:v>
              </c:pt>
              <c:pt idx="13">
                <c:v>0.9953891126231782</c:v>
              </c:pt>
              <c:pt idx="14">
                <c:v>0.9946678046211436</c:v>
              </c:pt>
              <c:pt idx="15">
                <c:v>0.9938975405373932</c:v>
              </c:pt>
              <c:pt idx="16">
                <c:v>0.9930791833068303</c:v>
              </c:pt>
              <c:pt idx="17">
                <c:v>0.9922136263655656</c:v>
              </c:pt>
              <c:pt idx="18">
                <c:v>0.9913017894488224</c:v>
              </c:pt>
              <c:pt idx="19">
                <c:v>0.9903446145007699</c:v>
              </c:pt>
              <c:pt idx="20">
                <c:v>0.9893430617254668</c:v>
              </c:pt>
              <c:pt idx="21">
                <c:v>0.988298105803014</c:v>
              </c:pt>
              <c:pt idx="22">
                <c:v>0.9872107322901481</c:v>
              </c:pt>
              <c:pt idx="23">
                <c:v>0.9860819342199059</c:v>
              </c:pt>
              <c:pt idx="24">
                <c:v>0.9849127089107712</c:v>
              </c:pt>
              <c:pt idx="25">
                <c:v>0.9837040549919001</c:v>
              </c:pt>
              <c:pt idx="26">
                <c:v>0.9824569696476104</c:v>
              </c:pt>
              <c:pt idx="27">
                <c:v>0.9811724460813898</c:v>
              </c:pt>
              <c:pt idx="28">
                <c:v>0.9798514711971014</c:v>
              </c:pt>
              <c:pt idx="29">
                <c:v>0.978495023492977</c:v>
              </c:pt>
              <c:pt idx="30">
                <c:v>0.9771040711622112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0.2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9511D-5DD0-4799-93DD-58BC77DC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二维铁磁体中的单磁子传播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93D26-4534-4430-960D-402EEE27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5B5C7-82B7-4A4A-A73F-3CCF4765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中期报告　原理 PDF 与实际格点传播模拟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971EA-9798-43CA-9EF7-E76BC929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F4DB2-0ABE-4596-81CD-25A511B1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076325"/>
            <a:ext cx="1123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交换作用、色散与波包的移动和展宽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2892F-31B2-4B74-8FDC-152BDA3DDB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c364bc9ca4de0"/>
          <a:stretch xmlns:a="http://schemas.openxmlformats.org/drawingml/2006/main"/>
        </p:blipFill>
        <p:spPr>
          <a:xfrm xmlns:a="http://schemas.openxmlformats.org/drawingml/2006/main">
            <a:off x="1792189" y="1695450"/>
            <a:ext cx="8569521" cy="33623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D2905-0D76-42C7-9278-91379B2427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087bef49eb4218"/>
          <a:stretch xmlns:a="http://schemas.openxmlformats.org/drawingml/2006/main"/>
        </p:blipFill>
        <p:spPr>
          <a:xfrm xmlns:a="http://schemas.openxmlformats.org/drawingml/2006/main">
            <a:off x="1868199" y="5295900"/>
            <a:ext cx="8512752" cy="828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0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FB775-2D5A-4E5C-AB9B-A4E7182C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库仑交换、能级分裂与自旋耦合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60682-0119-4B07-BAB1-B2DE5748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789AF-5D57-42CD-AB4C-1E292D37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1–3 页，式 (2)、(3)、(11)、(14)、(20)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38780-CEF3-4D6F-BAF7-45307137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70218-8696-472A-A283-A66A25DB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07632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固定轨道，各有一个电子。矩阵基底：↑↑、↑↓、↓↑、↓↓。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4D56C-CD70-4741-A137-7634B86BA7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146ea13244178"/>
          <a:stretch xmlns:a="http://schemas.openxmlformats.org/drawingml/2006/main"/>
        </p:blipFill>
        <p:spPr>
          <a:xfrm xmlns:a="http://schemas.openxmlformats.org/drawingml/2006/main">
            <a:off x="654024" y="1562100"/>
            <a:ext cx="5702352" cy="13430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38D50-69D0-43B7-81F7-8344986274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7957a810842b0"/>
          <a:stretch xmlns:a="http://schemas.openxmlformats.org/drawingml/2006/main"/>
        </p:blipFill>
        <p:spPr>
          <a:xfrm xmlns:a="http://schemas.openxmlformats.org/drawingml/2006/main">
            <a:off x="619125" y="3175156"/>
            <a:ext cx="5572125" cy="2136462"/>
          </a:xfrm>
          <a:prstGeom xmlns:a="http://schemas.openxmlformats.org/drawingml/2006/main" prst="rect">
            <a:avLst/>
          </a:prstGeom>
        </p:spPr>
      </p:pic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8B91B309-2EF1-4E0C-BF2C-CAF03ABA39CC}"/>
              </a:ext>
            </a:extLst>
          </p:cNvPr>
          <p:cNvGraphicFramePr/>
          <p:nvPr/>
        </p:nvGraphicFramePr>
        <p:xfrm>
          <a:off xmlns:a="http://schemas.openxmlformats.org/drawingml/2006/main" x="7000875" y="1428750"/>
          <a:ext xmlns:a="http://schemas.openxmlformats.org/drawingml/2006/main" cx="47625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e857d10b4d4d46"/>
          </a:graphicData>
        </a:graphic>
      </p:graphicFrame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F2A11-9AD2-476C-AE57-8CC82F1166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ba6265c40449b"/>
          <a:stretch xmlns:a="http://schemas.openxmlformats.org/drawingml/2006/main"/>
        </p:blipFill>
        <p:spPr>
          <a:xfrm xmlns:a="http://schemas.openxmlformats.org/drawingml/2006/main">
            <a:off x="7533631" y="4086225"/>
            <a:ext cx="3525537" cy="7905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8033C-51EE-4643-92F5-32B09101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095875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8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8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J = 2K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8BA12-B51B-4B85-AA3E-F13D3F8D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66F17-5F15-4F7B-8B42-D260B7C2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K &gt; 0 时三重态更低；去掉共同能量常数后，得到铁磁 Heisenberg 交换。</a:t>
            </a:r>
          </a:p>
        </p:txBody>
      </p:sp>
    </p:spTree>
    <p:extLst>
      <p:ext uri="{BB962C8B-B14F-4D97-AF65-F5344CB8AC3E}">
        <p14:creationId xmlns:p14="http://schemas.microsoft.com/office/powerpoint/2010/main" val="8234234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52C2F-39FD-47BB-886E-3716CE63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晶格模型与单翻转子空间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C16D4-E278-4CD4-A1CA-7E508AC3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B728A-7DF8-4A00-A588-228D93AA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3–4 页，式 (22)、(25)、(26)、(29)　A01 局部示意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08F7E-9957-42F7-8A3F-EE3A0345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0F8FA-B3F7-4391-9DF0-C0DD5093CD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0dcf7fd0c4da2"/>
          <a:stretch xmlns:a="http://schemas.openxmlformats.org/drawingml/2006/main"/>
        </p:blipFill>
        <p:spPr>
          <a:xfrm xmlns:a="http://schemas.openxmlformats.org/drawingml/2006/main">
            <a:off x="3452676" y="1152525"/>
            <a:ext cx="5191397" cy="7239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5369E-6F1A-42B6-91AA-C5A2CEEB5B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84b42e2bf41fb"/>
          <a:stretch xmlns:a="http://schemas.openxmlformats.org/drawingml/2006/main"/>
        </p:blipFill>
        <p:spPr>
          <a:xfrm xmlns:a="http://schemas.openxmlformats.org/drawingml/2006/main">
            <a:off x="361950" y="2217476"/>
            <a:ext cx="5372100" cy="2918348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9301A-E3DE-4ED6-9662-ED50E5950D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d5d16c78d4372"/>
          <a:stretch xmlns:a="http://schemas.openxmlformats.org/drawingml/2006/main"/>
        </p:blipFill>
        <p:spPr>
          <a:xfrm xmlns:a="http://schemas.openxmlformats.org/drawingml/2006/main">
            <a:off x="6106477" y="2066925"/>
            <a:ext cx="5522595" cy="111442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2868E-F099-4A4A-93E6-6C64D28027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2827e05b74658"/>
          <a:stretch xmlns:a="http://schemas.openxmlformats.org/drawingml/2006/main"/>
        </p:blipFill>
        <p:spPr>
          <a:xfrm xmlns:a="http://schemas.openxmlformats.org/drawingml/2006/main">
            <a:off x="6010275" y="3509213"/>
            <a:ext cx="5715000" cy="706348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8EC3E-7D65-4BA0-B399-801C6923F2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79cae651c42d9"/>
          <a:stretch xmlns:a="http://schemas.openxmlformats.org/drawingml/2006/main"/>
        </p:blipFill>
        <p:spPr>
          <a:xfrm xmlns:a="http://schemas.openxmlformats.org/drawingml/2006/main">
            <a:off x="7652497" y="4581525"/>
            <a:ext cx="2259106" cy="685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BFBB5-1199-4795-BA3A-0B2E8B7E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457825"/>
            <a:ext cx="11191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左图为局部模型示意；数值波场保留全部格点。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9BD0F-0188-4C07-BA78-1AB96448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C986A-D530-44A7-B6F0-1A207FFD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单翻转态的叠加始终留在同一子空间，能够精确计算其概率振幅。</a:t>
            </a:r>
          </a:p>
        </p:txBody>
      </p:sp>
    </p:spTree>
    <p:extLst>
      <p:ext uri="{BB962C8B-B14F-4D97-AF65-F5344CB8AC3E}">
        <p14:creationId xmlns:p14="http://schemas.microsoft.com/office/powerpoint/2010/main" val="1685376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565CE-5669-48F0-90BE-5E7AC372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运动方程与单磁子色散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686F1-1AFA-43EF-8F17-99B8B6F1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E6677-B8B2-40A9-AFC2-7BE8FE13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4–5 页，式 (28)、(35)–(39)　本页沿用 ℏ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64EC5-A890-4AE9-A3D0-0933A9A9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B3A3D-67B5-4322-BD7F-A05B9FC515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23e8058f844b1"/>
          <a:stretch xmlns:a="http://schemas.openxmlformats.org/drawingml/2006/main"/>
        </p:blipFill>
        <p:spPr>
          <a:xfrm xmlns:a="http://schemas.openxmlformats.org/drawingml/2006/main">
            <a:off x="2922827" y="1190625"/>
            <a:ext cx="6241571" cy="14382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3C3FE-F1AB-40FE-964B-0F7C2C97BA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3a65ba86f484c"/>
          <a:stretch xmlns:a="http://schemas.openxmlformats.org/drawingml/2006/main"/>
        </p:blipFill>
        <p:spPr>
          <a:xfrm xmlns:a="http://schemas.openxmlformats.org/drawingml/2006/main">
            <a:off x="1526381" y="2857500"/>
            <a:ext cx="4138613" cy="7524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72EB0-07DD-42EB-91EB-B98AC999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24175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最近邻位移只产生相位因子。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两个相反方向合并成为余弦项。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29E5A-3472-423E-90D4-4D7F39C850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d2a113a5e4b7d"/>
          <a:stretch xmlns:a="http://schemas.openxmlformats.org/drawingml/2006/main"/>
        </p:blipFill>
        <p:spPr>
          <a:xfrm xmlns:a="http://schemas.openxmlformats.org/drawingml/2006/main">
            <a:off x="2581482" y="3886200"/>
            <a:ext cx="6971886" cy="619125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AAFE6-425F-4A2C-8C85-F971A0EB20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416fbeccc41ee"/>
          <a:stretch xmlns:a="http://schemas.openxmlformats.org/drawingml/2006/main"/>
        </p:blipFill>
        <p:spPr>
          <a:xfrm xmlns:a="http://schemas.openxmlformats.org/drawingml/2006/main">
            <a:off x="2854001" y="4714875"/>
            <a:ext cx="6350648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283ED-68EC-4525-854A-F1A2B599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A89BF-E760-4654-921E-C06D97CC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相对基态的激发能决定传播；共同的基态能量仅改变整体相位。</a:t>
            </a:r>
          </a:p>
        </p:txBody>
      </p:sp>
    </p:spTree>
    <p:extLst>
      <p:ext uri="{BB962C8B-B14F-4D97-AF65-F5344CB8AC3E}">
        <p14:creationId xmlns:p14="http://schemas.microsoft.com/office/powerpoint/2010/main" val="2085002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7040B-DE6D-4679-989E-463E37FC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色散的斜率决定群速度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FEBC7-27BA-4A1F-8F94-21A5125A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F792B-E39A-4482-B426-ED6E5779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色散 ε/Jₓ = 1−cos qₓ+η(1−cos qᵧ)，q = ka，η = Jᵧ/Jₓ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51847-8A94-496F-BF92-B1503C22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B887F-8DCD-4EB7-81FC-46EC84C9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2095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 = ε/Jₓ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C1B84-B91B-41EA-A1A3-2FBCE1EB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057275"/>
            <a:ext cx="1666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q = ka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52F37-680F-49FB-9D6F-D1B70F3E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057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τ = Jₓt/ℏ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34285-1B63-4F2D-A453-D9E77BC7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57275"/>
            <a:ext cx="3905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u = ℏv/(Jₓa)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3E6A6-A794-4964-BCAB-E70D258B37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ed20ea41f41e8"/>
          <a:stretch xmlns:a="http://schemas.openxmlformats.org/drawingml/2006/main"/>
        </p:blipFill>
        <p:spPr>
          <a:xfrm xmlns:a="http://schemas.openxmlformats.org/drawingml/2006/main">
            <a:off x="677977" y="1628775"/>
            <a:ext cx="7321322" cy="3695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B3DC9-B34F-4D25-977D-D75649B6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762125"/>
            <a:ext cx="314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9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u = (sin qₓ, η sin qᵧ)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74B85-1BE7-4F0B-96DD-B45B997D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19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速度与方向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7BCC1C-8607-43A0-A9BD-A2D05069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289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群速度是色散的梯度。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改变 y 向传播速度。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72297-D555-4C79-925F-2910D0C8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162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带宽与长波极限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439C0-95CE-44D3-850B-F8B74226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7200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1 时带宽为 4Jₓ。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小波矢附近近似抛物面。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17B91-72E6-45E7-8F6F-2F721E09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704C7-2594-4137-84D3-8049D345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有限频宽波包的精确质心速度由整个频谱加权平均。</a:t>
            </a:r>
          </a:p>
        </p:txBody>
      </p:sp>
    </p:spTree>
    <p:extLst>
      <p:ext uri="{BB962C8B-B14F-4D97-AF65-F5344CB8AC3E}">
        <p14:creationId xmlns:p14="http://schemas.microsoft.com/office/powerpoint/2010/main" val="398737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E1030-0A9C-4956-B139-805BFB67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同一个波包：振幅波纹与概率包络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51443-322E-42F8-B250-7ACF44BC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D4547-9B9A-43AA-9DD0-5AEBBF80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W01　512×512，初始 RMS 宽度 10a，q₀=(0.7,0)，τ=30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513F4-920D-475D-B130-85114009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5A31E-3FD6-487B-95AB-0F2A066FB1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8ef50d91c4d6d"/>
          <a:stretch xmlns:a="http://schemas.openxmlformats.org/drawingml/2006/main"/>
        </p:blipFill>
        <p:spPr>
          <a:xfrm xmlns:a="http://schemas.openxmlformats.org/drawingml/2006/main">
            <a:off x="1492607" y="1123950"/>
            <a:ext cx="9187735" cy="4352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7FECD-0E36-453D-83EC-1D917257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 = exp(i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CD8B8-7352-4996-93E8-FB71B379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543550"/>
            <a:ext cx="257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F1C3B-D172-482D-A144-524995AA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483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1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562E1-8840-4BA5-BA04-491E122A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5435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t/ℏ)c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7F439-8503-4BFD-9A91-B98D98D6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435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A₀ = max|ψ(0)|，P₀ = A₀²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6FE95-22A2-4923-80CE-0621F72D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29325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Reψ 用于显示波纹，P 用于概率观测；固定单磁子态的横向自旋均值为零。</a:t>
            </a:r>
          </a:p>
        </p:txBody>
      </p:sp>
    </p:spTree>
    <p:extLst>
      <p:ext uri="{BB962C8B-B14F-4D97-AF65-F5344CB8AC3E}">
        <p14:creationId xmlns:p14="http://schemas.microsoft.com/office/powerpoint/2010/main" val="930821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C44B0-ECDC-49BC-BDA6-A7F0E205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单点激发形成多波矢干涉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6281E-26F3-4DC1-8C11-3AEC3811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A2DEE-953C-449E-8AF4-33A7878B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W04　单点翻转，η = 1，τ =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EEB54-4D12-43FE-BDBB-D2C27B20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12570-7A26-4558-8220-9F7F41FBD7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e3346579e4467"/>
          <a:stretch xmlns:a="http://schemas.openxmlformats.org/drawingml/2006/main"/>
        </p:blipFill>
        <p:spPr>
          <a:xfrm xmlns:a="http://schemas.openxmlformats.org/drawingml/2006/main">
            <a:off x="1189066" y="1123950"/>
            <a:ext cx="9794819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1AEC3-3089-41E3-B1E2-603F307F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39115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单点初态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170B6-EA05-4F99-9F56-E318ECF6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800725"/>
            <a:ext cx="5286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ψₘₙ(0)=δₘ₀δₙ₀。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各个波矢共同参与传播。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ED678-C876-48B7-9682-ACE7C886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9115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相干展开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FEFD6-7008-42BD-9ED0-E7514157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00725"/>
            <a:ext cx="5286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不同路径的振幅相加，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在空间中形成条纹与旁瓣。</a:t>
            </a:r>
          </a:p>
        </p:txBody>
      </p:sp>
    </p:spTree>
    <p:extLst>
      <p:ext uri="{BB962C8B-B14F-4D97-AF65-F5344CB8AC3E}">
        <p14:creationId xmlns:p14="http://schemas.microsoft.com/office/powerpoint/2010/main" val="1687895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0CB68-E809-446C-A1F7-B71AB1D4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传播前沿与弹道展宽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4D080-DA49-4A9E-B63E-BAF70013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B501C-D153-4B82-9254-DEF7FD74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单点初态 B07、B09　左图 η=1，右图 η=1、0.3、0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1D4C2-8882-47D8-B800-8554557B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E3CF7-86FD-4EFB-B75D-FB025D44E8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06f08181a47d4"/>
          <a:stretch xmlns:a="http://schemas.openxmlformats.org/drawingml/2006/main"/>
        </p:blipFill>
        <p:spPr>
          <a:xfrm xmlns:a="http://schemas.openxmlformats.org/drawingml/2006/main">
            <a:off x="323850" y="1825470"/>
            <a:ext cx="6286500" cy="2807011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23B114C-C808-4539-9423-7D564E001701}"/>
              </a:ext>
            </a:extLst>
          </p:cNvPr>
          <p:cNvGraphicFramePr/>
          <p:nvPr/>
        </p:nvGraphicFramePr>
        <p:xfrm>
          <a:off xmlns:a="http://schemas.openxmlformats.org/drawingml/2006/main" x="6724650" y="1219200"/>
          <a:ext xmlns:a="http://schemas.openxmlformats.org/drawingml/2006/main" cx="504825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1f7ff9e14a416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4D74E-271E-4374-A6B7-F67F255F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57825"/>
            <a:ext cx="5429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9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主要前沿：|x|/a ≈ 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B29AD-5A61-414D-84DF-D1DC4D89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57825"/>
            <a:ext cx="495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σₓ/a = τ/√2；σᵧ/a = ητ/√2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36AED-40B7-4A27-8EEB-7CB85501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3AFA7-AAA1-496F-839A-28B247D6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概率宽度与时间成正比；主要前沿和 RMS 宽度是不同的传播尺度。</a:t>
            </a:r>
          </a:p>
        </p:txBody>
      </p:sp>
    </p:spTree>
    <p:extLst>
      <p:ext uri="{BB962C8B-B14F-4D97-AF65-F5344CB8AC3E}">
        <p14:creationId xmlns:p14="http://schemas.microsoft.com/office/powerpoint/2010/main" val="10895987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F27B3-5BFF-4FA2-9ED1-EBA5F03A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Gaussian 包络、频宽与载波周期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ADB5F-A8D5-4906-BCDB-26360318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65723-F030-4462-AFF2-A0350E95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C02 图例中的宽度数值为 σ/a；新波场主要采用 σ=10a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0D0A5-AFA3-4B8C-93B5-14C50583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B5D51-1AAD-4CFF-90A0-8385C4BE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58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ψ(r,0) ∝ exp[−(x²+y²)/(4σ²)] exp(i k₀·r)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21952-B707-4229-BC75-0AF085A196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ff04f7d814716"/>
          <a:stretch xmlns:a="http://schemas.openxmlformats.org/drawingml/2006/main"/>
        </p:blipFill>
        <p:spPr>
          <a:xfrm xmlns:a="http://schemas.openxmlformats.org/drawingml/2006/main">
            <a:off x="1381547" y="1781175"/>
            <a:ext cx="9409855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B7CD6-1714-426E-9C8B-3385BBB6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本组主波场：σ=10a，q₀=(0.7,0)，沿 x 每个周期约含 9 个格点。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956F8-9484-4A71-BC99-A7CAB684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19050-0A34-4337-918A-04B6C316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较宽包络容纳更多载波周期；局部视窗与完整格点展示让波峰波谷可辨。</a:t>
            </a:r>
          </a:p>
        </p:txBody>
      </p:sp>
    </p:spTree>
    <p:extLst>
      <p:ext uri="{BB962C8B-B14F-4D97-AF65-F5344CB8AC3E}">
        <p14:creationId xmlns:p14="http://schemas.microsoft.com/office/powerpoint/2010/main" val="3614336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96964-D06B-412D-9FD2-019B5185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波纹与包络在共动坐标中的变化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46EC1-048D-4E35-AB11-6B20D371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6BCC9-61E6-468E-A499-52BD9C0C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W03　σ=10a，q₀=(0.7,0)，τ=0、30、60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1284A-5FDC-4AAC-ACEF-0EAD0367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39D95-87E8-4DA9-9688-237C8AB4AA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53f5a304045bd"/>
          <a:stretch xmlns:a="http://schemas.openxmlformats.org/drawingml/2006/main"/>
        </p:blipFill>
        <p:spPr>
          <a:xfrm xmlns:a="http://schemas.openxmlformats.org/drawingml/2006/main">
            <a:off x="400050" y="1654247"/>
            <a:ext cx="11372850" cy="32351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6341E-6500-41E8-A4B1-42627971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蓝线为 Reψ，橙色实线为当前包络，灰色虚线为初始包络。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E2EA0-882E-407D-A2CA-2CC7AFBB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0FDED-98E8-4FDC-998D-5FB3B56E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载波波峰与概率质心不必同速；传播位置与展宽应由概率分布度量。</a:t>
            </a:r>
          </a:p>
        </p:txBody>
      </p:sp>
    </p:spTree>
    <p:extLst>
      <p:ext uri="{BB962C8B-B14F-4D97-AF65-F5344CB8AC3E}">
        <p14:creationId xmlns:p14="http://schemas.microsoft.com/office/powerpoint/2010/main" val="10003371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436E33-32F1-402B-A3F6-88685D23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载波传播与概率质心运动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29553-4AA9-49BA-BF94-432983F0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CD3BF-4328-49E2-A66F-A18E8A44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W07　σ=10a，q₀=(0.7,0)，η=1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4E1EC-198E-4A7F-8EF5-7FE1ABBD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1CCF2-FBBF-41CF-A3D4-11AB94BF95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5f15df68848ac"/>
          <a:stretch xmlns:a="http://schemas.openxmlformats.org/drawingml/2006/main"/>
        </p:blipFill>
        <p:spPr>
          <a:xfrm xmlns:a="http://schemas.openxmlformats.org/drawingml/2006/main">
            <a:off x="352425" y="1830214"/>
            <a:ext cx="7572375" cy="2721322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9A36552-F9BD-4986-9297-A7BFADA1D312}"/>
              </a:ext>
            </a:extLst>
          </p:cNvPr>
          <p:cNvGraphicFramePr/>
          <p:nvPr/>
        </p:nvGraphicFramePr>
        <p:xfrm>
          <a:off xmlns:a="http://schemas.openxmlformats.org/drawingml/2006/main" x="8058150" y="1362075"/>
          <a:ext xmlns:a="http://schemas.openxmlformats.org/drawingml/2006/main" cx="37338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ecd2698950439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AE254C-67D9-4828-A961-B433CBEC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53000"/>
            <a:ext cx="3533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谱平均速度 ūₓ = 0.643413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τ=60 时 〈x〉=38.6048a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E1032-62FC-42B9-8850-1B26FED3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CC19C-CD35-418D-9D13-8159E686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动画同时展示 Reψ 和 P，定量位移使用 P 的质心。</a:t>
            </a:r>
          </a:p>
        </p:txBody>
      </p:sp>
    </p:spTree>
    <p:extLst>
      <p:ext uri="{BB962C8B-B14F-4D97-AF65-F5344CB8AC3E}">
        <p14:creationId xmlns:p14="http://schemas.microsoft.com/office/powerpoint/2010/main" val="6721643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1E3AC-9AE4-47B1-B856-C1FFA6FF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初始宽度如何影响展宽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95E4B-E2E1-4D0A-80DC-5B606E1A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1FBE6-1FA1-4DA4-AF80-EB15FC83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q₀=(0.7,0)，η=1　左：σ=4a；右：σ=3a、6a、10a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6A04B-EC30-4E82-AB5C-30C45ACE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E4DF4-AF30-47F0-AB82-074103D8C9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0beed2eaa410f"/>
          <a:stretch xmlns:a="http://schemas.openxmlformats.org/drawingml/2006/main"/>
        </p:blipFill>
        <p:spPr>
          <a:xfrm xmlns:a="http://schemas.openxmlformats.org/drawingml/2006/main">
            <a:off x="352425" y="1704451"/>
            <a:ext cx="7058025" cy="2563273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CC0C4D0-C657-4199-A48D-A2A08C0EB318}"/>
              </a:ext>
            </a:extLst>
          </p:cNvPr>
          <p:cNvGraphicFramePr/>
          <p:nvPr/>
        </p:nvGraphicFramePr>
        <p:xfrm>
          <a:off xmlns:a="http://schemas.openxmlformats.org/drawingml/2006/main" x="7620000" y="1295400"/>
          <a:ext xmlns:a="http://schemas.openxmlformats.org/drawingml/2006/main" cx="4162425" cy="3419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80fca64e714610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332C5-1C43-4C0D-BD55-1E6C6C58E17F}"/>
              </a:ext>
            </a:extLst>
          </p:cNvPr>
          <p:cNvGraphicFramePr/>
          <p:nvPr/>
        </p:nvGraphicFramePr>
        <p:xfrm>
          <a:off xmlns:a="http://schemas.openxmlformats.org/drawingml/2006/main" x="447675" y="5048250"/>
          <a:ext xmlns:a="http://schemas.openxmlformats.org/drawingml/2006/main" cx="11287125" cy="742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714625"/>
                <a:gridCol w="2714625"/>
                <a:gridCol w="2714625"/>
              </a:tblGrid>
              <a:tr h="371475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 RMS 宽度/a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37147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σₓ(60)/σₓ(0)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2.718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1.185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E3D4E-ADF5-4F50-95BE-ADF21403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7DA5D-65C0-492E-B8DA-A93EAEF8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更窄频谱通常带来更小的相对展宽，同时需要更大的初始空间范围。</a:t>
            </a:r>
          </a:p>
        </p:txBody>
      </p:sp>
    </p:spTree>
    <p:extLst>
      <p:ext uri="{BB962C8B-B14F-4D97-AF65-F5344CB8AC3E}">
        <p14:creationId xmlns:p14="http://schemas.microsoft.com/office/powerpoint/2010/main" val="19825637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F5606-0C8E-4EFB-AEF4-6B91ACF1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各向异性改变波包的传播方向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DA05F-22CB-4713-970E-9197DF76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72B93-272D-46E8-B8D3-5D0C5BF7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W05　σ=10a，q₀=(0.7,0.7)，τ=60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7CF96-8CBE-4027-BCF4-F2ED26CB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C0319-F9FB-4190-B83C-BBCF0108A6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9222edf3046aa"/>
          <a:stretch xmlns:a="http://schemas.openxmlformats.org/drawingml/2006/main"/>
        </p:blipFill>
        <p:spPr>
          <a:xfrm xmlns:a="http://schemas.openxmlformats.org/drawingml/2006/main">
            <a:off x="1212998" y="1114425"/>
            <a:ext cx="9746955" cy="42767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653F3-8ADF-4AC6-AD19-BFE4558F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52450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相同载波方向 45°；包络传播方向随 η 从 45° 改变到 16.70°。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14518-44D4-4779-A04B-697102B0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DA43F-6800-4B21-87A4-8510FB4F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中心附近，条纹法线近似平行 q₀；包络轨迹由谱平均群速度决定。</a:t>
            </a:r>
          </a:p>
        </p:txBody>
      </p:sp>
    </p:spTree>
    <p:extLst>
      <p:ext uri="{BB962C8B-B14F-4D97-AF65-F5344CB8AC3E}">
        <p14:creationId xmlns:p14="http://schemas.microsoft.com/office/powerpoint/2010/main" val="8811358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FE43B-0A60-4B83-BDBC-1DA51012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方向变化的动态与定量对照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158A8-7DE6-4E8E-A1CF-77FF437E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0CF72-D77C-4BFF-A19D-6105464B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新波场 W08　η=1 与 0.3，σ=10a，q₀=(0.7,0.7)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4DFB1-FEB4-45AC-854F-4D0B58A5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9FF04-FA01-47B6-B4CC-82FFC2A7F6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e918eb4f24243"/>
          <a:stretch xmlns:a="http://schemas.openxmlformats.org/drawingml/2006/main"/>
        </p:blipFill>
        <p:spPr>
          <a:xfrm xmlns:a="http://schemas.openxmlformats.org/drawingml/2006/main">
            <a:off x="361950" y="1484426"/>
            <a:ext cx="7572375" cy="3593873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7D84384-379D-4969-97EB-5214C43195E2}"/>
              </a:ext>
            </a:extLst>
          </p:cNvPr>
          <p:cNvGraphicFramePr/>
          <p:nvPr/>
        </p:nvGraphicFramePr>
        <p:xfrm>
          <a:off xmlns:a="http://schemas.openxmlformats.org/drawingml/2006/main" x="8077200" y="1381125"/>
          <a:ext xmlns:a="http://schemas.openxmlformats.org/drawingml/2006/main" cx="3714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d4f873a31e493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F4B3D-6733-4E13-AD48-35D1C3CE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67275"/>
            <a:ext cx="3600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τ=60：</a:t>
            </a:r>
          </a:p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η=1：〈y〉=38.6048a</a:t>
            </a:r>
          </a:p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η=0.3：〈y〉=11.5814a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68068-F010-4CDE-A4EC-E3704E81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6D9CF-BA6C-4921-9257-A0D9E279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降低 y 向交换会减小 y 向位移；它不改变初始载波的波矢方向。</a:t>
            </a:r>
          </a:p>
        </p:txBody>
      </p:sp>
    </p:spTree>
    <p:extLst>
      <p:ext uri="{BB962C8B-B14F-4D97-AF65-F5344CB8AC3E}">
        <p14:creationId xmlns:p14="http://schemas.microsoft.com/office/powerpoint/2010/main" val="1097808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806D5-196A-40C5-822B-ECBDB478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展宽来自速度差与相对相位积累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DB50B-2BD6-488A-837E-D2833C71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A2086-3EEF-455D-A862-FF1971E8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C12：σ=4a 的相位示例　e=ε/Jₓ，τ=Jₓt/ℏ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35D3A-F0A4-439E-8D39-A52C1B54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445E3-F335-46BE-95D5-F53BE43C74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aa0cf35bc450c"/>
          <a:stretch xmlns:a="http://schemas.openxmlformats.org/drawingml/2006/main"/>
        </p:blipFill>
        <p:spPr>
          <a:xfrm xmlns:a="http://schemas.openxmlformats.org/drawingml/2006/main">
            <a:off x="1334385" y="1104900"/>
            <a:ext cx="9513704" cy="3448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EEE29-8894-4C54-8DAF-B0DD9A91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2975"/>
            <a:ext cx="1119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Var[n(τ)] = Var[n(0)] + τ² Var(u)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F9534-2D15-419E-86D6-8A5209AA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391150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n=x/a，逐方向使用。该式适用于初始位置—速度协方差为零的 Gaussian。</a:t>
            </a:r>
          </a:p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各模式权重不变，相对相位仍改变实空间轮廓；动力学本身保持线性。</a:t>
            </a:r>
          </a:p>
        </p:txBody>
      </p:sp>
    </p:spTree>
    <p:extLst>
      <p:ext uri="{BB962C8B-B14F-4D97-AF65-F5344CB8AC3E}">
        <p14:creationId xmlns:p14="http://schemas.microsoft.com/office/powerpoint/2010/main" val="20729918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3E345-77A5-45DA-A5FA-AE142FFA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零二阶曲率点的有限时间保形探索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3E66D-09DF-42EE-910C-4C9B6C33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CCEA4-0CE3-4798-93BD-8C65D191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C13　两组初始 RMS 宽度均为 3a，η=1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DBB65-16AE-4AAB-B4ED-A4ACA615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32CAB-9D3D-4796-B3AE-A68ECDCD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19175"/>
            <a:ext cx="1123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∂²e/∂qₓ² = cos qₓ，∂²e/∂qᵧ² = η cos qᵧ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0D04AD6-18C7-4A39-B308-B580FE693A8B}"/>
              </a:ext>
            </a:extLst>
          </p:cNvPr>
          <p:cNvGraphicFramePr/>
          <p:nvPr/>
        </p:nvGraphicFramePr>
        <p:xfrm>
          <a:off xmlns:a="http://schemas.openxmlformats.org/drawingml/2006/main" x="381000" y="1400175"/>
          <a:ext xmlns:a="http://schemas.openxmlformats.org/drawingml/2006/main" cx="5495925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cd1aacfe234046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B7BB101F-987F-44C2-B013-1BAC35D0A660}"/>
              </a:ext>
            </a:extLst>
          </p:cNvPr>
          <p:cNvGraphicFramePr/>
          <p:nvPr/>
        </p:nvGraphicFramePr>
        <p:xfrm>
          <a:off xmlns:a="http://schemas.openxmlformats.org/drawingml/2006/main" x="6238875" y="1400175"/>
          <a:ext xmlns:a="http://schemas.openxmlformats.org/drawingml/2006/main" cx="552450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27ee4e837f4c1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BFE41-F59B-4702-A305-AD4DE8D8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762500"/>
            <a:ext cx="11249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F = |〈ψ平移参考 | ψ(τ)〉|²，包含相对相位变化。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F2AB0-C9D1-4FD9-BADC-CF713180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314950"/>
            <a:ext cx="11249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τ=60：普通中心 F=0.3823；零曲率点 F=0.9771。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503091-16FB-481C-8604-7F228BAC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804A7-3C32-43A8-A4C4-FBD526F9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二阶项消失可以减慢形变，高阶色散仍限制可用的保形时间。</a:t>
            </a:r>
          </a:p>
        </p:txBody>
      </p:sp>
    </p:spTree>
    <p:extLst>
      <p:ext uri="{BB962C8B-B14F-4D97-AF65-F5344CB8AC3E}">
        <p14:creationId xmlns:p14="http://schemas.microsoft.com/office/powerpoint/2010/main" val="15446828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D4A13-49EC-4FCA-BC01-D0C08D77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数值结果的独立核验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3ED13-0F12-491E-AA65-4C6DEAB4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62EA4-C608-4126-8D56-8FF5900F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左：B13 解析核对照　右：新增密集波场 checks.json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3B544-20B9-486D-8972-2B78601E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A88D1-C482-4443-979C-92AB96B9B6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09521c83e46b7"/>
          <a:stretch xmlns:a="http://schemas.openxmlformats.org/drawingml/2006/main"/>
        </p:blipFill>
        <p:spPr>
          <a:xfrm xmlns:a="http://schemas.openxmlformats.org/drawingml/2006/main">
            <a:off x="1842021" y="1209675"/>
            <a:ext cx="4145507" cy="37147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90567-A7B3-4D0D-9697-1F0A25313199}"/>
              </a:ext>
            </a:extLst>
          </p:cNvPr>
          <p:cNvGraphicFramePr/>
          <p:nvPr/>
        </p:nvGraphicFramePr>
        <p:xfrm>
          <a:off xmlns:a="http://schemas.openxmlformats.org/drawingml/2006/main" x="7743825" y="1485900"/>
          <a:ext xmlns:a="http://schemas.openxmlformats.org/drawingml/2006/main" cx="401955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1943100"/>
              </a:tblGrid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新增波场检查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最大误差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1.33×10⁻¹⁵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512→1024 末态振幅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L∞ &lt; 5.82×10⁻¹⁷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点激发 Bessel 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L∞ ≈ 2.10×10⁻¹⁶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BC51B-80E6-44F5-8E7B-9CDE4CA2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11163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真实格点直接显示，无连续插值。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固定色标与相位约定，全程不按峰值重标度。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3F166-2C42-49F9-BDFD-637EEAA5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8B749-3D51-4206-993B-F43044EF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扩大盒、独立传播核与概率矩共同检查当前模型和时间范围内的计算。</a:t>
            </a:r>
          </a:p>
        </p:txBody>
      </p:sp>
    </p:spTree>
    <p:extLst>
      <p:ext uri="{BB962C8B-B14F-4D97-AF65-F5344CB8AC3E}">
        <p14:creationId xmlns:p14="http://schemas.microsoft.com/office/powerpoint/2010/main" val="3802312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F4D10-51C1-4443-8722-26392746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物理认识与后续研究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C94B6-5DE7-4734-80B9-21C43AC1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5AA3D-13CD-4D90-9AE1-47B9683F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理论：原理 PDF 第 1–5 页　模拟：A/B/C 与 dense-wave 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0A732-0A0C-4BB2-AEEB-53713BFD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8A646-3122-446D-8ED3-AC31FD8F0350}"/>
              </a:ext>
            </a:extLst>
          </p:cNvPr>
          <p:cNvGraphicFramePr/>
          <p:nvPr/>
        </p:nvGraphicFramePr>
        <p:xfrm>
          <a:off xmlns:a="http://schemas.openxmlformats.org/drawingml/2006/main" x="438150" y="1266825"/>
          <a:ext xmlns:a="http://schemas.openxmlformats.org/drawingml/2006/main" cx="11306175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210425"/>
              </a:tblGrid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原理与证据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物理认识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库仑矩阵与 J=2K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交换作用耦合相邻翻转位置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余弦色散与群速度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色散斜率控制运动方向与速度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Reψ、概率和共动剖面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载波波纹、质心移动和包络展宽可以分别观察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等初宽的零曲率对照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有限时间形变减弱，高阶残差仍然存在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7E25E-2F95-41C3-998F-5D167BE8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86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851A5-5930-4799-A583-DBC947C9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95875"/>
            <a:ext cx="533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以给定初始宽度为约束，比较保形距离与高阶色散。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B93E1-A679-4F62-A586-3E1C189A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86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适用范围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65806-38CB-4B08-A896-AF5FA2D6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95875"/>
            <a:ext cx="533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均匀晶格、单磁子、零外场、无耗散；材料实现仍需具体参数。</a:t>
            </a:r>
          </a:p>
        </p:txBody>
      </p:sp>
    </p:spTree>
    <p:extLst>
      <p:ext uri="{BB962C8B-B14F-4D97-AF65-F5344CB8AC3E}">
        <p14:creationId xmlns:p14="http://schemas.microsoft.com/office/powerpoint/2010/main" val="1118770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2026-10-19T14:36:54.7400000Z</dcterms:created>
  <dcterms:modified xsi:type="dcterms:W3CDTF">2026-10-19T14:36:54.7400000Z</dcterms:modified>
</coreProperties>
</file>