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c0419f0f294f78" /><Relationship Type="http://schemas.openxmlformats.org/officeDocument/2006/relationships/extended-properties" Target="/docProps/app.xml" Id="R9a110def932c46f6" /><Relationship Type="http://schemas.openxmlformats.org/officeDocument/2006/relationships/officeDocument" Target="/ppt/presentation.xml" Id="Rf1eda3abd90440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fd2b563d74a46"/>
  </p:sldMasterIdLst>
  <p:notesMasterIdLst>
    <p:notesMasterId xmlns:r="http://schemas.openxmlformats.org/officeDocument/2006/relationships" r:id="Rbc3251c1c9f3442f"/>
  </p:notesMasterIdLst>
  <p:sldIdLst>
    <p:sldId xmlns:r="http://schemas.openxmlformats.org/officeDocument/2006/relationships" id="256" r:id="Reb058452ac3f44f1"/>
    <p:sldId xmlns:r="http://schemas.openxmlformats.org/officeDocument/2006/relationships" id="257" r:id="R4aeca580ebd54122"/>
    <p:sldId xmlns:r="http://schemas.openxmlformats.org/officeDocument/2006/relationships" id="258" r:id="R2edd899ec06b4837"/>
    <p:sldId xmlns:r="http://schemas.openxmlformats.org/officeDocument/2006/relationships" id="259" r:id="R1405b05dd2b7410b"/>
    <p:sldId xmlns:r="http://schemas.openxmlformats.org/officeDocument/2006/relationships" id="260" r:id="R06a9c512d4eb45e0"/>
    <p:sldId xmlns:r="http://schemas.openxmlformats.org/officeDocument/2006/relationships" id="261" r:id="Re7df6c075bf74cd7"/>
    <p:sldId xmlns:r="http://schemas.openxmlformats.org/officeDocument/2006/relationships" id="262" r:id="Ra69311be526d494a"/>
    <p:sldId xmlns:r="http://schemas.openxmlformats.org/officeDocument/2006/relationships" id="263" r:id="R8b5389940b634a3c"/>
    <p:sldId xmlns:r="http://schemas.openxmlformats.org/officeDocument/2006/relationships" id="264" r:id="R58d872906dcd471b"/>
    <p:sldId xmlns:r="http://schemas.openxmlformats.org/officeDocument/2006/relationships" id="265" r:id="R87bbc7a709d14c7e"/>
    <p:sldId xmlns:r="http://schemas.openxmlformats.org/officeDocument/2006/relationships" id="266" r:id="Re866353a8f8b466d"/>
    <p:sldId xmlns:r="http://schemas.openxmlformats.org/officeDocument/2006/relationships" id="267" r:id="R9256d9f06c2e480b"/>
    <p:sldId xmlns:r="http://schemas.openxmlformats.org/officeDocument/2006/relationships" id="268" r:id="R3edb5bb96cf94d43"/>
    <p:sldId xmlns:r="http://schemas.openxmlformats.org/officeDocument/2006/relationships" id="269" r:id="Rb1e98447e0034b42"/>
    <p:sldId xmlns:r="http://schemas.openxmlformats.org/officeDocument/2006/relationships" id="270" r:id="Re511c6885b6a4823"/>
    <p:sldId xmlns:r="http://schemas.openxmlformats.org/officeDocument/2006/relationships" id="271" r:id="Rd769814552c84c89"/>
    <p:sldId xmlns:r="http://schemas.openxmlformats.org/officeDocument/2006/relationships" id="272" r:id="R10ff1cbdb9df4a00"/>
    <p:sldId xmlns:r="http://schemas.openxmlformats.org/officeDocument/2006/relationships" id="273" r:id="R370c6af8433b42c4"/>
    <p:sldId xmlns:r="http://schemas.openxmlformats.org/officeDocument/2006/relationships" id="274" r:id="R1b307f40ef1c4fc5"/>
    <p:sldId xmlns:r="http://schemas.openxmlformats.org/officeDocument/2006/relationships" id="275" r:id="R60dd3ec62885494a"/>
    <p:sldId xmlns:r="http://schemas.openxmlformats.org/officeDocument/2006/relationships" id="276" r:id="R8a7e139cd0744893"/>
    <p:sldId xmlns:r="http://schemas.openxmlformats.org/officeDocument/2006/relationships" id="277" r:id="R2a44b507745c4aab"/>
    <p:sldId xmlns:r="http://schemas.openxmlformats.org/officeDocument/2006/relationships" id="278" r:id="R5116c84a6de04a84"/>
    <p:sldId xmlns:r="http://schemas.openxmlformats.org/officeDocument/2006/relationships" id="279" r:id="R0b5a4e7c166e4f83"/>
    <p:sldId xmlns:r="http://schemas.openxmlformats.org/officeDocument/2006/relationships" id="280" r:id="Rae9a87c8ed0449d7"/>
    <p:sldId xmlns:r="http://schemas.openxmlformats.org/officeDocument/2006/relationships" id="281" r:id="R51cd23ba5279490f"/>
    <p:sldId xmlns:r="http://schemas.openxmlformats.org/officeDocument/2006/relationships" id="282" r:id="Rfd53f75441034b1a"/>
    <p:sldId xmlns:r="http://schemas.openxmlformats.org/officeDocument/2006/relationships" id="283" r:id="Rc41a56bada664d01"/>
    <p:sldId xmlns:r="http://schemas.openxmlformats.org/officeDocument/2006/relationships" id="284" r:id="Rba2b60f96af1487e"/>
    <p:sldId xmlns:r="http://schemas.openxmlformats.org/officeDocument/2006/relationships" id="285" r:id="R3f8e83e210b3446a"/>
    <p:sldId xmlns:r="http://schemas.openxmlformats.org/officeDocument/2006/relationships" id="286" r:id="R7122ed55900e4e39"/>
    <p:sldId xmlns:r="http://schemas.openxmlformats.org/officeDocument/2006/relationships" id="287" r:id="R985ff18aba8c4d0b"/>
    <p:sldId xmlns:r="http://schemas.openxmlformats.org/officeDocument/2006/relationships" id="288" r:id="Rdfc06551593342cc"/>
    <p:sldId xmlns:r="http://schemas.openxmlformats.org/officeDocument/2006/relationships" id="289" r:id="R4d4e209f48ed419b"/>
    <p:sldId xmlns:r="http://schemas.openxmlformats.org/officeDocument/2006/relationships" id="290" r:id="Rba5d85d3d7984e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fed45584c48cc" /><Relationship Type="http://schemas.openxmlformats.org/officeDocument/2006/relationships/slideMaster" Target="/ppt/slideMasters/slideMaster1.xml" Id="R35ffd2b563d74a46" /><Relationship Type="http://schemas.openxmlformats.org/officeDocument/2006/relationships/notesMaster" Target="/ppt/notesMasters/notesMaster1.xml" Id="Rbc3251c1c9f3442f" /><Relationship Type="http://schemas.openxmlformats.org/officeDocument/2006/relationships/presProps" Target="/ppt/presProps.xml" Id="R70d60a1c177c426b" /><Relationship Type="http://schemas.openxmlformats.org/officeDocument/2006/relationships/tableStyles" Target="/ppt/tableStyles.xml" Id="Rd8371f78a23041eb" /><Relationship Type="http://schemas.openxmlformats.org/officeDocument/2006/relationships/slide" Target="/ppt/slides/slide1.xml" Id="Reb058452ac3f44f1" /><Relationship Type="http://schemas.openxmlformats.org/officeDocument/2006/relationships/slide" Target="/ppt/slides/slide2.xml" Id="R4aeca580ebd54122" /><Relationship Type="http://schemas.openxmlformats.org/officeDocument/2006/relationships/slide" Target="/ppt/slides/slide3.xml" Id="R2edd899ec06b4837" /><Relationship Type="http://schemas.openxmlformats.org/officeDocument/2006/relationships/slide" Target="/ppt/slides/slide4.xml" Id="R1405b05dd2b7410b" /><Relationship Type="http://schemas.openxmlformats.org/officeDocument/2006/relationships/slide" Target="/ppt/slides/slide5.xml" Id="R06a9c512d4eb45e0" /><Relationship Type="http://schemas.openxmlformats.org/officeDocument/2006/relationships/slide" Target="/ppt/slides/slide6.xml" Id="Re7df6c075bf74cd7" /><Relationship Type="http://schemas.openxmlformats.org/officeDocument/2006/relationships/slide" Target="/ppt/slides/slide7.xml" Id="Ra69311be526d494a" /><Relationship Type="http://schemas.openxmlformats.org/officeDocument/2006/relationships/slide" Target="/ppt/slides/slide8.xml" Id="R8b5389940b634a3c" /><Relationship Type="http://schemas.openxmlformats.org/officeDocument/2006/relationships/slide" Target="/ppt/slides/slide9.xml" Id="R58d872906dcd471b" /><Relationship Type="http://schemas.openxmlformats.org/officeDocument/2006/relationships/slide" Target="/ppt/slides/slide10.xml" Id="R87bbc7a709d14c7e" /><Relationship Type="http://schemas.openxmlformats.org/officeDocument/2006/relationships/slide" Target="/ppt/slides/slide11.xml" Id="Re866353a8f8b466d" /><Relationship Type="http://schemas.openxmlformats.org/officeDocument/2006/relationships/slide" Target="/ppt/slides/slide12.xml" Id="R9256d9f06c2e480b" /><Relationship Type="http://schemas.openxmlformats.org/officeDocument/2006/relationships/slide" Target="/ppt/slides/slide13.xml" Id="R3edb5bb96cf94d43" /><Relationship Type="http://schemas.openxmlformats.org/officeDocument/2006/relationships/slide" Target="/ppt/slides/slide14.xml" Id="Rb1e98447e0034b42" /><Relationship Type="http://schemas.openxmlformats.org/officeDocument/2006/relationships/slide" Target="/ppt/slides/slide15.xml" Id="Re511c6885b6a4823" /><Relationship Type="http://schemas.openxmlformats.org/officeDocument/2006/relationships/slide" Target="/ppt/slides/slide16.xml" Id="Rd769814552c84c89" /><Relationship Type="http://schemas.openxmlformats.org/officeDocument/2006/relationships/slide" Target="/ppt/slides/slide17.xml" Id="R10ff1cbdb9df4a00" /><Relationship Type="http://schemas.openxmlformats.org/officeDocument/2006/relationships/slide" Target="/ppt/slides/slide18.xml" Id="R370c6af8433b42c4" /><Relationship Type="http://schemas.openxmlformats.org/officeDocument/2006/relationships/slide" Target="/ppt/slides/slide19.xml" Id="R1b307f40ef1c4fc5" /><Relationship Type="http://schemas.openxmlformats.org/officeDocument/2006/relationships/slide" Target="/ppt/slides/slide20.xml" Id="R60dd3ec62885494a" /><Relationship Type="http://schemas.openxmlformats.org/officeDocument/2006/relationships/slide" Target="/ppt/slides/slide21.xml" Id="R8a7e139cd0744893" /><Relationship Type="http://schemas.openxmlformats.org/officeDocument/2006/relationships/slide" Target="/ppt/slides/slide22.xml" Id="R2a44b507745c4aab" /><Relationship Type="http://schemas.openxmlformats.org/officeDocument/2006/relationships/slide" Target="/ppt/slides/slide23.xml" Id="R5116c84a6de04a84" /><Relationship Type="http://schemas.openxmlformats.org/officeDocument/2006/relationships/slide" Target="/ppt/slides/slide24.xml" Id="R0b5a4e7c166e4f83" /><Relationship Type="http://schemas.openxmlformats.org/officeDocument/2006/relationships/slide" Target="/ppt/slides/slide25.xml" Id="Rae9a87c8ed0449d7" /><Relationship Type="http://schemas.openxmlformats.org/officeDocument/2006/relationships/slide" Target="/ppt/slides/slide26.xml" Id="R51cd23ba5279490f" /><Relationship Type="http://schemas.openxmlformats.org/officeDocument/2006/relationships/slide" Target="/ppt/slides/slide27.xml" Id="Rfd53f75441034b1a" /><Relationship Type="http://schemas.openxmlformats.org/officeDocument/2006/relationships/slide" Target="/ppt/slides/slide28.xml" Id="Rc41a56bada664d01" /><Relationship Type="http://schemas.openxmlformats.org/officeDocument/2006/relationships/slide" Target="/ppt/slides/slide29.xml" Id="Rba2b60f96af1487e" /><Relationship Type="http://schemas.openxmlformats.org/officeDocument/2006/relationships/slide" Target="/ppt/slides/slide30.xml" Id="R3f8e83e210b3446a" /><Relationship Type="http://schemas.openxmlformats.org/officeDocument/2006/relationships/slide" Target="/ppt/slides/slide31.xml" Id="R7122ed55900e4e39" /><Relationship Type="http://schemas.openxmlformats.org/officeDocument/2006/relationships/slide" Target="/ppt/slides/slide32.xml" Id="R985ff18aba8c4d0b" /><Relationship Type="http://schemas.openxmlformats.org/officeDocument/2006/relationships/slide" Target="/ppt/slides/slide33.xml" Id="Rdfc06551593342cc" /><Relationship Type="http://schemas.openxmlformats.org/officeDocument/2006/relationships/slide" Target="/ppt/slides/slide34.xml" Id="R4d4e209f48ed419b" /><Relationship Type="http://schemas.openxmlformats.org/officeDocument/2006/relationships/slide" Target="/ppt/slides/slide35.xml" Id="Rba5d85d3d798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fa4cff8e1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bebf09e2584b6a" /><Relationship Type="http://schemas.openxmlformats.org/officeDocument/2006/relationships/notesMaster" Target="/ppt/notesMasters/notesMaster1.xml" Id="Rf6fcc1db59e6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9992c57a54f9c" /><Relationship Type="http://schemas.openxmlformats.org/officeDocument/2006/relationships/notesMaster" Target="/ppt/notesMasters/notesMaster1.xml" Id="R0a13ad152d8541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6b8529b5d424a" /><Relationship Type="http://schemas.openxmlformats.org/officeDocument/2006/relationships/notesMaster" Target="/ppt/notesMasters/notesMaster1.xml" Id="Redc696a6c8204d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7d3a6ef31743ae" /><Relationship Type="http://schemas.openxmlformats.org/officeDocument/2006/relationships/notesMaster" Target="/ppt/notesMasters/notesMaster1.xml" Id="R4edc253ab160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941f08b5bd4fd2" /><Relationship Type="http://schemas.openxmlformats.org/officeDocument/2006/relationships/notesMaster" Target="/ppt/notesMasters/notesMaster1.xml" Id="Rc0f8e8267827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8e258512ac42f1" /><Relationship Type="http://schemas.openxmlformats.org/officeDocument/2006/relationships/notesMaster" Target="/ppt/notesMasters/notesMaster1.xml" Id="R299e71be3ed8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831e969c540fd" /><Relationship Type="http://schemas.openxmlformats.org/officeDocument/2006/relationships/notesMaster" Target="/ppt/notesMasters/notesMaster1.xml" Id="R98f56e7990ef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7f08eb6bb44581" /><Relationship Type="http://schemas.openxmlformats.org/officeDocument/2006/relationships/notesMaster" Target="/ppt/notesMasters/notesMaster1.xml" Id="R23c5d8d6d79c46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a3da30d13c4ba6" /><Relationship Type="http://schemas.openxmlformats.org/officeDocument/2006/relationships/notesMaster" Target="/ppt/notesMasters/notesMaster1.xml" Id="R4316977b8665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1e85b64284fca" /><Relationship Type="http://schemas.openxmlformats.org/officeDocument/2006/relationships/notesMaster" Target="/ppt/notesMasters/notesMaster1.xml" Id="Rb15ff2a8650c41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a26e9fd4da4d9e" /><Relationship Type="http://schemas.openxmlformats.org/officeDocument/2006/relationships/notesMaster" Target="/ppt/notesMasters/notesMaster1.xml" Id="R692eb9e4b3f842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26a5932d82471f" /><Relationship Type="http://schemas.openxmlformats.org/officeDocument/2006/relationships/notesMaster" Target="/ppt/notesMasters/notesMaster1.xml" Id="R0e84a075ffe94b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e1bdc6a1434b0f" /><Relationship Type="http://schemas.openxmlformats.org/officeDocument/2006/relationships/notesMaster" Target="/ppt/notesMasters/notesMaster1.xml" Id="Rb0ed720b462d40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0b81f96a334967" /><Relationship Type="http://schemas.openxmlformats.org/officeDocument/2006/relationships/notesMaster" Target="/ppt/notesMasters/notesMaster1.xml" Id="Rfd757dbbe44341e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9f69ffb44d415e" /><Relationship Type="http://schemas.openxmlformats.org/officeDocument/2006/relationships/notesMaster" Target="/ppt/notesMasters/notesMaster1.xml" Id="R3d0c2e9bbb1947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98b145f350430c" /><Relationship Type="http://schemas.openxmlformats.org/officeDocument/2006/relationships/notesMaster" Target="/ppt/notesMasters/notesMaster1.xml" Id="R20e9ce9cd9ca4e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6f44b9bf3a47c8" /><Relationship Type="http://schemas.openxmlformats.org/officeDocument/2006/relationships/notesMaster" Target="/ppt/notesMasters/notesMaster1.xml" Id="Rf5dcbedfb59e4e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aa62496a094eba" /><Relationship Type="http://schemas.openxmlformats.org/officeDocument/2006/relationships/notesMaster" Target="/ppt/notesMasters/notesMaster1.xml" Id="R31ca5d27039348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87ba9b1cf5476b" /><Relationship Type="http://schemas.openxmlformats.org/officeDocument/2006/relationships/notesMaster" Target="/ppt/notesMasters/notesMaster1.xml" Id="Rf7ec50bd43a844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fcd752c1c7449c" /><Relationship Type="http://schemas.openxmlformats.org/officeDocument/2006/relationships/notesMaster" Target="/ppt/notesMasters/notesMaster1.xml" Id="R921d2a99222c43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f07d5752a148e8" /><Relationship Type="http://schemas.openxmlformats.org/officeDocument/2006/relationships/notesMaster" Target="/ppt/notesMasters/notesMaster1.xml" Id="R1426119d49724a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5c5c808911b4815" /><Relationship Type="http://schemas.openxmlformats.org/officeDocument/2006/relationships/notesMaster" Target="/ppt/notesMasters/notesMaster1.xml" Id="R910d42c52f8e4b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a1bf86b87741c0" /><Relationship Type="http://schemas.openxmlformats.org/officeDocument/2006/relationships/notesMaster" Target="/ppt/notesMasters/notesMaster1.xml" Id="R27f1de5903644d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cc5031322aa4dea" /><Relationship Type="http://schemas.openxmlformats.org/officeDocument/2006/relationships/notesMaster" Target="/ppt/notesMasters/notesMaster1.xml" Id="R7af2265973374e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593321aea34b89" /><Relationship Type="http://schemas.openxmlformats.org/officeDocument/2006/relationships/notesMaster" Target="/ppt/notesMasters/notesMaster1.xml" Id="R43fb5a81335e47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cf8598cd6da4982" /><Relationship Type="http://schemas.openxmlformats.org/officeDocument/2006/relationships/notesMaster" Target="/ppt/notesMasters/notesMaster1.xml" Id="R6f80a7511da341c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e4bc96774a412b" /><Relationship Type="http://schemas.openxmlformats.org/officeDocument/2006/relationships/notesMaster" Target="/ppt/notesMasters/notesMaster1.xml" Id="R69f13a607f774e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3dd9a65c794aa2" /><Relationship Type="http://schemas.openxmlformats.org/officeDocument/2006/relationships/notesMaster" Target="/ppt/notesMasters/notesMaster1.xml" Id="Ra9ac4445f0714ad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4394e358bb42b0" /><Relationship Type="http://schemas.openxmlformats.org/officeDocument/2006/relationships/notesMaster" Target="/ppt/notesMasters/notesMaster1.xml" Id="R41858c81ed0646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9c97b44c36a47bd" /><Relationship Type="http://schemas.openxmlformats.org/officeDocument/2006/relationships/notesMaster" Target="/ppt/notesMasters/notesMaster1.xml" Id="Rc9c0b66660e0403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1266314f054006" /><Relationship Type="http://schemas.openxmlformats.org/officeDocument/2006/relationships/notesMaster" Target="/ppt/notesMasters/notesMaster1.xml" Id="R9a41d7144e17402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f8b3e3f45f0425b" /><Relationship Type="http://schemas.openxmlformats.org/officeDocument/2006/relationships/notesMaster" Target="/ppt/notesMasters/notesMaster1.xml" Id="Rb52f754f90ee4f2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9b5cb5830be4db7" /><Relationship Type="http://schemas.openxmlformats.org/officeDocument/2006/relationships/notesMaster" Target="/ppt/notesMasters/notesMaster1.xml" Id="Rfd1bb8d289964b7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dfbbf14b8c4ffa" /><Relationship Type="http://schemas.openxmlformats.org/officeDocument/2006/relationships/notesMaster" Target="/ppt/notesMasters/notesMaster1.xml" Id="R5992a952b42e489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1648d55ff1941a3" /><Relationship Type="http://schemas.openxmlformats.org/officeDocument/2006/relationships/notesMaster" Target="/ppt/notesMasters/notesMaster1.xml" Id="R72eb8139656842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报告研究零外场、自旋1/2正方晶格铁磁体。先解释直接库仑交换与单翻转精确子空间，再讨论线性传播与波包展宽。图中是有效模型计算。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理论来源：单磁子推导 PDF　模拟：均匀最近邻交换模型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以全极化铁磁态为背景，在其中翻转一个自旋。首先关注激发怎样在格点间传递，再区分波包整体运动和形状变化。动画在放映模式中展示。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3–5 页　动画 B14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固定两个正交归一的相邻轨道a,b，各占据一个电子。只保留固定占据下的直接库仑交换，不纳入电子跃迁产生的超交换。D和K都具有能量量纲。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1–2 页，式 (1)–(9)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有序基底为↑↑、↑↓、↓↑、↓↓。反平行积态之间有−K的非对角矩阵元。两个反平行积态的对称和反对称组合分别属于triplet和singlet。D±K是本征态能量。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 页，式 (10)–(14)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比较S_a·S_b与库仑作用矩阵。中间块的非对角元为1/2，所以−J_H/2=−K，得到J_H=2K。常数项D−K/2只平移所有能量。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(17)–(21)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每条无向键计一次，背景沿+x极化。Jx和Jy的差异属于空间方向的交换各向异性，每条键上的自旋作用仍是点积。每条铁磁键均达到其能量下界。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(22)–(25)　图 A01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局域翻转是基矢，不是一般的能量本征态。H作用后仍是单翻转基矢的线性组合，因此这个子空间精确闭合。概率P_i给出翻转位置的测量分布。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 页，式 (26)–(31)　图 B01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一条含翻转的键相对基态增加Jij/2的对角能量，并产生−Jij/2的跃迁振幅。四个邻居的贡献相加，得到离散Schrödinger形式。E_F完整保留在原理推导中。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(28)、(34)、(35)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均匀晶格具有平移不变性。相邻格点只相差e^{±ik_mu a}。将这些相位代入四邻居方程，两个指数相加成为2cos，从而得到单磁子激发能。此页沿用源PDF的hbar=1。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(36)–(39)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能量用Jx归一化。左图eta=1色散曲面，右图使用实际保存的eta=.35轴向截面。原点是零激发能，最高能量2(1+eta)。二维点激发包含整个布里渊区。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式 (39)　模拟 A02、A03 轴向截面数据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箭头长度按共同尺度编码速度大小。等频不等于等群速度，也不自动保证完整局域波包保形。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A05、A06，η = 1 与 0.35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有限频宽波包的精确质心速度是谱平均，中心波矢处群速度是窄带近似。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A07　ω = ε /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原理PDF保留E_F且取hbar=1。模拟恢复hbar后显式去除公共基态相位psi=e^{iE_Ft/hbar}c；概率保持不变。使用q=ka、tau=Jx*t/hbar、eta=Jy/Jx。每个FFT模式直接乘完整余弦色散的时间相位。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　模拟 common.py 与 THEORY.md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图中为N²|A|²，仅为可读性缩放。不能用单一中心波矢或只在原点展开的二阶色散描述全部传播。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B02　N = 256 表示 256 × 256 格点，Σ|A|²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早期过程见第2页动画。此页固定色标1e-7到0.1。显示边缘是色标阈值，前沿外仍有小概率尾部。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B04　η = 1，四个时刻使用共同对数色标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快照比较eta=0、.3、1，均为同一单点初态tau24。RMS_x=tau/sqrt2，RMS_y=eta*tau/sqrt2。eta=0为解耦链极限。动画对照在附录。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B05、B11、B16　Jₓ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热图是Px，即对y求和的边际概率。主要前沿由最大x群速度|u_x|≤1描述，RMS_x=tau/sqrt2。前沿之外仍有非零尾部，不是严格有限支持。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B07、B09　左图 η = 1，右图 η = 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原点返回概率的振荡是无耗散相干传播的结果。沿+x量子化时&lt;Sx&gt;=1/2-P，而&lt;Sy&gt;=&lt;Sz&gt;=0。所有格点的纵向亏损之和为1。图的两部分纵轴不同。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B10　固定单磁子数态，η = 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左图是y=0中心截线，不是对y求和的边际。两个面板纵轴不同，右图显示相对1/2背景的亏损。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B12　η = 1，τ = 8，背景沿 +x 极化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Gaussian振幅的指数分母为4sigma²，sigma是概率分布的RMS宽度。载波改变频谱中心，但不改变初始概率。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C01　n = r/a，σ 以格点数计，σ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三个tau60快照对应相同初始概率包络，q0分别为(-.7,0),(.7,0),(.7,.7)。零载波情况下质心不动但包络仍展宽，见C03。三幅图使用共同空间窗与色标。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C05　静态快照 τ = 60，σ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图表数值直接来自保存的NPZ轨迹。对于q0=(.7,0)，真实质心速度是.6392043454，而sin(.7)=.6442176872。tau60时，中心波矢近似会多预测.3008005a位移。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C06　σ = 4，η = 1，τ ≤ 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Px和Py都是对另一方向求和的边际概率，分别归一化为1。x运动和形状变化可以分别度量。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C07　q₀ = (0.7,0)，σ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无限晶格下初始位置与速度的对称协方差为零，Var(n(tau))=Var(n0)+tau²Var(u)。当前有限周期盒在展示范围内有边界检查。对于一般有啁啾初态还存在2tau Cov_sym项。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C09　完整色散下的数值宽度与谱矩关系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sigma3/6/10都归一化为1，但初始空间范围不同。更宽包络对应更窄频谱，通常有较小相对展宽。本页不将其解释为相同初始资源的性能比较。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C02、C08　q₀ = (0.7,0)，η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左右保持q0、sigma和tau60相同，只改变eta。波矢均为45度，谱平均群速度方向分别45度和16.699度。eta.3时中心为(38.3523,11.5057)a。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C10、C11　q₀ = (0.7,0.7)，σ = 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右图为固定qy=0时的精确残余相位，连续展开显示，不取模2pi。这里的非线性相位指相位对波矢的非线性依赖，模型动力学仍是线性的。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C12　e = ε/Jₓ，τ = 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对比普通中心q0=(.7,.7)和(pi/2,pi/2)。sigma均3，tau均60，使用各自真实谱平均速度作平移参考。F为复态重合模平方，含相对相位改变，不仅是概率轮廓重合。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C13　同初宽 σ = 3，η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本次完成的层次是模型推导、线性传播图像与有限时间的数值证据。未来研究可针对具体初态局域性与完整二维保形，不将当前toy model直接等同于实际材料。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 PDF 第 1–5 页　模拟 A、B、C 组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本页用于回答交换负号和单翻转矩阵元问题。源推导固定产生算符顺序f_a† f_b†。从反平行态读出非对角元−K，再与−J S_a·S_b匹配。所有箭头相对于x量子化轴。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2–4 页，式 (9)、(15)、(17)、(27)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e≈(qx²+eta qy²)/2只适用于小波矢。误差阈值是轴向能量的相对误差，不是传播保真度阈值。相位差还随时间积累。所有主动力学计算使用完整余弦色散。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A08、A09　轴向能量近似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验证图为FFT与无限晶格Bessel解析传播核比较。独立稀疏矩阵Hamiltonian直接按键构造。边界与扩大晶格测试说明当前展示区间内数值可信，不能代替材料参数验证。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来源：checks_independent.json、checks_b.json、checks_c.json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本页是为了显示高阶形变的独立例子，不能把结果与sigma3例子解释为同一初态资源的性能比较。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C14　独立示例 σ = 2，q₀ = (π/2,π/2)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本页嵌入完整GIF，在支持GIF的PowerPoint放映模式下播放。静态关键帧已经出现在正文各向异性和载波方向页。动画使用固定色标，不逐帧峰值归一化。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来源：单点翻转 B16　Gaussian 载波方向 C16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本报告未新增外部实验或材料参数。理论依据是本地五页原理PDF，数值结果来自既有39图8动画资料包。每个图表的具体来源已写入其所在页的备注。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来源：项目本地材料与可复现模拟文件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cd6baa873f48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5084ea35841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222984e5c49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ad119388f49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fcf64cbea46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03358881649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8AE13B-3074-4C56-A3B4-56F53F77A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C90C1A-972F-406B-8F2C-68BB294BF4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2A6B3F-84C5-4617-AA39-092390A62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ADFD1C-42A5-4D45-8252-0FAE0E074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2FCD79-1052-4927-AF70-19FA88013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E1365D-E0C8-4EB1-9F2D-7DFAE65F2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EDD40E-317F-4B23-A5FA-5D4BDFFA9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D026CE-CD40-4F44-8F37-81A62AADF5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2EB1EE-F0A6-44CF-B9C8-B52DCA9A2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17FB9E-36CD-4F2E-9F90-2174D3AA54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fe061d66fe4120" /><Relationship Type="http://schemas.openxmlformats.org/officeDocument/2006/relationships/slideLayout" Target="/ppt/slideLayouts/slideLayout1.xml" Id="R5910983eb7744f12" /><Relationship Type="http://schemas.openxmlformats.org/officeDocument/2006/relationships/slideLayout" Target="/ppt/slideLayouts/slideLayout2.xml" Id="Ra0ab8f3742004440" /><Relationship Type="http://schemas.openxmlformats.org/officeDocument/2006/relationships/slideLayout" Target="/ppt/slideLayouts/slideLayout3.xml" Id="R6358aa7dd3034fdf" /><Relationship Type="http://schemas.openxmlformats.org/officeDocument/2006/relationships/slideLayout" Target="/ppt/slideLayouts/slideLayout4.xml" Id="R3225f91b8dce4a13" /><Relationship Type="http://schemas.openxmlformats.org/officeDocument/2006/relationships/slideLayout" Target="/ppt/slideLayouts/slideLayout5.xml" Id="Rbd0152cccb3e407b" /><Relationship Type="http://schemas.openxmlformats.org/officeDocument/2006/relationships/slideLayout" Target="/ppt/slideLayouts/slideLayout6.xml" Id="R2a78e70a5c4b45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0983eb7744f12"/>
    <p:sldLayoutId xmlns:r="http://schemas.openxmlformats.org/officeDocument/2006/relationships" id="2147483650" r:id="Ra0ab8f3742004440"/>
    <p:sldLayoutId xmlns:r="http://schemas.openxmlformats.org/officeDocument/2006/relationships" id="2147483651" r:id="R6358aa7dd3034fdf"/>
    <p:sldLayoutId xmlns:r="http://schemas.openxmlformats.org/officeDocument/2006/relationships" id="2147483652" r:id="R3225f91b8dce4a13"/>
    <p:sldLayoutId xmlns:r="http://schemas.openxmlformats.org/officeDocument/2006/relationships" id="2147483653" r:id="Rbd0152cccb3e407b"/>
    <p:sldLayoutId xmlns:r="http://schemas.openxmlformats.org/officeDocument/2006/relationships" id="2147483654" r:id="R2a78e70a5c4b45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74e1645424e8d" /><Relationship Type="http://schemas.openxmlformats.org/officeDocument/2006/relationships/image" Target="/ppt/media/image.png" Id="R17513453577749b6" /><Relationship Type="http://schemas.openxmlformats.org/officeDocument/2006/relationships/image" Target="/ppt/media/image2.png" Id="Re0f7bef7f9004486" /><Relationship Type="http://schemas.openxmlformats.org/officeDocument/2006/relationships/notesSlide" Target="/ppt/notesSlides/notesSlide1.xml" Id="R4e53be6fada149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7ef0f95934b07" /><Relationship Type="http://schemas.openxmlformats.org/officeDocument/2006/relationships/image" Target="/ppt/media/image.gif" Id="R48b9231d25d4414f" /><Relationship Type="http://schemas.openxmlformats.org/officeDocument/2006/relationships/notesSlide" Target="/ppt/notesSlides/notesSlide2.xml" Id="Rc3efff163c564e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66b5cab2084f90" /><Relationship Type="http://schemas.openxmlformats.org/officeDocument/2006/relationships/image" Target="/ppt/media/image3.png" Id="Rd656505dc83a495e" /><Relationship Type="http://schemas.openxmlformats.org/officeDocument/2006/relationships/notesSlide" Target="/ppt/notesSlides/notesSlide3.xml" Id="R1855f18180ae49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6b5bd266845dd" /><Relationship Type="http://schemas.openxmlformats.org/officeDocument/2006/relationships/image" Target="/ppt/media/image4.png" Id="R8f1c789c01084edd" /><Relationship Type="http://schemas.openxmlformats.org/officeDocument/2006/relationships/image" Target="/ppt/media/image5.png" Id="Rb040fc227b844911" /><Relationship Type="http://schemas.openxmlformats.org/officeDocument/2006/relationships/chart" Target="/ppt/slides/charts/chart1.xml" Id="Rc3778da9eced492f" /><Relationship Type="http://schemas.openxmlformats.org/officeDocument/2006/relationships/notesSlide" Target="/ppt/notesSlides/notesSlide4.xml" Id="Rdaa6c1705cd243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ba5125717435b" /><Relationship Type="http://schemas.openxmlformats.org/officeDocument/2006/relationships/image" Target="/ppt/media/image6.png" Id="R04b5532bab4a4c7e" /><Relationship Type="http://schemas.openxmlformats.org/officeDocument/2006/relationships/image" Target="/ppt/media/image7.png" Id="Rc31a3a848c524fab" /><Relationship Type="http://schemas.openxmlformats.org/officeDocument/2006/relationships/notesSlide" Target="/ppt/notesSlides/notesSlide5.xml" Id="Re5bbf96b586844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734aa93e44c16" /><Relationship Type="http://schemas.openxmlformats.org/officeDocument/2006/relationships/image" Target="/ppt/media/image8.png" Id="R8eab4b6c903d42e5" /><Relationship Type="http://schemas.openxmlformats.org/officeDocument/2006/relationships/image" Target="/ppt/media/image9.png" Id="Rbfc85929a7164982" /><Relationship Type="http://schemas.openxmlformats.org/officeDocument/2006/relationships/image" Target="/ppt/media/image10.png" Id="Rf4f43250364a4b6a" /><Relationship Type="http://schemas.openxmlformats.org/officeDocument/2006/relationships/notesSlide" Target="/ppt/notesSlides/notesSlide6.xml" Id="R86b8bca3eeee46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c7a0f8ba44e9a" /><Relationship Type="http://schemas.openxmlformats.org/officeDocument/2006/relationships/image" Target="/ppt/media/image11.png" Id="Rf366e96ca2e04859" /><Relationship Type="http://schemas.openxmlformats.org/officeDocument/2006/relationships/image" Target="/ppt/media/image12.png" Id="R2b9a6374e0294eea" /><Relationship Type="http://schemas.openxmlformats.org/officeDocument/2006/relationships/image" Target="/ppt/media/image13.png" Id="R86e1e1a1ebc34774" /><Relationship Type="http://schemas.openxmlformats.org/officeDocument/2006/relationships/image" Target="/ppt/media/image14.png" Id="Rea84de6883ee4279" /><Relationship Type="http://schemas.openxmlformats.org/officeDocument/2006/relationships/notesSlide" Target="/ppt/notesSlides/notesSlide7.xml" Id="R8712bcfea53f45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a59e508434f81" /><Relationship Type="http://schemas.openxmlformats.org/officeDocument/2006/relationships/image" Target="/ppt/media/image15.png" Id="R122a0e8d145b40bb" /><Relationship Type="http://schemas.openxmlformats.org/officeDocument/2006/relationships/image" Target="/ppt/media/image16.png" Id="R78c4fdf7824e4415" /><Relationship Type="http://schemas.openxmlformats.org/officeDocument/2006/relationships/notesSlide" Target="/ppt/notesSlides/notesSlide8.xml" Id="R4f0fc0d1754041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3fa93f6624935" /><Relationship Type="http://schemas.openxmlformats.org/officeDocument/2006/relationships/image" Target="/ppt/media/image17.png" Id="R9fdbe358b82149bf" /><Relationship Type="http://schemas.openxmlformats.org/officeDocument/2006/relationships/image" Target="/ppt/media/image18.png" Id="Rf4d0fdcccbb64c6e" /><Relationship Type="http://schemas.openxmlformats.org/officeDocument/2006/relationships/image" Target="/ppt/media/image19.png" Id="Rf976a00d82834013" /><Relationship Type="http://schemas.openxmlformats.org/officeDocument/2006/relationships/notesSlide" Target="/ppt/notesSlides/notesSlide9.xml" Id="R2235e63af9d644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7326f0cb2472b" /><Relationship Type="http://schemas.openxmlformats.org/officeDocument/2006/relationships/image" Target="/ppt/media/image20.png" Id="R9cb26b7d392647d2" /><Relationship Type="http://schemas.openxmlformats.org/officeDocument/2006/relationships/chart" Target="/ppt/slides/charts/chart2.xml" Id="R4536e1e8a93c4b3b" /><Relationship Type="http://schemas.openxmlformats.org/officeDocument/2006/relationships/notesSlide" Target="/ppt/notesSlides/notesSlide10.xml" Id="Rbfd1084ac69242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3c39e0c564d69" /><Relationship Type="http://schemas.openxmlformats.org/officeDocument/2006/relationships/image" Target="/ppt/media/image21.png" Id="Rd18c346eb7e344eb" /><Relationship Type="http://schemas.openxmlformats.org/officeDocument/2006/relationships/notesSlide" Target="/ppt/notesSlides/notesSlide11.xml" Id="R9c5ed0cee45144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5191186b54da4" /><Relationship Type="http://schemas.openxmlformats.org/officeDocument/2006/relationships/image" Target="/ppt/media/image22.png" Id="R0624fd88522a41d7" /><Relationship Type="http://schemas.openxmlformats.org/officeDocument/2006/relationships/notesSlide" Target="/ppt/notesSlides/notesSlide12.xml" Id="Rc0c8dbb0518f41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7e89d0201426a" /><Relationship Type="http://schemas.openxmlformats.org/officeDocument/2006/relationships/notesSlide" Target="/ppt/notesSlides/notesSlide13.xml" Id="Rcfc43bed731a43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4c04a74ee4adc" /><Relationship Type="http://schemas.openxmlformats.org/officeDocument/2006/relationships/image" Target="/ppt/media/image23.png" Id="Re66bae5d2dc449f0" /><Relationship Type="http://schemas.openxmlformats.org/officeDocument/2006/relationships/notesSlide" Target="/ppt/notesSlides/notesSlide14.xml" Id="Rb871f9a300674e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92452a7b74d06" /><Relationship Type="http://schemas.openxmlformats.org/officeDocument/2006/relationships/image" Target="/ppt/media/image24.png" Id="R2794f388bb034333" /><Relationship Type="http://schemas.openxmlformats.org/officeDocument/2006/relationships/notesSlide" Target="/ppt/notesSlides/notesSlide15.xml" Id="R086ba2e64a5b4d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57a3495ac4d6e" /><Relationship Type="http://schemas.openxmlformats.org/officeDocument/2006/relationships/image" Target="/ppt/media/image25.png" Id="R6caa1bc80ece401d" /><Relationship Type="http://schemas.openxmlformats.org/officeDocument/2006/relationships/notesSlide" Target="/ppt/notesSlides/notesSlide16.xml" Id="Rf511304f699942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63906bc3347ff" /><Relationship Type="http://schemas.openxmlformats.org/officeDocument/2006/relationships/image" Target="/ppt/media/image26.png" Id="R542972043ed04b53" /><Relationship Type="http://schemas.openxmlformats.org/officeDocument/2006/relationships/chart" Target="/ppt/slides/charts/chart3.xml" Id="Rb45ec74861b74638" /><Relationship Type="http://schemas.openxmlformats.org/officeDocument/2006/relationships/notesSlide" Target="/ppt/notesSlides/notesSlide17.xml" Id="R44e36822cbca42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5ffb8ad844791" /><Relationship Type="http://schemas.openxmlformats.org/officeDocument/2006/relationships/image" Target="/ppt/media/image27.png" Id="R206eefc0c9934a74" /><Relationship Type="http://schemas.openxmlformats.org/officeDocument/2006/relationships/notesSlide" Target="/ppt/notesSlides/notesSlide18.xml" Id="R0df81691edb24b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2f0a2058a4c2f" /><Relationship Type="http://schemas.openxmlformats.org/officeDocument/2006/relationships/image" Target="/ppt/media/image28.png" Id="R0148fd16b9414be1" /><Relationship Type="http://schemas.openxmlformats.org/officeDocument/2006/relationships/notesSlide" Target="/ppt/notesSlides/notesSlide19.xml" Id="Rda41b726d97e48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e930aedd14406" /><Relationship Type="http://schemas.openxmlformats.org/officeDocument/2006/relationships/image" Target="/ppt/media/image29.png" Id="Rcc32600d22264108" /><Relationship Type="http://schemas.openxmlformats.org/officeDocument/2006/relationships/notesSlide" Target="/ppt/notesSlides/notesSlide20.xml" Id="Reb4420c88a3f46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990d302084662" /><Relationship Type="http://schemas.openxmlformats.org/officeDocument/2006/relationships/image" Target="/ppt/media/image30.png" Id="Rb115a48ae3614da2" /><Relationship Type="http://schemas.openxmlformats.org/officeDocument/2006/relationships/notesSlide" Target="/ppt/notesSlides/notesSlide21.xml" Id="Rd758207178e248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5b37d16144763" /><Relationship Type="http://schemas.openxmlformats.org/officeDocument/2006/relationships/chart" Target="/ppt/slides/charts/chart4.xml" Id="R0bf1ba47794c4e33" /><Relationship Type="http://schemas.openxmlformats.org/officeDocument/2006/relationships/notesSlide" Target="/ppt/notesSlides/notesSlide22.xml" Id="R8a081902243747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86e0cb3e64e46" /><Relationship Type="http://schemas.openxmlformats.org/officeDocument/2006/relationships/image" Target="/ppt/media/image31.png" Id="R0d6be5d1133243ab" /><Relationship Type="http://schemas.openxmlformats.org/officeDocument/2006/relationships/notesSlide" Target="/ppt/notesSlides/notesSlide23.xml" Id="R2a0c33ab902e45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a909b1f7d4476" /><Relationship Type="http://schemas.openxmlformats.org/officeDocument/2006/relationships/chart" Target="/ppt/slides/charts/chart5.xml" Id="R05bd31af62ad4849" /><Relationship Type="http://schemas.openxmlformats.org/officeDocument/2006/relationships/notesSlide" Target="/ppt/notesSlides/notesSlide24.xml" Id="Rd83b491439764d7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7a52366ff4561" /><Relationship Type="http://schemas.openxmlformats.org/officeDocument/2006/relationships/image" Target="/ppt/media/image32.png" Id="R1f68e9fc7185446f" /><Relationship Type="http://schemas.openxmlformats.org/officeDocument/2006/relationships/chart" Target="/ppt/slides/charts/chart6.xml" Id="Rbab91dd38394477b" /><Relationship Type="http://schemas.openxmlformats.org/officeDocument/2006/relationships/notesSlide" Target="/ppt/notesSlides/notesSlide25.xml" Id="Ra5c1c36a577d46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14a78842e4600" /><Relationship Type="http://schemas.openxmlformats.org/officeDocument/2006/relationships/image" Target="/ppt/media/image33.png" Id="Rb20990bd8487486e" /><Relationship Type="http://schemas.openxmlformats.org/officeDocument/2006/relationships/notesSlide" Target="/ppt/notesSlides/notesSlide26.xml" Id="R2c779b17d1b040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7f1c8ee0f40a9" /><Relationship Type="http://schemas.openxmlformats.org/officeDocument/2006/relationships/image" Target="/ppt/media/image34.png" Id="R00da9f52555246cb" /><Relationship Type="http://schemas.openxmlformats.org/officeDocument/2006/relationships/notesSlide" Target="/ppt/notesSlides/notesSlide27.xml" Id="R41db279476054d6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5bdb87cad4427" /><Relationship Type="http://schemas.openxmlformats.org/officeDocument/2006/relationships/chart" Target="/ppt/slides/charts/chart7.xml" Id="Rcbd2d7de410548ec" /><Relationship Type="http://schemas.openxmlformats.org/officeDocument/2006/relationships/chart" Target="/ppt/slides/charts/chart8.xml" Id="R94e9174a313e4252" /><Relationship Type="http://schemas.openxmlformats.org/officeDocument/2006/relationships/notesSlide" Target="/ppt/notesSlides/notesSlide28.xml" Id="R26bff1017f26474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f78dd4ae54553" /><Relationship Type="http://schemas.openxmlformats.org/officeDocument/2006/relationships/notesSlide" Target="/ppt/notesSlides/notesSlide29.xml" Id="R14952743547f432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467cd58b84970" /><Relationship Type="http://schemas.openxmlformats.org/officeDocument/2006/relationships/image" Target="/ppt/media/image35.png" Id="R432c66734d634f77" /><Relationship Type="http://schemas.openxmlformats.org/officeDocument/2006/relationships/image" Target="/ppt/media/image36.png" Id="Rac5fc1ba0e434cee" /><Relationship Type="http://schemas.openxmlformats.org/officeDocument/2006/relationships/image" Target="/ppt/media/image37.png" Id="R7343abd349794afd" /><Relationship Type="http://schemas.openxmlformats.org/officeDocument/2006/relationships/notesSlide" Target="/ppt/notesSlides/notesSlide30.xml" Id="R1867e00e20a74e5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f1f2ece9648b5" /><Relationship Type="http://schemas.openxmlformats.org/officeDocument/2006/relationships/image" Target="/ppt/media/image38.png" Id="Ra66ec75194ac4007" /><Relationship Type="http://schemas.openxmlformats.org/officeDocument/2006/relationships/notesSlide" Target="/ppt/notesSlides/notesSlide31.xml" Id="R89f58a5366d64e0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6c953afea49f1" /><Relationship Type="http://schemas.openxmlformats.org/officeDocument/2006/relationships/image" Target="/ppt/media/image39.png" Id="R898e5a770dbb433e" /><Relationship Type="http://schemas.openxmlformats.org/officeDocument/2006/relationships/notesSlide" Target="/ppt/notesSlides/notesSlide32.xml" Id="R960bf1266a114b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58bbe7a054844" /><Relationship Type="http://schemas.openxmlformats.org/officeDocument/2006/relationships/image" Target="/ppt/media/image40.png" Id="R4809abbe28694ae4" /><Relationship Type="http://schemas.openxmlformats.org/officeDocument/2006/relationships/notesSlide" Target="/ppt/notesSlides/notesSlide33.xml" Id="R97bbe9de81514cf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f32f29ccf4f10" /><Relationship Type="http://schemas.openxmlformats.org/officeDocument/2006/relationships/image" Target="/ppt/media/image2.gif" Id="Raf30a5cdbbb64fb3" /><Relationship Type="http://schemas.openxmlformats.org/officeDocument/2006/relationships/image" Target="/ppt/media/image3.gif" Id="R89c21a0551484110" /><Relationship Type="http://schemas.openxmlformats.org/officeDocument/2006/relationships/notesSlide" Target="/ppt/notesSlides/notesSlide34.xml" Id="Rb7d950a7ec564e3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d82b768844455" /><Relationship Type="http://schemas.openxmlformats.org/officeDocument/2006/relationships/notesSlide" Target="/ppt/notesSlides/notesSlide35.xml" Id="R22b8c330c5cd4c1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三重态，3 个态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单重态，1 个态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 /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0.35 的两个方向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沿 x，qᵧ = 0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2</c:v>
              </c:pt>
              <c:pt idx="1">
                <c:v>1.996917333733128</c:v>
              </c:pt>
              <c:pt idx="2">
                <c:v>1.9876883405951378</c:v>
              </c:pt>
              <c:pt idx="3">
                <c:v>1.9723699203976766</c:v>
              </c:pt>
              <c:pt idx="4">
                <c:v>1.9510565162951536</c:v>
              </c:pt>
              <c:pt idx="5">
                <c:v>1.9238795325112867</c:v>
              </c:pt>
              <c:pt idx="6">
                <c:v>1.8910065241883678</c:v>
              </c:pt>
              <c:pt idx="7">
                <c:v>1.8526401643540922</c:v>
              </c:pt>
              <c:pt idx="8">
                <c:v>1.8090169943749475</c:v>
              </c:pt>
              <c:pt idx="9">
                <c:v>1.760405965600031</c:v>
              </c:pt>
              <c:pt idx="10">
                <c:v>1.7071067811865475</c:v>
              </c:pt>
              <c:pt idx="11">
                <c:v>1.6494480483301834</c:v>
              </c:pt>
              <c:pt idx="12">
                <c:v>1.587785252292473</c:v>
              </c:pt>
              <c:pt idx="13">
                <c:v>1.5224985647159488</c:v>
              </c:pt>
              <c:pt idx="14">
                <c:v>1.4539904997395467</c:v>
              </c:pt>
              <c:pt idx="15">
                <c:v>1.3826834323650896</c:v>
              </c:pt>
              <c:pt idx="16">
                <c:v>1.3090169943749475</c:v>
              </c:pt>
              <c:pt idx="17">
                <c:v>1.2334453638559053</c:v>
              </c:pt>
              <c:pt idx="18">
                <c:v>1.1564344650402307</c:v>
              </c:pt>
              <c:pt idx="19">
                <c:v>1.0784590957278448</c:v>
              </c:pt>
              <c:pt idx="20">
                <c:v>0.9999999999999999</c:v>
              </c:pt>
              <c:pt idx="21">
                <c:v>0.921540904272155</c:v>
              </c:pt>
              <c:pt idx="22">
                <c:v>0.843565534959769</c:v>
              </c:pt>
              <c:pt idx="23">
                <c:v>0.7665546361440945</c:v>
              </c:pt>
              <c:pt idx="24">
                <c:v>0.6909830056250525</c:v>
              </c:pt>
              <c:pt idx="25">
                <c:v>0.6173165676349102</c:v>
              </c:pt>
              <c:pt idx="26">
                <c:v>0.5460095002604533</c:v>
              </c:pt>
              <c:pt idx="27">
                <c:v>0.4775014352840511</c:v>
              </c:pt>
              <c:pt idx="28">
                <c:v>0.41221474770752686</c:v>
              </c:pt>
              <c:pt idx="29">
                <c:v>0.35055195166981634</c:v>
              </c:pt>
              <c:pt idx="30">
                <c:v>0.2928932188134524</c:v>
              </c:pt>
              <c:pt idx="31">
                <c:v>0.23959403439996907</c:v>
              </c:pt>
              <c:pt idx="32">
                <c:v>0.19098300562505255</c:v>
              </c:pt>
              <c:pt idx="33">
                <c:v>0.1473598356459077</c:v>
              </c:pt>
              <c:pt idx="34">
                <c:v>0.1089934758116321</c:v>
              </c:pt>
              <c:pt idx="35">
                <c:v>0.07612046748871326</c:v>
              </c:pt>
              <c:pt idx="36">
                <c:v>0.04894348370484647</c:v>
              </c:pt>
              <c:pt idx="37">
                <c:v>0.027630079602323443</c:v>
              </c:pt>
              <c:pt idx="38">
                <c:v>0.01231165940486223</c:v>
              </c:pt>
              <c:pt idx="39">
                <c:v>0.003082666266872036</c:v>
              </c:pt>
              <c:pt idx="40">
                <c:v>0</c:v>
              </c:pt>
              <c:pt idx="41">
                <c:v>0.003082666266872036</c:v>
              </c:pt>
              <c:pt idx="42">
                <c:v>0.01231165940486223</c:v>
              </c:pt>
              <c:pt idx="43">
                <c:v>0.027630079602323443</c:v>
              </c:pt>
              <c:pt idx="44">
                <c:v>0.04894348370484647</c:v>
              </c:pt>
              <c:pt idx="45">
                <c:v>0.07612046748871326</c:v>
              </c:pt>
              <c:pt idx="46">
                <c:v>0.1089934758116321</c:v>
              </c:pt>
              <c:pt idx="47">
                <c:v>0.1473598356459077</c:v>
              </c:pt>
              <c:pt idx="48">
                <c:v>0.19098300562505255</c:v>
              </c:pt>
              <c:pt idx="49">
                <c:v>0.23959403439996907</c:v>
              </c:pt>
              <c:pt idx="50">
                <c:v>0.2928932188134524</c:v>
              </c:pt>
              <c:pt idx="51">
                <c:v>0.350551951669816</c:v>
              </c:pt>
              <c:pt idx="52">
                <c:v>0.41221474770752686</c:v>
              </c:pt>
              <c:pt idx="53">
                <c:v>0.47750143528405153</c:v>
              </c:pt>
              <c:pt idx="54">
                <c:v>0.5460095002604533</c:v>
              </c:pt>
              <c:pt idx="55">
                <c:v>0.6173165676349097</c:v>
              </c:pt>
              <c:pt idx="56">
                <c:v>0.6909830056250525</c:v>
              </c:pt>
              <c:pt idx="57">
                <c:v>0.7665546361440949</c:v>
              </c:pt>
              <c:pt idx="58">
                <c:v>0.843565534959769</c:v>
              </c:pt>
              <c:pt idx="59">
                <c:v>0.9215409042721545</c:v>
              </c:pt>
              <c:pt idx="60">
                <c:v>0.9999999999999999</c:v>
              </c:pt>
              <c:pt idx="61">
                <c:v>1.0784590957278453</c:v>
              </c:pt>
              <c:pt idx="62">
                <c:v>1.1564344650402307</c:v>
              </c:pt>
              <c:pt idx="63">
                <c:v>1.2334453638559049</c:v>
              </c:pt>
              <c:pt idx="64">
                <c:v>1.3090169943749475</c:v>
              </c:pt>
              <c:pt idx="65">
                <c:v>1.38268343236509</c:v>
              </c:pt>
              <c:pt idx="66">
                <c:v>1.4539904997395467</c:v>
              </c:pt>
              <c:pt idx="67">
                <c:v>1.5224985647159484</c:v>
              </c:pt>
              <c:pt idx="68">
                <c:v>1.587785252292473</c:v>
              </c:pt>
              <c:pt idx="69">
                <c:v>1.6494480483301839</c:v>
              </c:pt>
              <c:pt idx="70">
                <c:v>1.7071067811865475</c:v>
              </c:pt>
              <c:pt idx="71">
                <c:v>1.7604059656000306</c:v>
              </c:pt>
              <c:pt idx="72">
                <c:v>1.8090169943749475</c:v>
              </c:pt>
              <c:pt idx="73">
                <c:v>1.8526401643540924</c:v>
              </c:pt>
              <c:pt idx="74">
                <c:v>1.8910065241883678</c:v>
              </c:pt>
              <c:pt idx="75">
                <c:v>1.9238795325112865</c:v>
              </c:pt>
              <c:pt idx="76">
                <c:v>1.9510565162951536</c:v>
              </c:pt>
              <c:pt idx="77">
                <c:v>1.9723699203976768</c:v>
              </c:pt>
              <c:pt idx="78">
                <c:v>1.9876883405951378</c:v>
              </c:pt>
              <c:pt idx="79">
                <c:v>1.996917333733128</c:v>
              </c:pt>
              <c:pt idx="80">
                <c:v>2</c:v>
              </c:pt>
            </c:numLit>
          </c:yVal>
        </c:ser>
        <c:ser>
          <c:idx val="1"/>
          <c:order val="1"/>
          <c:tx>
            <c:v>沿 y，qₓ = 0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0.7</c:v>
              </c:pt>
              <c:pt idx="1">
                <c:v>0.6989210668065948</c:v>
              </c:pt>
              <c:pt idx="2">
                <c:v>0.6956909192082982</c:v>
              </c:pt>
              <c:pt idx="3">
                <c:v>0.6903294721391867</c:v>
              </c:pt>
              <c:pt idx="4">
                <c:v>0.6828697807033037</c:v>
              </c:pt>
              <c:pt idx="5">
                <c:v>0.6733578363789503</c:v>
              </c:pt>
              <c:pt idx="6">
                <c:v>0.6618522834659287</c:v>
              </c:pt>
              <c:pt idx="7">
                <c:v>0.6484240575239322</c:v>
              </c:pt>
              <c:pt idx="8">
                <c:v>0.6331559480312315</c:v>
              </c:pt>
              <c:pt idx="9">
                <c:v>0.6161420879600108</c:v>
              </c:pt>
              <c:pt idx="10">
                <c:v>0.5974873734152916</c:v>
              </c:pt>
              <c:pt idx="11">
                <c:v>0.5773068169155642</c:v>
              </c:pt>
              <c:pt idx="12">
                <c:v>0.5557248383023655</c:v>
              </c:pt>
              <c:pt idx="13">
                <c:v>0.532874497650582</c:v>
              </c:pt>
              <c:pt idx="14">
                <c:v>0.5088966749088414</c:v>
              </c:pt>
              <c:pt idx="15">
                <c:v>0.48393920132778134</c:v>
              </c:pt>
              <c:pt idx="16">
                <c:v>0.45815594803123155</c:v>
              </c:pt>
              <c:pt idx="17">
                <c:v>0.43170587734956684</c:v>
              </c:pt>
              <c:pt idx="18">
                <c:v>0.4047520627640807</c:v>
              </c:pt>
              <c:pt idx="19">
                <c:v>0.37746068350474565</c:v>
              </c:pt>
              <c:pt idx="20">
                <c:v>0.3499999999999999</c:v>
              </c:pt>
              <c:pt idx="21">
                <c:v>0.3225393164952542</c:v>
              </c:pt>
              <c:pt idx="22">
                <c:v>0.29524793723591913</c:v>
              </c:pt>
              <c:pt idx="23">
                <c:v>0.26829412265043306</c:v>
              </c:pt>
              <c:pt idx="24">
                <c:v>0.24184405196876838</c:v>
              </c:pt>
              <c:pt idx="25">
                <c:v>0.21606079867221856</c:v>
              </c:pt>
              <c:pt idx="26">
                <c:v>0.19110332509115863</c:v>
              </c:pt>
              <c:pt idx="27">
                <c:v>0.16712550234941786</c:v>
              </c:pt>
              <c:pt idx="28">
                <c:v>0.14427516169763438</c:v>
              </c:pt>
              <c:pt idx="29">
                <c:v>0.1226931830844357</c:v>
              </c:pt>
              <c:pt idx="30">
                <c:v>0.10251262658470835</c:v>
              </c:pt>
              <c:pt idx="31">
                <c:v>0.08385791203998917</c:v>
              </c:pt>
              <c:pt idx="32">
                <c:v>0.06684405196876839</c:v>
              </c:pt>
              <c:pt idx="33">
                <c:v>0.0515759424760677</c:v>
              </c:pt>
              <c:pt idx="34">
                <c:v>0.03814771653407123</c:v>
              </c:pt>
              <c:pt idx="35">
                <c:v>0.02664216362104964</c:v>
              </c:pt>
              <c:pt idx="36">
                <c:v>0.017130219296696263</c:v>
              </c:pt>
              <c:pt idx="37">
                <c:v>0.009670527860813204</c:v>
              </c:pt>
              <c:pt idx="38">
                <c:v>0.00430908079170178</c:v>
              </c:pt>
              <c:pt idx="39">
                <c:v>0.0010789331934052127</c:v>
              </c:pt>
              <c:pt idx="40">
                <c:v>0</c:v>
              </c:pt>
              <c:pt idx="41">
                <c:v>0.0010789331934052127</c:v>
              </c:pt>
              <c:pt idx="42">
                <c:v>0.00430908079170178</c:v>
              </c:pt>
              <c:pt idx="43">
                <c:v>0.009670527860813204</c:v>
              </c:pt>
              <c:pt idx="44">
                <c:v>0.017130219296696263</c:v>
              </c:pt>
              <c:pt idx="45">
                <c:v>0.02664216362104964</c:v>
              </c:pt>
              <c:pt idx="46">
                <c:v>0.03814771653407123</c:v>
              </c:pt>
              <c:pt idx="47">
                <c:v>0.0515759424760677</c:v>
              </c:pt>
              <c:pt idx="48">
                <c:v>0.06684405196876839</c:v>
              </c:pt>
              <c:pt idx="49">
                <c:v>0.08385791203998917</c:v>
              </c:pt>
              <c:pt idx="50">
                <c:v>0.10251262658470835</c:v>
              </c:pt>
              <c:pt idx="51">
                <c:v>0.1226931830844356</c:v>
              </c:pt>
              <c:pt idx="52">
                <c:v>0.14427516169763438</c:v>
              </c:pt>
              <c:pt idx="53">
                <c:v>0.16712550234941803</c:v>
              </c:pt>
              <c:pt idx="54">
                <c:v>0.19110332509115863</c:v>
              </c:pt>
              <c:pt idx="55">
                <c:v>0.2160607986722184</c:v>
              </c:pt>
              <c:pt idx="56">
                <c:v>0.24184405196876838</c:v>
              </c:pt>
              <c:pt idx="57">
                <c:v>0.2682941226504332</c:v>
              </c:pt>
              <c:pt idx="58">
                <c:v>0.29524793723591913</c:v>
              </c:pt>
              <c:pt idx="59">
                <c:v>0.3225393164952541</c:v>
              </c:pt>
              <c:pt idx="60">
                <c:v>0.3499999999999999</c:v>
              </c:pt>
              <c:pt idx="61">
                <c:v>0.3774606835047458</c:v>
              </c:pt>
              <c:pt idx="62">
                <c:v>0.4047520627640807</c:v>
              </c:pt>
              <c:pt idx="63">
                <c:v>0.43170587734956667</c:v>
              </c:pt>
              <c:pt idx="64">
                <c:v>0.45815594803123155</c:v>
              </c:pt>
              <c:pt idx="65">
                <c:v>0.4839392013277815</c:v>
              </c:pt>
              <c:pt idx="66">
                <c:v>0.5088966749088414</c:v>
              </c:pt>
              <c:pt idx="67">
                <c:v>0.5328744976505819</c:v>
              </c:pt>
              <c:pt idx="68">
                <c:v>0.5557248383023655</c:v>
              </c:pt>
              <c:pt idx="69">
                <c:v>0.5773068169155643</c:v>
              </c:pt>
              <c:pt idx="70">
                <c:v>0.5974873734152916</c:v>
              </c:pt>
              <c:pt idx="71">
                <c:v>0.6161420879600107</c:v>
              </c:pt>
              <c:pt idx="72">
                <c:v>0.6331559480312315</c:v>
              </c:pt>
              <c:pt idx="73">
                <c:v>0.6484240575239323</c:v>
              </c:pt>
              <c:pt idx="74">
                <c:v>0.6618522834659287</c:v>
              </c:pt>
              <c:pt idx="75">
                <c:v>0.6733578363789502</c:v>
              </c:pt>
              <c:pt idx="76">
                <c:v>0.6828697807033037</c:v>
              </c:pt>
              <c:pt idx="77">
                <c:v>0.6903294721391868</c:v>
              </c:pt>
              <c:pt idx="78">
                <c:v>0.6956909192082982</c:v>
              </c:pt>
              <c:pt idx="79">
                <c:v>0.6989210668065948</c:v>
              </c:pt>
              <c:pt idx="80">
                <c:v>0.7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ε / Jₓ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q = ka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.14159265358979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宽度的弹道增长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不同载波的质心轨迹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-2.0661168548719898E-17</c:v>
              </c:pt>
              <c:pt idx="1">
                <c:v>2.831755825032994E-17</c:v>
              </c:pt>
              <c:pt idx="2">
                <c:v>-8.043652786130308E-17</c:v>
              </c:pt>
              <c:pt idx="3">
                <c:v>-5.402682727522836E-17</c:v>
              </c:pt>
              <c:pt idx="4">
                <c:v>-8.347986275347437E-17</c:v>
              </c:pt>
              <c:pt idx="5">
                <c:v>-7.416063970258935E-17</c:v>
              </c:pt>
              <c:pt idx="6">
                <c:v>-4.265694020657431E-17</c:v>
              </c:pt>
              <c:pt idx="7">
                <c:v>-9.492489347250293E-17</c:v>
              </c:pt>
              <c:pt idx="8">
                <c:v>-1.0491414745056732E-16</c:v>
              </c:pt>
              <c:pt idx="9">
                <c:v>-5.231985014533567E-17</c:v>
              </c:pt>
              <c:pt idx="10">
                <c:v>-1.4923204897607406E-16</c:v>
              </c:pt>
              <c:pt idx="11">
                <c:v>-2.010611678050171E-16</c:v>
              </c:pt>
              <c:pt idx="12">
                <c:v>-4.187173696096064E-17</c:v>
              </c:pt>
              <c:pt idx="13">
                <c:v>-2.8921921034396445E-16</c:v>
              </c:pt>
              <c:pt idx="14">
                <c:v>-1.2805406600937044E-16</c:v>
              </c:pt>
              <c:pt idx="15">
                <c:v>-1.1172675739448148E-16</c:v>
              </c:pt>
              <c:pt idx="16">
                <c:v>-2.2133222818455642E-16</c:v>
              </c:pt>
              <c:pt idx="17">
                <c:v>-2.245134802987985E-16</c:v>
              </c:pt>
              <c:pt idx="18">
                <c:v>-1.7441380605286062E-16</c:v>
              </c:pt>
              <c:pt idx="19">
                <c:v>-4.765556697698448E-16</c:v>
              </c:pt>
              <c:pt idx="20">
                <c:v>-3.612126029891771E-16</c:v>
              </c:pt>
              <c:pt idx="21">
                <c:v>-1.8065134905461464E-16</c:v>
              </c:pt>
              <c:pt idx="22">
                <c:v>-2.728379877527252E-16</c:v>
              </c:pt>
              <c:pt idx="23">
                <c:v>-3.1718911392400895E-16</c:v>
              </c:pt>
              <c:pt idx="24">
                <c:v>-2.8118492527521214E-16</c:v>
              </c:pt>
              <c:pt idx="25">
                <c:v>-9.377951707801542E-17</c:v>
              </c:pt>
              <c:pt idx="26">
                <c:v>-1.1137127796070403E-16</c:v>
              </c:pt>
              <c:pt idx="27">
                <c:v>-2.1704211013844202E-16</c:v>
              </c:pt>
              <c:pt idx="28">
                <c:v>-1.7606692752831045E-16</c:v>
              </c:pt>
              <c:pt idx="29">
                <c:v>-3.341799308041925E-16</c:v>
              </c:pt>
              <c:pt idx="30">
                <c:v>-4.575299363471412E-16</c:v>
              </c:pt>
            </c:numLit>
          </c:yVal>
        </c:ser>
        <c:ser>
          <c:idx val="1"/>
          <c:order val="1"/>
          <c:tx>
            <c:v>q₀ = (0.7,0)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-1.4945406938737424E-16</c:v>
              </c:pt>
              <c:pt idx="1">
                <c:v>1.2784086908435277</c:v>
              </c:pt>
              <c:pt idx="2">
                <c:v>2.5568173816870554</c:v>
              </c:pt>
              <c:pt idx="3">
                <c:v>3.8352260725305847</c:v>
              </c:pt>
              <c:pt idx="4">
                <c:v>5.113634763374113</c:v>
              </c:pt>
              <c:pt idx="5">
                <c:v>6.392043454217642</c:v>
              </c:pt>
              <c:pt idx="6">
                <c:v>7.670452145061169</c:v>
              </c:pt>
              <c:pt idx="7">
                <c:v>8.948860835904698</c:v>
              </c:pt>
              <c:pt idx="8">
                <c:v>10.227269526748222</c:v>
              </c:pt>
              <c:pt idx="9">
                <c:v>11.505678217591754</c:v>
              </c:pt>
              <c:pt idx="10">
                <c:v>12.784086908435283</c:v>
              </c:pt>
              <c:pt idx="11">
                <c:v>14.062495599278808</c:v>
              </c:pt>
              <c:pt idx="12">
                <c:v>15.340904290122337</c:v>
              </c:pt>
              <c:pt idx="13">
                <c:v>16.619312980965873</c:v>
              </c:pt>
              <c:pt idx="14">
                <c:v>17.897721671809396</c:v>
              </c:pt>
              <c:pt idx="15">
                <c:v>19.17613036265292</c:v>
              </c:pt>
              <c:pt idx="16">
                <c:v>20.454539053496443</c:v>
              </c:pt>
              <c:pt idx="17">
                <c:v>21.732947744339985</c:v>
              </c:pt>
              <c:pt idx="18">
                <c:v>23.01135643518351</c:v>
              </c:pt>
              <c:pt idx="19">
                <c:v>24.28976512602703</c:v>
              </c:pt>
              <c:pt idx="20">
                <c:v>25.568173816870566</c:v>
              </c:pt>
              <c:pt idx="21">
                <c:v>26.846582507714093</c:v>
              </c:pt>
              <c:pt idx="22">
                <c:v>28.124991198557616</c:v>
              </c:pt>
              <c:pt idx="23">
                <c:v>29.403399889401143</c:v>
              </c:pt>
              <c:pt idx="24">
                <c:v>30.681808580244677</c:v>
              </c:pt>
              <c:pt idx="25">
                <c:v>31.960217271088204</c:v>
              </c:pt>
              <c:pt idx="26">
                <c:v>33.23862596193174</c:v>
              </c:pt>
              <c:pt idx="27">
                <c:v>34.517034652775266</c:v>
              </c:pt>
              <c:pt idx="28">
                <c:v>35.795443343618786</c:v>
              </c:pt>
              <c:pt idx="29">
                <c:v>37.07385203446232</c:v>
              </c:pt>
              <c:pt idx="30">
                <c:v>38.352260725305854</c:v>
              </c:pt>
            </c:numLit>
          </c:yVal>
        </c:ser>
        <c:ser>
          <c:idx val="2"/>
          <c:order val="2"/>
          <c:tx>
            <c:v>q₀ = (−0.7,0)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-1.464972719015002E-16</c:v>
              </c:pt>
              <c:pt idx="1">
                <c:v>-1.2784086908435282</c:v>
              </c:pt>
              <c:pt idx="2">
                <c:v>-2.5568173816870563</c:v>
              </c:pt>
              <c:pt idx="3">
                <c:v>-3.8352260725305847</c:v>
              </c:pt>
              <c:pt idx="4">
                <c:v>-5.113634763374113</c:v>
              </c:pt>
              <c:pt idx="5">
                <c:v>-6.392043454217643</c:v>
              </c:pt>
              <c:pt idx="6">
                <c:v>-7.670452145061168</c:v>
              </c:pt>
              <c:pt idx="7">
                <c:v>-8.948860835904698</c:v>
              </c:pt>
              <c:pt idx="8">
                <c:v>-10.227269526748225</c:v>
              </c:pt>
              <c:pt idx="9">
                <c:v>-11.505678217591752</c:v>
              </c:pt>
              <c:pt idx="10">
                <c:v>-12.784086908435283</c:v>
              </c:pt>
              <c:pt idx="11">
                <c:v>-14.062495599278808</c:v>
              </c:pt>
              <c:pt idx="12">
                <c:v>-15.340904290122339</c:v>
              </c:pt>
              <c:pt idx="13">
                <c:v>-16.61931298096587</c:v>
              </c:pt>
              <c:pt idx="14">
                <c:v>-17.897721671809396</c:v>
              </c:pt>
              <c:pt idx="15">
                <c:v>-19.176130362652927</c:v>
              </c:pt>
              <c:pt idx="16">
                <c:v>-20.45453905349645</c:v>
              </c:pt>
              <c:pt idx="17">
                <c:v>-21.732947744339977</c:v>
              </c:pt>
              <c:pt idx="18">
                <c:v>-23.01135643518351</c:v>
              </c:pt>
              <c:pt idx="19">
                <c:v>-24.28976512602704</c:v>
              </c:pt>
              <c:pt idx="20">
                <c:v>-25.568173816870566</c:v>
              </c:pt>
              <c:pt idx="21">
                <c:v>-26.846582507714096</c:v>
              </c:pt>
              <c:pt idx="22">
                <c:v>-28.124991198557616</c:v>
              </c:pt>
              <c:pt idx="23">
                <c:v>-29.403399889401147</c:v>
              </c:pt>
              <c:pt idx="24">
                <c:v>-30.681808580244677</c:v>
              </c:pt>
              <c:pt idx="25">
                <c:v>-31.960217271088204</c:v>
              </c:pt>
              <c:pt idx="26">
                <c:v>-33.23862596193174</c:v>
              </c:pt>
              <c:pt idx="27">
                <c:v>-34.517034652775266</c:v>
              </c:pt>
              <c:pt idx="28">
                <c:v>-35.795443343618786</c:v>
              </c:pt>
              <c:pt idx="29">
                <c:v>-37.07385203446232</c:v>
              </c:pt>
              <c:pt idx="30">
                <c:v>-38.352260725305854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40"/>
        <c:majorUnit val="2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 RMS 宽度随时间变化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(0,0)，σₓ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4.1878799261897175</c:v>
              </c:pt>
              <c:pt idx="6">
                <c:v>4.2679277310778385</c:v>
              </c:pt>
              <c:pt idx="7">
                <c:v>4.360635621250448</c:v>
              </c:pt>
              <c:pt idx="8">
                <c:v>4.465215110946835</c:v>
              </c:pt>
              <c:pt idx="9">
                <c:v>4.5808531972583735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5.138011945003214</c:v>
              </c:pt>
              <c:pt idx="14">
                <c:v>5.297223054136302</c:v>
              </c:pt>
              <c:pt idx="15">
                <c:v>5.463061823340935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6.18171535320736</c:v>
              </c:pt>
              <c:pt idx="20">
                <c:v>6.372865322515827</c:v>
              </c:pt>
              <c:pt idx="21">
                <c:v>6.567822104157858</c:v>
              </c:pt>
              <c:pt idx="22">
                <c:v>6.766256648021781</c:v>
              </c:pt>
              <c:pt idx="23">
                <c:v>6.967871836079364</c:v>
              </c:pt>
              <c:pt idx="24">
                <c:v>7.172399450898678</c:v>
              </c:pt>
              <c:pt idx="25">
                <c:v>7.37959734027338</c:v>
              </c:pt>
              <c:pt idx="26">
                <c:v>7.589246799780783</c:v>
              </c:pt>
              <c:pt idx="27">
                <c:v>7.801150180165127</c:v>
              </c:pt>
              <c:pt idx="28">
                <c:v>8.015128716439465</c:v>
              </c:pt>
              <c:pt idx="29">
                <c:v>8.231020569211895</c:v>
              </c:pt>
              <c:pt idx="30">
                <c:v>8.448679064953334</c:v>
              </c:pt>
            </c:numLit>
          </c:yVal>
        </c:ser>
        <c:ser>
          <c:idx val="1"/>
          <c:order val="1"/>
          <c:tx>
            <c:v>q₀ = (0.7,0)，σₓ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4.004521895537584</c:v>
              </c:pt>
              <c:pt idx="2">
                <c:v>4.0180570487935725</c:v>
              </c:pt>
              <c:pt idx="3">
                <c:v>4.040514881368383</c:v>
              </c:pt>
              <c:pt idx="4">
                <c:v>4.071747756116391</c:v>
              </c:pt>
              <c:pt idx="5">
                <c:v>4.111555702650546</c:v>
              </c:pt>
              <c:pt idx="6">
                <c:v>4.159692539868474</c:v>
              </c:pt>
              <c:pt idx="7">
                <c:v>4.215872979604167</c:v>
              </c:pt>
              <c:pt idx="8">
                <c:v>4.2797802697983744</c:v>
              </c:pt>
              <c:pt idx="9">
                <c:v>4.351073954673057</c:v>
              </c:pt>
              <c:pt idx="10">
                <c:v>4.429397383842737</c:v>
              </c:pt>
              <c:pt idx="11">
                <c:v>4.514384679292558</c:v>
              </c:pt>
              <c:pt idx="12">
                <c:v>4.605666955496211</c:v>
              </c:pt>
              <c:pt idx="13">
                <c:v>4.702877672335097</c:v>
              </c:pt>
              <c:pt idx="14">
                <c:v>4.80565707480528</c:v>
              </c:pt>
              <c:pt idx="15">
                <c:v>4.913655733156728</c:v>
              </c:pt>
              <c:pt idx="16">
                <c:v>5.026537240588372</c:v>
              </c:pt>
              <c:pt idx="17">
                <c:v>5.143980153707771</c:v>
              </c:pt>
              <c:pt idx="18">
                <c:v>5.26567927585197</c:v>
              </c:pt>
              <c:pt idx="19">
                <c:v>5.391346387889976</c:v>
              </c:pt>
              <c:pt idx="20">
                <c:v>5.5207105281812705</c:v>
              </c:pt>
              <c:pt idx="21">
                <c:v>5.6535179155467965</c:v>
              </c:pt>
              <c:pt idx="22">
                <c:v>5.7895315985427995</c:v>
              </c:pt>
              <c:pt idx="23">
                <c:v>5.92853090262017</c:v>
              </c:pt>
              <c:pt idx="24">
                <c:v>6.070310735028232</c:v>
              </c:pt>
              <c:pt idx="25">
                <c:v>6.2146807963044655</c:v>
              </c:pt>
              <c:pt idx="26">
                <c:v>6.361464737290608</c:v>
              </c:pt>
              <c:pt idx="27">
                <c:v>6.510499292013485</c:v>
              </c:pt>
              <c:pt idx="28">
                <c:v>6.661633409495314</c:v>
              </c:pt>
              <c:pt idx="29">
                <c:v>6.814727401545869</c:v>
              </c:pt>
              <c:pt idx="30">
                <c:v>6.969652118716968</c:v>
              </c:pt>
            </c:numLit>
          </c:yVal>
        </c:ser>
        <c:ser>
          <c:idx val="2"/>
          <c:order val="2"/>
          <c:tx>
            <c:v>q₀ = (0.7,0)，σᵧ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4.187879926189718</c:v>
              </c:pt>
              <c:pt idx="6">
                <c:v>4.267927731077839</c:v>
              </c:pt>
              <c:pt idx="7">
                <c:v>4.360635621250449</c:v>
              </c:pt>
              <c:pt idx="8">
                <c:v>4.465215110946835</c:v>
              </c:pt>
              <c:pt idx="9">
                <c:v>4.580853197258374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5.138011945003215</c:v>
              </c:pt>
              <c:pt idx="14">
                <c:v>5.297223054136302</c:v>
              </c:pt>
              <c:pt idx="15">
                <c:v>5.463061823340934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6.181715353207359</c:v>
              </c:pt>
              <c:pt idx="20">
                <c:v>6.372865322515828</c:v>
              </c:pt>
              <c:pt idx="21">
                <c:v>6.567822104157857</c:v>
              </c:pt>
              <c:pt idx="22">
                <c:v>6.766256648021781</c:v>
              </c:pt>
              <c:pt idx="23">
                <c:v>6.967871836079363</c:v>
              </c:pt>
              <c:pt idx="24">
                <c:v>7.172399450898678</c:v>
              </c:pt>
              <c:pt idx="25">
                <c:v>7.3795973402733805</c:v>
              </c:pt>
              <c:pt idx="26">
                <c:v>7.589246799780783</c:v>
              </c:pt>
              <c:pt idx="27">
                <c:v>7.801150180165125</c:v>
              </c:pt>
              <c:pt idx="28">
                <c:v>8.015128716439465</c:v>
              </c:pt>
              <c:pt idx="29">
                <c:v>8.231020569211896</c:v>
              </c:pt>
              <c:pt idx="30">
                <c:v>8.448679064953332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RMS 宽度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相同初始宽度的传播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相对平移初态的复态重合度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08730-6278-4532-89C0-5258CA1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15DC1-1ECB-4CC9-8B25-75261A6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405D-EEE7-4497-B712-B00B805A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理论来源：单磁子推导 PDF　模拟：均匀最近邻交换模型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A8ED-C93D-4DEA-B376-25B1A7D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76EF5-5CCA-4C8F-AE13-93870888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库仑交换与线性波包动力学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7B16E-61A3-4969-B119-1B9DA94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基本物理图像与数值模拟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2C349-E876-4315-9757-BCD3810396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13453577749b6"/>
          <a:stretch xmlns:a="http://schemas.openxmlformats.org/drawingml/2006/main"/>
        </p:blipFill>
        <p:spPr>
          <a:xfrm xmlns:a="http://schemas.openxmlformats.org/drawingml/2006/main">
            <a:off x="6619875" y="1756416"/>
            <a:ext cx="5238750" cy="293559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6BEA-C930-4F0A-BBC3-F7535ED35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7bef7f9004486"/>
          <a:stretch xmlns:a="http://schemas.openxmlformats.org/drawingml/2006/main"/>
        </p:blipFill>
        <p:spPr>
          <a:xfrm xmlns:a="http://schemas.openxmlformats.org/drawingml/2006/main">
            <a:off x="552450" y="4050148"/>
            <a:ext cx="5829300" cy="567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8F03E-0DE4-4AC3-B9ED-FDC2BF89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由微观交换确定传播算符，再用局域激发与波包解释它的动力学。</a:t>
            </a:r>
          </a:p>
        </p:txBody>
      </p:sp>
    </p:spTree>
    <p:extLst>
      <p:ext uri="{BB962C8B-B14F-4D97-AF65-F5344CB8AC3E}">
        <p14:creationId xmlns:p14="http://schemas.microsoft.com/office/powerpoint/2010/main" val="792882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A9B88-EDE4-46F4-B99B-75024CE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研究对象与报告问题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B3B8A-C567-4F96-AD00-B3A29E1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2C78D-2AD9-44D6-A077-FCF51CA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3–5 页　动画 B14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A2108-D4D4-4790-8240-A22956A8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3179-2FD4-47F7-9EEA-566B5F337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9231d25d4414f"/>
          <a:stretch xmlns:a="http://schemas.openxmlformats.org/drawingml/2006/main"/>
        </p:blipFill>
        <p:spPr>
          <a:xfrm xmlns:a="http://schemas.openxmlformats.org/drawingml/2006/main">
            <a:off x="640556" y="1257300"/>
            <a:ext cx="6243638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BAE71-A6BB-41AB-AEE9-6A5B5597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98E74-C5F2-4EB7-9A5C-78BF1737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二维正方晶格，每格点自旋 1/2。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最近邻交换 Jₓ、Jᵧ，零外场。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5444E-CC1B-4858-8082-7C4B738D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726C0-4B9B-4CB2-BA6D-CD3A9BD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局域翻转怎样向外传播？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载波怎样决定传播方向？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有限宽度波包为什么会展宽？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60131-2DF6-47E2-82AE-DD89230A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F9FE-DB7F-485B-B050-899025E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本报告把原理推导与可观测的概率分布逐一对应。</a:t>
            </a:r>
          </a:p>
        </p:txBody>
      </p:sp>
    </p:spTree>
    <p:extLst>
      <p:ext uri="{BB962C8B-B14F-4D97-AF65-F5344CB8AC3E}">
        <p14:creationId xmlns:p14="http://schemas.microsoft.com/office/powerpoint/2010/main" val="407376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53C93-898A-4229-B850-C6C72CA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两电子的直接积分与交换积分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A8D34-B90E-429B-B0F7-F2CCE92D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22CB4-306F-49D5-9812-698DF25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1–2 页，式 (1)–(9)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873DD-0A20-4D94-A4CE-93BF4719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B16F4-9305-4F65-8A2D-71861278F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6505dc83a495e"/>
          <a:stretch xmlns:a="http://schemas.openxmlformats.org/drawingml/2006/main"/>
        </p:blipFill>
        <p:spPr>
          <a:xfrm xmlns:a="http://schemas.openxmlformats.org/drawingml/2006/main">
            <a:off x="581025" y="1566568"/>
            <a:ext cx="7524750" cy="1772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7F5BA-D29C-42BD-B400-93857259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固定占据的出发点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B6A5-720E-4FA3-8C31-C86EFC4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轨道 a、b 正交归一，各有一个电子。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库仑核作用在两电子坐标上。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FA0FE-3E63-4011-A7D6-A177F742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两种矩阵元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8518C-F9A9-4C90-832D-B1C3580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对应保持轨道配对的直接项。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K 对应交换轨道配对的交换项。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2A28C-C61C-4766-AEC8-25544B2F1A12}"/>
              </a:ext>
            </a:extLst>
          </p:cNvPr>
          <p:cNvGraphicFramePr/>
          <p:nvPr/>
        </p:nvGraphicFramePr>
        <p:xfrm>
          <a:off xmlns:a="http://schemas.openxmlformats.org/drawingml/2006/main" x="581025" y="3743325"/>
          <a:ext xmlns:a="http://schemas.openxmlformats.org/drawingml/2006/main" cx="747712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381375"/>
              </a:tblGrid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依赖的空间结构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在自旋模型中的作用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两轨道的密度分布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贡献共同能量常数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两轨道的交叉乘积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决定自旋交换耦合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2F417-C087-48CC-A415-AA01BC4B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68D9F-9FE2-4409-95EB-A2CDB82D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在固定轨道模型中，交换积分把电子的空间结构带入自旋动力学。</a:t>
            </a:r>
          </a:p>
        </p:txBody>
      </p:sp>
    </p:spTree>
    <p:extLst>
      <p:ext uri="{BB962C8B-B14F-4D97-AF65-F5344CB8AC3E}">
        <p14:creationId xmlns:p14="http://schemas.microsoft.com/office/powerpoint/2010/main" val="1706270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5DEDC-DFC3-4746-99DD-D5BA73BB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库仑矩阵与单重态、三重态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7EF67-50DA-46A7-9C46-7149861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94B7C-2041-454B-BEC9-D3BD877B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 页，式 (10)–(14)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1BF46-5739-46A2-BD92-B598DCE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101B0-CE78-4813-9B84-D3DE913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561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有序基底：↑↑、↑↓、↓↑、↓↓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3B3B7-E646-4A14-A97B-F90BBE0B50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c789c01084edd"/>
          <a:stretch xmlns:a="http://schemas.openxmlformats.org/drawingml/2006/main"/>
        </p:blipFill>
        <p:spPr>
          <a:xfrm xmlns:a="http://schemas.openxmlformats.org/drawingml/2006/main">
            <a:off x="548717" y="1476375"/>
            <a:ext cx="5465291" cy="20955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B8B40-D64B-448B-AB5C-3A2FD0551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0fc227b844911"/>
          <a:stretch xmlns:a="http://schemas.openxmlformats.org/drawingml/2006/main"/>
        </p:blipFill>
        <p:spPr>
          <a:xfrm xmlns:a="http://schemas.openxmlformats.org/drawingml/2006/main">
            <a:off x="1295995" y="3838575"/>
            <a:ext cx="3942159" cy="1638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860B629-935A-4E5B-875F-0BC87274D518}"/>
              </a:ext>
            </a:extLst>
          </p:cNvPr>
          <p:cNvGraphicFramePr/>
          <p:nvPr/>
        </p:nvGraphicFramePr>
        <p:xfrm>
          <a:off xmlns:a="http://schemas.openxmlformats.org/drawingml/2006/main" x="6334125" y="14097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778da9eced492f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029B0-EF70-4028-908B-B3AFE8FB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时，三重态能量更低。</a:t>
            </a:r>
          </a:p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能级间隔为 2K。</a:t>
            </a:r>
          </a:p>
        </p:txBody>
      </p:sp>
    </p:spTree>
    <p:extLst>
      <p:ext uri="{BB962C8B-B14F-4D97-AF65-F5344CB8AC3E}">
        <p14:creationId xmlns:p14="http://schemas.microsoft.com/office/powerpoint/2010/main" val="449510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027E2-C477-4B7E-97B9-3F714D7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矩阵匹配给出 Heisenberg 交换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F3A30-C478-45ED-BE72-006BD77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1D22-AFF6-4753-82D1-98626F5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(17)–(21)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92322-A61E-4DCC-ADA4-ABEDAB5F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445E7-1553-421F-833B-6A9D4DF597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5532bab4a4c7e"/>
          <a:stretch xmlns:a="http://schemas.openxmlformats.org/drawingml/2006/main"/>
        </p:blipFill>
        <p:spPr>
          <a:xfrm xmlns:a="http://schemas.openxmlformats.org/drawingml/2006/main">
            <a:off x="1547325" y="1438275"/>
            <a:ext cx="3858599" cy="22193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CEAC1-95D3-475D-BCBB-7A3DAA5DC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a3a848c524fab"/>
          <a:stretch xmlns:a="http://schemas.openxmlformats.org/drawingml/2006/main"/>
        </p:blipFill>
        <p:spPr>
          <a:xfrm xmlns:a="http://schemas.openxmlformats.org/drawingml/2006/main">
            <a:off x="1306727" y="4171950"/>
            <a:ext cx="4587446" cy="102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1612D-9406-4C87-9875-DFB9D997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−J / 2 = −K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642F5-46B0-4F93-985D-DDEDDCA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32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5A039-6318-4CD6-A104-0F15CDC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共同的能量常数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14057-968D-4789-9FEE-4AF5C5F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− K/2 不改变自旋态之间的能量差。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对所有最近邻键求和得到晶格模型。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90EDC-8D78-40B9-B439-96571B8C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599B2-4DEF-4494-87E3-75719114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自旋点积形式与两电子矩阵等价，交换系数由矩阵元确定。</a:t>
            </a:r>
          </a:p>
        </p:txBody>
      </p:sp>
    </p:spTree>
    <p:extLst>
      <p:ext uri="{BB962C8B-B14F-4D97-AF65-F5344CB8AC3E}">
        <p14:creationId xmlns:p14="http://schemas.microsoft.com/office/powerpoint/2010/main" val="536985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7B952-C40F-4BEF-8778-0672BFD5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二维交换模型与全极化基态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FE504-8F64-4621-BE61-0EC1530B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5051A-E93E-41D6-BB6C-BF90E247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(22)–(25)　图 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A7836-B01E-4709-8C24-FCE89DE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37E4-0C3E-41C4-90B3-13BF68849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b4b6c903d42e5"/>
          <a:stretch xmlns:a="http://schemas.openxmlformats.org/drawingml/2006/main"/>
        </p:blipFill>
        <p:spPr>
          <a:xfrm xmlns:a="http://schemas.openxmlformats.org/drawingml/2006/main">
            <a:off x="361950" y="1477089"/>
            <a:ext cx="6905625" cy="375142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C041E-67DE-4DFF-AF4C-DA98013C5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85929a7164982"/>
          <a:stretch xmlns:a="http://schemas.openxmlformats.org/drawingml/2006/main"/>
        </p:blipFill>
        <p:spPr>
          <a:xfrm xmlns:a="http://schemas.openxmlformats.org/drawingml/2006/main">
            <a:off x="7429500" y="1736624"/>
            <a:ext cx="4191000" cy="5844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656BC-F331-41F6-B18E-AE6EC04E7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43250364a4b6a"/>
          <a:stretch xmlns:a="http://schemas.openxmlformats.org/drawingml/2006/main"/>
        </p:blipFill>
        <p:spPr>
          <a:xfrm xmlns:a="http://schemas.openxmlformats.org/drawingml/2006/main">
            <a:off x="8250051" y="3000375"/>
            <a:ext cx="2635624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B48AD-6694-4694-91D4-8FB05BB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8957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每条键只计一次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Jₓ、Jᵧ &gt; 0，零外场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背景自旋沿 +x 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39323-CEA2-408E-818C-2621DEE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6429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左图为 5 × 5 个格点的局部示意。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1F760-B1A3-4107-B353-5A35A6C3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FE822-6158-4A1B-BFB0-A7F57F0A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Jₓ ≠ Jᵧ 改变空间方向的耦合强度，单磁子仍在同一条能带上运动。</a:t>
            </a:r>
          </a:p>
        </p:txBody>
      </p:sp>
    </p:spTree>
    <p:extLst>
      <p:ext uri="{BB962C8B-B14F-4D97-AF65-F5344CB8AC3E}">
        <p14:creationId xmlns:p14="http://schemas.microsoft.com/office/powerpoint/2010/main" val="883624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1FDF9-AE0D-428C-921C-05BD1AC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单翻转子空间中的精确动力学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ECF0E-2B75-4593-AFDE-72826DB4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C7BFE-5AED-42AF-8C49-3909585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 页，式 (26)–(31)　图 B01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4509E-BB7B-4F34-B4E1-4D51745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F6AA4-90E8-4BFD-971C-181111869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6e96ca2e04859"/>
          <a:stretch xmlns:a="http://schemas.openxmlformats.org/drawingml/2006/main"/>
        </p:blipFill>
        <p:spPr>
          <a:xfrm xmlns:a="http://schemas.openxmlformats.org/drawingml/2006/main">
            <a:off x="3139490" y="1362075"/>
            <a:ext cx="5303420" cy="676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AB68A-011A-40CF-92CD-FF6CD07FE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a6374e0294eea"/>
          <a:stretch xmlns:a="http://schemas.openxmlformats.org/drawingml/2006/main"/>
        </p:blipFill>
        <p:spPr>
          <a:xfrm xmlns:a="http://schemas.openxmlformats.org/drawingml/2006/main">
            <a:off x="514350" y="2633214"/>
            <a:ext cx="5810250" cy="11724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CDF36-3BA9-4739-BA7C-97B43F39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H 作用后仍是单翻转基矢的叠加。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F27C-02B5-41EB-832B-F3BCC03A3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1e1a1ebc34774"/>
          <a:stretch xmlns:a="http://schemas.openxmlformats.org/drawingml/2006/main"/>
        </p:blipFill>
        <p:spPr>
          <a:xfrm xmlns:a="http://schemas.openxmlformats.org/drawingml/2006/main">
            <a:off x="514350" y="4441540"/>
            <a:ext cx="5810250" cy="718121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F9E5F-C5B7-422B-8FBD-7B1E42461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4de6883ee4279"/>
          <a:stretch xmlns:a="http://schemas.openxmlformats.org/drawingml/2006/main"/>
        </p:blipFill>
        <p:spPr>
          <a:xfrm xmlns:a="http://schemas.openxmlformats.org/drawingml/2006/main">
            <a:off x="7572211" y="2266950"/>
            <a:ext cx="3429328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68EA2-4228-4FB1-92D0-5DA0F6D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C2F47-9E0F-4664-9625-AB323476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Pᵢ = |cᵢ|²，ΣPᵢ = 1。沿极化轴的局域自旋满足 〈Sᵢˣ〉 = 1/2 − Pᵢ。</a:t>
            </a:r>
          </a:p>
        </p:txBody>
      </p:sp>
    </p:spTree>
    <p:extLst>
      <p:ext uri="{BB962C8B-B14F-4D97-AF65-F5344CB8AC3E}">
        <p14:creationId xmlns:p14="http://schemas.microsoft.com/office/powerpoint/2010/main" val="539937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84C3A-7629-4F51-AE22-7C6CDB68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交换耦合把翻转振幅传给相邻格点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8AEDE-D40F-4F03-96F9-E7FB925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BD3E7-30C4-4938-ABC3-FB59AF68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(28)、(34)、(35)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4DBA8-93A1-4D60-AFAD-0A7596A6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0FE93-1D66-4D38-9C70-9D598BFA5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a0e8d145b40bb"/>
          <a:stretch xmlns:a="http://schemas.openxmlformats.org/drawingml/2006/main"/>
        </p:blipFill>
        <p:spPr>
          <a:xfrm xmlns:a="http://schemas.openxmlformats.org/drawingml/2006/main">
            <a:off x="2071688" y="1333500"/>
            <a:ext cx="4000500" cy="857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D41A6-7D01-4746-B271-9ADAF19BA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4fdf7824e4415"/>
          <a:stretch xmlns:a="http://schemas.openxmlformats.org/drawingml/2006/main"/>
        </p:blipFill>
        <p:spPr>
          <a:xfrm xmlns:a="http://schemas.openxmlformats.org/drawingml/2006/main">
            <a:off x="2437861" y="2686050"/>
            <a:ext cx="7316278" cy="16859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AF13F-F62F-4AFB-9546-B1F6FBCD60DA}"/>
              </a:ext>
            </a:extLst>
          </p:cNvPr>
          <p:cNvGraphicFramePr/>
          <p:nvPr/>
        </p:nvGraphicFramePr>
        <p:xfrm>
          <a:off xmlns:a="http://schemas.openxmlformats.org/drawingml/2006/main" x="619125" y="4638675"/>
          <a:ext xmlns:a="http://schemas.openxmlformats.org/drawingml/2006/main" cx="10906125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143250"/>
                <a:gridCol w="561975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基态能量 + Jₓ + Jᵧ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共同相位与交换对角能量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−Jₓ/2、−Jᵧ/2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41EA4-8670-4AA3-A54C-7221301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573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单条交换键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73D0-DD2A-4006-AEC4-AAC366F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847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保留原位置，也产生相邻位置的振幅。</a:t>
            </a:r>
          </a:p>
        </p:txBody>
      </p:sp>
    </p:spTree>
    <p:extLst>
      <p:ext uri="{BB962C8B-B14F-4D97-AF65-F5344CB8AC3E}">
        <p14:creationId xmlns:p14="http://schemas.microsoft.com/office/powerpoint/2010/main" val="1284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50D29-C3F1-4CCC-9E2E-BA6C8466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平面波代入运动方程得到色散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BA9F4-B815-49B4-B69B-D2D0D52A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27CE9-0BA7-4A18-A915-ED207C9F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(36)–(39)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5C758-CE5F-479C-A9E5-584510EE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59C0D-943C-4FA6-89C2-88355AF8C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be358b82149bf"/>
          <a:stretch xmlns:a="http://schemas.openxmlformats.org/drawingml/2006/main"/>
        </p:blipFill>
        <p:spPr>
          <a:xfrm xmlns:a="http://schemas.openxmlformats.org/drawingml/2006/main">
            <a:off x="1335881" y="1352550"/>
            <a:ext cx="4767263" cy="866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0CDBB-9586-4D6C-A0D1-7D3097AD9C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0fdcccbb64c6e"/>
          <a:stretch xmlns:a="http://schemas.openxmlformats.org/drawingml/2006/main"/>
        </p:blipFill>
        <p:spPr>
          <a:xfrm xmlns:a="http://schemas.openxmlformats.org/drawingml/2006/main">
            <a:off x="1562514" y="2628900"/>
            <a:ext cx="9009822" cy="800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A922A-34DF-4533-BAAB-269A289772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6a00d82834013"/>
          <a:stretch xmlns:a="http://schemas.openxmlformats.org/drawingml/2006/main"/>
        </p:blipFill>
        <p:spPr>
          <a:xfrm xmlns:a="http://schemas.openxmlformats.org/drawingml/2006/main">
            <a:off x="2151970" y="3819525"/>
            <a:ext cx="7678511" cy="1266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A1BB9-E226-42E9-BA23-3EF53098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平移本征模式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73DAD-AD5B-4196-B038-B2DAAF7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3505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相邻格点的振幅大小相同，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空间移动只改变相位。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86866-BFC3-4F77-8A8A-5151F84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3CFF8-2CDE-4ED9-91E3-A8DF73C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余弦项来自正、反两个最近邻方向的相位之和。</a:t>
            </a:r>
          </a:p>
        </p:txBody>
      </p:sp>
    </p:spTree>
    <p:extLst>
      <p:ext uri="{BB962C8B-B14F-4D97-AF65-F5344CB8AC3E}">
        <p14:creationId xmlns:p14="http://schemas.microsoft.com/office/powerpoint/2010/main" val="1063059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63663-05EE-4FB9-B0FB-39A0EDEF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色散曲面与方向带宽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55F74-4BB3-4B0A-8268-5839F340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94F3E-C04D-42FB-A2F7-8E0D3F71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式 (39)　模拟 A02、A03 轴向截面数据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EAA54-78C6-48BE-8AA2-0ACE8E4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3169B-D33B-41D7-92FE-54AC7F797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26b7d392647d2"/>
          <a:stretch xmlns:a="http://schemas.openxmlformats.org/drawingml/2006/main"/>
        </p:blipFill>
        <p:spPr>
          <a:xfrm xmlns:a="http://schemas.openxmlformats.org/drawingml/2006/main">
            <a:off x="381000" y="1580117"/>
            <a:ext cx="5715000" cy="32024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39B6FDE-C258-4629-917D-A0825B7A5965}"/>
              </a:ext>
            </a:extLst>
          </p:cNvPr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3911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36e1e8a93c4b3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DA3C9-25D4-4869-B388-60A937B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η = 1：能带宽度 4Jₓ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A6622-7908-4411-854A-6A11BC3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 Jₓ，减小 η 会降低 y 方向带宽。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EF804-8899-454B-9F19-03DADDCD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C19DD-3BE1-4C6F-A484-8F490BA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正方晶格在大波矢处保留晶格对称性，长波区域才近似抛物面。</a:t>
            </a:r>
          </a:p>
        </p:txBody>
      </p:sp>
    </p:spTree>
    <p:extLst>
      <p:ext uri="{BB962C8B-B14F-4D97-AF65-F5344CB8AC3E}">
        <p14:creationId xmlns:p14="http://schemas.microsoft.com/office/powerpoint/2010/main" val="1222829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68CC2-8A85-438C-BFA8-E07A000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等频线与能量传播方向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73703-1924-4A35-9D09-4A8E7D1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46D43-684E-4444-93C3-52BFC8A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A05、A06，η = 1 与 0.35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C36A3-2B86-4FD4-AAF8-15312ADB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4EE94-4380-4223-BE2E-F7DE27568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c346eb7e344eb"/>
          <a:stretch xmlns:a="http://schemas.openxmlformats.org/drawingml/2006/main"/>
        </p:blipFill>
        <p:spPr>
          <a:xfrm xmlns:a="http://schemas.openxmlformats.org/drawingml/2006/main">
            <a:off x="2589883" y="1190625"/>
            <a:ext cx="701223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AA554-8B20-4426-AE2B-10369DF5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同一条等频线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6C3B8-4EFC-490B-893E-9FBEEBD3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线上各模式的频率相同。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群速度指向色散曲面的梯度方向。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58C6F-FFE4-44A6-9254-2548E124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空间各向异性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8116C-8FCC-4E90-9973-6A05CC0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 Jᵧ 会降低群速度的 y 分量。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波矢方向与传播方向需分别判断。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961780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CE0E-125A-4AFA-B03B-CAE70479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群速度由色散斜率决定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EAAD3-2E3B-47EA-9913-FC2B2889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34A92-77D2-45F1-A9B1-F6D941B5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A07　ω = ε /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1F0F3-A1BC-426E-AF5F-2A7C7EC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69959-DF10-4017-8E70-FBE6C96AD6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4fd88522a41d7"/>
          <a:stretch xmlns:a="http://schemas.openxmlformats.org/drawingml/2006/main"/>
        </p:blipFill>
        <p:spPr>
          <a:xfrm xmlns:a="http://schemas.openxmlformats.org/drawingml/2006/main">
            <a:off x="2652337" y="1190625"/>
            <a:ext cx="688732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F040-E840-448D-A84C-490F4F5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群速度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2344D-396B-48A9-A9D8-5ABFA930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v = (1/ℏ)∇ₖε。沿 x 方向，vₓ = (Jₓa/ℏ) sin qₓ。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B2DAF-A5DF-4BA3-9615-704B597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方向与速度上限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3BB2F-7704-4BCE-9DBC-D1FFD000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近原点，qₓ 的符号决定方向。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最大 |vₓ| 对应 qₓ = ±π/2。</a:t>
            </a:r>
          </a:p>
        </p:txBody>
      </p:sp>
    </p:spTree>
    <p:extLst>
      <p:ext uri="{BB962C8B-B14F-4D97-AF65-F5344CB8AC3E}">
        <p14:creationId xmlns:p14="http://schemas.microsoft.com/office/powerpoint/2010/main" val="20868116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19051-7B92-489D-92F8-CBABCA6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原理公式与传播模拟的对应关系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C94A0-A9AF-4A5B-8FC0-738A2A4F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3F11F-0B6A-47D5-A202-94C92BF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　模拟 common.py 与 THEORY.md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CEF5B-416F-47DE-8337-3C63D08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40C8E-93CC-4024-98F6-706F43E7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E5BD0-24D2-45A0-A3FA-F5CB7B3B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95400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80371-467B-49FE-972F-A69CF88A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38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81BFF-702C-4931-B590-4A9EE8D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95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9B49C-C0CB-4F28-A42A-75BE41D0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9540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|ψ|² = |c|²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7A86F-7F3E-4C53-8755-B5DC856F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n = r/a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BE9E3-90D6-4119-9BC7-DB783746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9775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505C2-BE2B-4C14-AE72-9970A557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2B8F2-31FA-4701-960A-5652CA44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η = Jᵧ/Jₓ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2FB12-0937-4FD3-898A-0698CC69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A7278-DC2E-4662-A57F-1B450798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e(q) = ε/Jₓ = 1 − cos qₓ + η(1 − cos qᵧ)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301B1-8C18-424B-9DFB-BB56F4B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A(q,τ) = A(q,0) exp[−i e(q)τ]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5FF3E-E07F-41D5-BFDC-55FD81118E1E}"/>
              </a:ext>
            </a:extLst>
          </p:cNvPr>
          <p:cNvGraphicFramePr/>
          <p:nvPr/>
        </p:nvGraphicFramePr>
        <p:xfrm>
          <a:off xmlns:a="http://schemas.openxmlformats.org/drawingml/2006/main" x="600075" y="4229100"/>
          <a:ext xmlns:a="http://schemas.openxmlformats.org/drawingml/2006/main" cx="11001375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52875"/>
                <a:gridCol w="3667125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波矢空间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 ψ(n,0)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得到 A(q,0)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P(n,0) = |ψ(n,0)|²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FFT 得到 ψ(n,τ)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各模式独立积累时间相位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P(n,τ)、质心、RMS 宽度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D49B8-CF67-49E2-8CA2-583AAC7F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6A319D-9959-4FEB-A3D1-9EF48B01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完整余弦色散直接决定时间演化，有限周期盒的影响另用扩大晶格对照检查。</a:t>
            </a:r>
          </a:p>
        </p:txBody>
      </p:sp>
    </p:spTree>
    <p:extLst>
      <p:ext uri="{BB962C8B-B14F-4D97-AF65-F5344CB8AC3E}">
        <p14:creationId xmlns:p14="http://schemas.microsoft.com/office/powerpoint/2010/main" val="18741256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1FB1C-09F1-4E95-9FB7-6CE1DD1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一个格点的局域翻转包含整个能带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84A7-3A7B-40EB-B903-FDCAFFF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EB77-B437-4C91-BD66-0EF68BD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B02　N = 256 表示 256 × 256 格点，Σ|A|²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1F1A9-D567-49DB-8BD1-E6BCCF5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5CD96-2F44-458C-91E3-3483ED1D9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bae5d2dc449f0"/>
          <a:stretch xmlns:a="http://schemas.openxmlformats.org/drawingml/2006/main"/>
        </p:blipFill>
        <p:spPr>
          <a:xfrm xmlns:a="http://schemas.openxmlformats.org/drawingml/2006/main">
            <a:off x="2523468" y="1190625"/>
            <a:ext cx="7145064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86818-BD28-48E8-8662-C190F9F3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位置越局域，频谱越宽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A5A0-F04C-41D5-A582-8D65C6B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单点初态 ψₘₙ = δₘ₀δₙ₀。每个离散波矢的概率都为 1/N²。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71899-A795-4F60-941A-28F20A8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传播的直接后果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1E641-187C-4E28-8B96-1CEA1FA5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许多方向和速度的分量同时参与演化，局域激发自然向周围展开。</a:t>
            </a:r>
          </a:p>
        </p:txBody>
      </p:sp>
    </p:spTree>
    <p:extLst>
      <p:ext uri="{BB962C8B-B14F-4D97-AF65-F5344CB8AC3E}">
        <p14:creationId xmlns:p14="http://schemas.microsoft.com/office/powerpoint/2010/main" val="12272754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DDD80-90BC-461F-8C64-D542888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局域激发的后期传播与干涉图样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E197E-F95A-4D70-9E5D-0A9B8A6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4CD7D-644A-4F4B-ADF2-5EEC0183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B04　η = 1，四个时刻使用共同对数色标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8318F-BF40-41B0-AA4D-B4984F6E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9FC36-2652-4F53-A1CE-716F1B2C5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4f388bb034333"/>
          <a:stretch xmlns:a="http://schemas.openxmlformats.org/drawingml/2006/main"/>
        </p:blipFill>
        <p:spPr>
          <a:xfrm xmlns:a="http://schemas.openxmlformats.org/drawingml/2006/main">
            <a:off x="419100" y="1289508"/>
            <a:ext cx="11353800" cy="3278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14BDC-E04E-4F65-8D16-132EF037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由近邻传递到空间展开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81B31-6402-436B-92C0-45101BE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6、12、24、36 时，概率逐步向外展开，图中保留完整余弦能带的贡献。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1AEA1-34CA-4EB5-A123-20A664E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晶格与相干干涉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F759E-5829-43ED-964E-D509484C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方格晶格留下四重对称图样。不同传播路径叠加形成条纹和旁瓣。</a:t>
            </a:r>
          </a:p>
        </p:txBody>
      </p:sp>
    </p:spTree>
    <p:extLst>
      <p:ext uri="{BB962C8B-B14F-4D97-AF65-F5344CB8AC3E}">
        <p14:creationId xmlns:p14="http://schemas.microsoft.com/office/powerpoint/2010/main" val="18622775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1B2AB-9794-4827-AC70-BA94BF38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交换各向异性控制概率展开的方向尺度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D8FAB-F26E-43ED-903D-D423EAE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391B0-273D-4281-8E95-C6A5DD2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B05、B11、B16　Jₓ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8D5F1-7391-4384-9FDB-726A0D3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2C2F3-B4A6-4E93-AF96-13DF81CB8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a1bc80ece401d"/>
          <a:stretch xmlns:a="http://schemas.openxmlformats.org/drawingml/2006/main"/>
        </p:blipFill>
        <p:spPr>
          <a:xfrm xmlns:a="http://schemas.openxmlformats.org/drawingml/2006/main">
            <a:off x="400050" y="2116989"/>
            <a:ext cx="7639050" cy="2452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C86C9-2876-4217-B5EF-0B610C41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38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相同初态，相同时间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119BE-9015-4CDB-9035-E00CCA94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24 时，x 方向 RMS 宽度均为 16.971a。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0D019-A29D-49AE-AA17-5005F13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改变 η = Jᵧ/Jₓ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EABD9-2D6F-41FB-A493-91F1F075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1：σᵧ = 16.971a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0.3：σᵧ = 5.091a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0：严格停留在原链。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D9DF6-9AC0-49AC-B24D-6F40A1C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1B38F-64CF-4F8A-B479-03B57E61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单点初态的 RMS 长宽比 σᵧ/σₓ = η，给出可直接检查的各向异性规律。</a:t>
            </a:r>
          </a:p>
        </p:txBody>
      </p:sp>
    </p:spTree>
    <p:extLst>
      <p:ext uri="{BB962C8B-B14F-4D97-AF65-F5344CB8AC3E}">
        <p14:creationId xmlns:p14="http://schemas.microsoft.com/office/powerpoint/2010/main" val="1083746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BE348-3162-4A0F-B309-07469BAE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传播前沿与均方根宽度描述不同尺度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15FD8-AF41-4C34-AADD-379B2BDD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55D06-C702-4CE5-A03E-9E31835D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B07、B09　左图 η = 1，右图 η = 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202ED-1693-4A34-8048-B16D2E2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2323C-E22B-4E3A-AD80-30F108D207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72043ed04b53"/>
          <a:stretch xmlns:a="http://schemas.openxmlformats.org/drawingml/2006/main"/>
        </p:blipFill>
        <p:spPr>
          <a:xfrm xmlns:a="http://schemas.openxmlformats.org/drawingml/2006/main">
            <a:off x="361950" y="1931352"/>
            <a:ext cx="6238875" cy="278574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F9B277E-93F8-4818-BD02-DD542EDCA00A}"/>
              </a:ext>
            </a:extLst>
          </p:cNvPr>
          <p:cNvGraphicFramePr/>
          <p:nvPr/>
        </p:nvGraphicFramePr>
        <p:xfrm>
          <a:off xmlns:a="http://schemas.openxmlformats.org/drawingml/2006/main" x="6781800" y="1390650"/>
          <a:ext xmlns:a="http://schemas.openxmlformats.org/drawingml/2006/main" cx="4914900" cy="370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5ec74861b7463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6A8A2-193A-40A4-BE0A-CB337DED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29583-4F7D-4114-B770-A625007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等方情形：σₓ/a = σᵧ/a = 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C0ECE-1CD0-4912-A325-0D9BC100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F3096-FDEB-4D21-ACBC-489FB76C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宽度与时间成正比，对应相干弹道展开。图示前沿之外仍存在小尾部。</a:t>
            </a:r>
          </a:p>
        </p:txBody>
      </p:sp>
    </p:spTree>
    <p:extLst>
      <p:ext uri="{BB962C8B-B14F-4D97-AF65-F5344CB8AC3E}">
        <p14:creationId xmlns:p14="http://schemas.microsoft.com/office/powerpoint/2010/main" val="17392369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A950-527D-4641-81E8-F00E06FD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局域返回概率的相干振荡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AF2C0-EE56-4AA8-88C4-BC0A64AF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4D4F5-6E26-45E7-960E-7C5DF77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B10　固定单磁子数态，η = 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93287-A191-41F0-9666-735EF4B5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0A80B-508E-448D-BD35-0841B764C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efc0c9934a74"/>
          <a:stretch xmlns:a="http://schemas.openxmlformats.org/drawingml/2006/main"/>
        </p:blipFill>
        <p:spPr>
          <a:xfrm xmlns:a="http://schemas.openxmlformats.org/drawingml/2006/main">
            <a:off x="2305028" y="1295400"/>
            <a:ext cx="7562894" cy="3590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D490F-2407-4958-A83B-4981F4E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P₀₀ 随时间降低并出现振荡，ΣP 始终为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D57E5-EC51-4674-ABE6-0D57C67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7D54B-120B-4B95-8B8B-775B151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局部概率减少表示激发向外传播，当前模型没有引入阻尼或磁子损失。</a:t>
            </a:r>
          </a:p>
        </p:txBody>
      </p:sp>
    </p:spTree>
    <p:extLst>
      <p:ext uri="{BB962C8B-B14F-4D97-AF65-F5344CB8AC3E}">
        <p14:creationId xmlns:p14="http://schemas.microsoft.com/office/powerpoint/2010/main" val="4630622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EBDE7-E16E-477E-ADE0-039997F9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翻转概率对应纵向自旋亏损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F943-66AA-4AFE-9B44-4F355B33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CB87A-BB79-4081-80B4-85636FA6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B12　η = 1，τ = 8，背景沿 +x 极化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E5D05-BF3D-4D30-8A81-1C9E5342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9718-79E3-4D3C-B6AB-DB755F5B9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8fd16b9414be1"/>
          <a:stretch xmlns:a="http://schemas.openxmlformats.org/drawingml/2006/main"/>
        </p:blipFill>
        <p:spPr>
          <a:xfrm xmlns:a="http://schemas.openxmlformats.org/drawingml/2006/main">
            <a:off x="2368150" y="1190625"/>
            <a:ext cx="7455699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F1C04-A658-44CB-90F1-C0D0274F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局域观测量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5844D-8C7A-4670-BCCA-5EE00F8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〈Sᵢˣ〉 = 1/2 − Pᵢ。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概率峰对应自旋亏损。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全部格点的亏损之和为 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52621-F0D2-443A-94E6-E236FBE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量子态的解释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27EC0-9FEE-4417-AC57-A1F9437D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固定单磁子数态满足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〈Sᵢʸ〉 = 〈Sᵢᶻ〉 = 0。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概率振幅描述翻转位置的量子叠加。</a:t>
            </a:r>
          </a:p>
        </p:txBody>
      </p:sp>
    </p:spTree>
    <p:extLst>
      <p:ext uri="{BB962C8B-B14F-4D97-AF65-F5344CB8AC3E}">
        <p14:creationId xmlns:p14="http://schemas.microsoft.com/office/powerpoint/2010/main" val="18865124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2578-D4B1-4956-BD3F-B1AD34F6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载波、包络与初始频谱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DA03-F0D7-47C2-BAE5-1211B2F9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12548-1279-43D7-917F-16120E3E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C01　n = r/a，σ 以格点数计，σ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AD044-CDD4-4836-8D14-E9AA919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73E2B-F725-4CE2-AA2B-AD92875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ψ₀(n) ∝ exp[−(nₓ²+nᵧ²)/(4σ²)] exp(i q₀·n)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3E89E-D736-44FE-8DB4-2A5D12E08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2600d22264108"/>
          <a:stretch xmlns:a="http://schemas.openxmlformats.org/drawingml/2006/main"/>
        </p:blipFill>
        <p:spPr>
          <a:xfrm xmlns:a="http://schemas.openxmlformats.org/drawingml/2006/main">
            <a:off x="1762612" y="1905000"/>
            <a:ext cx="8647726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B9F64-8269-4C48-B224-D112EB1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σ 是初始概率 RMS 宽度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EDF42-165F-4B9A-912C-76D51715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乘上载波 exp(iq₀·n) 后，初始位置概率包络保持不变。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FFDB5-F353-4530-BC40-7326ADA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相位决定频谱位置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53BE6-49B2-4408-87D3-9461E750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载波把频谱中心移到 q₀，决定平均速度与传播方向。</a:t>
            </a:r>
          </a:p>
        </p:txBody>
      </p:sp>
    </p:spTree>
    <p:extLst>
      <p:ext uri="{BB962C8B-B14F-4D97-AF65-F5344CB8AC3E}">
        <p14:creationId xmlns:p14="http://schemas.microsoft.com/office/powerpoint/2010/main" val="1629247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10B3F-097A-4A51-94FC-E32A1602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载波选择静止、左行、右行与斜向传播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49E15-4969-4093-884F-4657DEC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DD19F-D167-4D9D-B493-266ABC8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C05　静态快照 τ = 60，σ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12187-E697-4031-A3B1-E0902A2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0FC6-51CC-4148-8027-AE42D7B93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5a48ae3614da2"/>
          <a:stretch xmlns:a="http://schemas.openxmlformats.org/drawingml/2006/main"/>
        </p:blipFill>
        <p:spPr>
          <a:xfrm xmlns:a="http://schemas.openxmlformats.org/drawingml/2006/main">
            <a:off x="400050" y="1652696"/>
            <a:ext cx="11315700" cy="2676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28AC0-8C2E-4C18-908C-56450E94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零中心波矢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E4DCB-2C44-451A-8572-00D975E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200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= (0,0) 时，平均速度为零。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向两侧运动的分量仍使包络展宽。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986B6-5A05-4AD0-A087-B3F263F8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29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非零中心波矢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FC794-CF60-4B10-A4DA-518CA0D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相位梯度改变频谱权重，让概率质心产生净位移。</a:t>
            </a:r>
          </a:p>
        </p:txBody>
      </p:sp>
    </p:spTree>
    <p:extLst>
      <p:ext uri="{BB962C8B-B14F-4D97-AF65-F5344CB8AC3E}">
        <p14:creationId xmlns:p14="http://schemas.microsoft.com/office/powerpoint/2010/main" val="813206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6E40B-3C7A-410C-A4A8-AF9E6464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质心速度是整个频谱的加权平均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4D193-CE7F-45C6-AA23-C50563D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013A2-92F2-4E1C-A418-7B835838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C06　σ = 4，η = 1，τ ≤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8CB55-FD89-4C4E-B0DE-B0E9702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9A574C5-4B37-4796-924C-EE7E1B076621}"/>
              </a:ext>
            </a:extLst>
          </p:cNvPr>
          <p:cNvGraphicFramePr/>
          <p:nvPr/>
        </p:nvGraphicFramePr>
        <p:xfrm>
          <a:off xmlns:a="http://schemas.openxmlformats.org/drawingml/2006/main" x="428625" y="1362075"/>
          <a:ext xmlns:a="http://schemas.openxmlformats.org/drawingml/2006/main" cx="76390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f1ba47794c4e3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AF13D-FDF7-42F4-AD3A-0BA40B1D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精确谱平均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B728F-4A28-4422-907C-C82E9BB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Σ |A(q)|² sin qₓ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相同初态的谱权重保持不变。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49457-1224-4044-9248-C8E3D882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有限频宽的差别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99DCE-0A92-4DE7-A869-35A0CC13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0.639204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sin(0.7) = 0.644218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60：〈x〉 = 38.3523a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3D6DA-4BAF-49AD-B32B-136F095B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58069-249B-4F2E-B6A7-37EDBDA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中心波矢处群速度适用于窄带近似，实际质心轨迹由谱平均给出。</a:t>
            </a:r>
          </a:p>
        </p:txBody>
      </p:sp>
    </p:spTree>
    <p:extLst>
      <p:ext uri="{BB962C8B-B14F-4D97-AF65-F5344CB8AC3E}">
        <p14:creationId xmlns:p14="http://schemas.microsoft.com/office/powerpoint/2010/main" val="21303037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E2994-9B1B-451E-969C-C667BDC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共动坐标把展宽从整体移动中分离出来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72574-C272-47DD-962A-02CAF370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E12F9-C894-4365-A448-67D15E8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C07　q₀ = (0.7,0)，σ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6A182-81E6-4C45-AF3E-F6807350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16321-5330-4FCC-B764-72FEF5415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be5d1133243ab"/>
          <a:stretch xmlns:a="http://schemas.openxmlformats.org/drawingml/2006/main"/>
        </p:blipFill>
        <p:spPr>
          <a:xfrm xmlns:a="http://schemas.openxmlformats.org/drawingml/2006/main">
            <a:off x="1309520" y="1190625"/>
            <a:ext cx="957296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47420-C5AF-4881-8913-873A0CB9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只减去质心位移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75D14-2535-4F01-AF82-001B012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每条曲线都在各自的共动坐标中显示，峰值与宽度没有重新归一化。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34B78-B167-4CF5-9D3C-0E4083BE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两个方向分别展宽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61F9B-1519-4EFA-A4F6-D9CA99E0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 时 σₓ = 6.970a，σᵧ = 8.449a。不同方向的曲率导致不同速度方差。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13324880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F996F-E936-435A-B097-67D8445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速度方差决定无啁啾 Gaussian 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08300-D76C-4E84-A4F2-D1B7117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464E0-0A61-41DF-A66F-D9D75BB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C09　完整色散下的数值宽度与谱矩关系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3786F-28CC-453C-955D-D382004F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3645DA7-D20B-4788-A0D4-39B7A38BFA3E}"/>
              </a:ext>
            </a:extLst>
          </p:cNvPr>
          <p:cNvGraphicFramePr/>
          <p:nvPr/>
        </p:nvGraphicFramePr>
        <p:xfrm>
          <a:off xmlns:a="http://schemas.openxmlformats.org/drawingml/2006/main" x="419100" y="1400175"/>
          <a:ext xmlns:a="http://schemas.openxmlformats.org/drawingml/2006/main" cx="7553325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bd31af62ad484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5B4E-D3A4-47B9-96EC-B080F829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</a:t>
            </a:r>
          </a:p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                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B2D57-30E8-497C-88A9-60B8791C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DD482-CA77-4F30-94F0-21899B4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不同波矢的群速度不同。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速度差随传播时间积累，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形成包络宽度的增长。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C6381-A13C-46E6-993B-B4AF99A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E4440-56FC-4F95-9DDB-7A31C85C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这里使用完整余弦色散的谱矩，不把结果限制为二阶抛物线近似。</a:t>
            </a:r>
          </a:p>
        </p:txBody>
      </p:sp>
    </p:spTree>
    <p:extLst>
      <p:ext uri="{BB962C8B-B14F-4D97-AF65-F5344CB8AC3E}">
        <p14:creationId xmlns:p14="http://schemas.microsoft.com/office/powerpoint/2010/main" val="19701843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7F6F6-CE92-49CC-BCA3-614F7B0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初始空间宽度与相对展宽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4327-B49A-4554-9132-FB614327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4018D-224D-4797-97F4-8CB7EFA0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C02、C08　q₀ = (0.7,0)，η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B383F-2A07-4260-BD25-0474DE6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0737A-4B7C-4F0F-BFDE-1111D4A93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8e9fc7185446f"/>
          <a:stretch xmlns:a="http://schemas.openxmlformats.org/drawingml/2006/main"/>
        </p:blipFill>
        <p:spPr>
          <a:xfrm xmlns:a="http://schemas.openxmlformats.org/drawingml/2006/main">
            <a:off x="409575" y="1797541"/>
            <a:ext cx="6924675" cy="24532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DF9C304-2F49-42F5-9A5B-BA69CDCB517D}"/>
              </a:ext>
            </a:extLst>
          </p:cNvPr>
          <p:cNvGraphicFramePr/>
          <p:nvPr/>
        </p:nvGraphicFramePr>
        <p:xfrm>
          <a:off xmlns:a="http://schemas.openxmlformats.org/drawingml/2006/main" x="7524750" y="1438275"/>
          <a:ext xmlns:a="http://schemas.openxmlformats.org/drawingml/2006/main" cx="41529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b91dd38394477b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49D28-E061-4149-AED3-A518F4EAD084}"/>
              </a:ext>
            </a:extLst>
          </p:cNvPr>
          <p:cNvGraphicFramePr/>
          <p:nvPr/>
        </p:nvGraphicFramePr>
        <p:xfrm>
          <a:off xmlns:a="http://schemas.openxmlformats.org/drawingml/2006/main" x="581025" y="5010150"/>
          <a:ext xmlns:a="http://schemas.openxmlformats.org/drawingml/2006/main" cx="11001375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667000"/>
                <a:gridCol w="2667000"/>
                <a:gridCol w="2667000"/>
              </a:tblGrid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 /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 / 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4FC3F-B9AE-4785-8457-E765FAFD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BE358-4EAF-4562-A7EA-6DA9F584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更窄频谱减小速度分散，同时需要更大的初始空间范围。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8883006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56259-D6E6-424C-A141-A16D6009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各向异性同时改变方向与包络尺度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85BBE-5A75-416D-84BB-63DE54A2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C9743-272B-4A10-9BF5-2A370AC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C10、C11　q₀ = (0.7,0.7)，σ =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B0A4E-E19B-461E-8EA0-339FB26F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74ED8-88AF-4357-B23C-CD36F6695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990bd8487486e"/>
          <a:stretch xmlns:a="http://schemas.openxmlformats.org/drawingml/2006/main"/>
        </p:blipFill>
        <p:spPr>
          <a:xfrm xmlns:a="http://schemas.openxmlformats.org/drawingml/2006/main">
            <a:off x="428625" y="2008013"/>
            <a:ext cx="7534275" cy="241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FD09A-FE68-4A05-9C81-B065E796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相同的波矢方向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4BCDE-E4A6-488C-B30D-06D52BD5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的方向均为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1：传播方向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0.3：传播方向 16.70°。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584E0-22B2-4345-94AD-9AAB24E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 的宽度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408E8-5B4C-43D1-B316-B1E9ED9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 时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σₓ = 6.970a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σᵧ = 4.351a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B351A-19CB-40C9-BDED-FA9856B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6422B-C4CE-4783-BA19-601B5D3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减弱 y 方向交换会同时降低 y 向质心速度和速度方差。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18481819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4A32D-1D38-479B-810B-8D0AC80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频谱概率守恒，实空间形状仍会改变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19BA8-8CB3-423A-9CDD-C6C8397D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4D03B-4239-4D28-8963-62ECD8F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C12　e = ε/Jₓ，τ = 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31994-B05B-4DE7-95D7-E5F0413B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91CBC-C610-414B-BC8A-391E9FE1B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a9f52555246cb"/>
          <a:stretch xmlns:a="http://schemas.openxmlformats.org/drawingml/2006/main"/>
        </p:blipFill>
        <p:spPr>
          <a:xfrm xmlns:a="http://schemas.openxmlformats.org/drawingml/2006/main">
            <a:off x="1299726" y="1190625"/>
            <a:ext cx="9592547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5CF08-C46B-4F30-A0AA-CE903B1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时间演化保持谱权重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0BAE1-06E9-4DBA-A8FC-EB2AE3D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A(q,τ) = A(q,0) exp[−ie(q)τ]。每个模式的概率保持不变。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F586E-DA4D-42F6-A8DA-474BECDF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相对相位产生形变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1C526-7D13-4919-BE83-419AADA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去掉整体与平移相位后，残余相位继续积累。相位依赖波矢的高阶项，动力学仍为线性。</a:t>
            </a:r>
          </a:p>
        </p:txBody>
      </p:sp>
    </p:spTree>
    <p:extLst>
      <p:ext uri="{BB962C8B-B14F-4D97-AF65-F5344CB8AC3E}">
        <p14:creationId xmlns:p14="http://schemas.microsoft.com/office/powerpoint/2010/main" val="3102379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A63BF-E6D9-424D-B560-B9FB546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零二阶曲率是后续保形研究的入口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445A1-5EC2-42AC-9B1C-4CE9DC9E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69C1D-900F-4D59-8C79-CF49F87B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C13　同初宽 σ = 3，η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F080F-77F4-4872-B34C-AA8FBF7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ABA13D-E846-431A-ADC9-EE7E01C663BD}"/>
              </a:ext>
            </a:extLst>
          </p:cNvPr>
          <p:cNvGraphicFramePr/>
          <p:nvPr/>
        </p:nvGraphicFramePr>
        <p:xfrm>
          <a:off xmlns:a="http://schemas.openxmlformats.org/drawingml/2006/main" x="4476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d2d7de410548e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BE22A9C-1113-4814-98FA-A5B0D0B88245}"/>
              </a:ext>
            </a:extLst>
          </p:cNvPr>
          <p:cNvGraphicFramePr/>
          <p:nvPr/>
        </p:nvGraphicFramePr>
        <p:xfrm>
          <a:off xmlns:a="http://schemas.openxmlformats.org/drawingml/2006/main" x="62388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e9174a313e425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B737C-F189-4A9E-B0C9-EAF9501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196D-543E-4DD9-9F6E-F14773F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60：普通波矢 F = 0.3823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5D7A2-78AB-40BE-9E91-BEC317F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24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rPr>
              <a:t>τ = 60：零曲率点 F = 0.9771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8D1F7-1CF9-4FE4-89ED-45D7734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91756-DBBF-44FE-AEA8-738F931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二阶项消失能减慢有限时间内的形变，三阶及更高阶色散仍然存在。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10503097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9FB21-C148-4E91-8567-EE356A6E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当前结果与下一阶段问题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A7FCF-AB74-4B5A-9AF7-C6B2C096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0B675-3CFF-4281-B0D0-8A84F7C0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 PDF 第 1–5 页　模拟 A、B、C 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F189A-054D-4624-928A-576AF617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542D-3E3C-40C8-8249-DCD246F79D60}"/>
              </a:ext>
            </a:extLst>
          </p:cNvPr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11442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52875"/>
                <a:gridCol w="4048125"/>
              </a:tblGrid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理论或模拟结果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已建立的物理认识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下一步需要回答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两电子矩阵与 J = 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交换作用连接不同翻转位置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具体材料的有效交换参数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色散曲面与群速度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斜率控制运动，曲率影响展宽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给定波包尺寸下的参数选择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单点与 Gaussian 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质心、宽度和干涉可分别度量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完整二维波包的保形指标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零二阶曲率点对照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有限时间内形变受到抑制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高阶残差与可用传播距离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9A031-DEBD-478F-A19F-0D2CB23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模型范围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244EE-1E06-4E13-81AD-A4BFA0F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53000"/>
            <a:ext cx="881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均匀晶格、单磁子、零外场、无耗散。当前结论对应记录的参数与时间窗口。</a:t>
            </a:r>
          </a:p>
        </p:txBody>
      </p:sp>
    </p:spTree>
    <p:extLst>
      <p:ext uri="{BB962C8B-B14F-4D97-AF65-F5344CB8AC3E}">
        <p14:creationId xmlns:p14="http://schemas.microsoft.com/office/powerpoint/2010/main" val="6371256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9E1B8-C7FF-4ED0-AC50-AE2ECF64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附录：费米交换符号与自旋矩阵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8689-2279-4DAD-BD1E-392DAE2B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9F423-0234-4EBA-939F-21215DD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2–4 页，式 (9)、(15)、(17)、(27)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6F114-72E0-4854-86E6-E75311F2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0D660-B2AF-491E-B540-AF17FF9E6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c66734d634f77"/>
          <a:stretch xmlns:a="http://schemas.openxmlformats.org/drawingml/2006/main"/>
        </p:blipFill>
        <p:spPr>
          <a:xfrm xmlns:a="http://schemas.openxmlformats.org/drawingml/2006/main">
            <a:off x="3216783" y="1419225"/>
            <a:ext cx="5701284" cy="8286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27DE8-2C11-4819-A4AE-4C1D371ED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fc1ba0e434cee"/>
          <a:stretch xmlns:a="http://schemas.openxmlformats.org/drawingml/2006/main"/>
        </p:blipFill>
        <p:spPr>
          <a:xfrm xmlns:a="http://schemas.openxmlformats.org/drawingml/2006/main">
            <a:off x="2700338" y="2638425"/>
            <a:ext cx="6600825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31597-F91B-4F2A-974B-01D7DC199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3abd349794afd"/>
          <a:stretch xmlns:a="http://schemas.openxmlformats.org/drawingml/2006/main"/>
        </p:blipFill>
        <p:spPr>
          <a:xfrm xmlns:a="http://schemas.openxmlformats.org/drawingml/2006/main">
            <a:off x="1994146" y="3962400"/>
            <a:ext cx="4279408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E5A74-1435-4FDD-B6B5-A7F8E062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费米反对易关系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决定交换项的负号。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自旋矩阵沿 x 轴量子化。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219A2-502E-450A-A2B6-D1A2F19F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BCA7A-E2AD-434E-8B0A-1DDC9B8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固定基底与算符顺序后，矩阵元符号和 J = 2K 的系数保持一致。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7191421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E6E69-9597-4928-A385-266EC07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附录：长波二次近似的适用范围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63B1-4B41-4500-A27F-63B73409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5E050-FE93-4BD5-B8C4-585E8150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A08、A09　轴向能量近似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A762A-96A7-47E2-8712-F79F8991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FE27D-CAD6-4B5A-B913-5436DAA47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ec75194ac4007"/>
          <a:stretch xmlns:a="http://schemas.openxmlformats.org/drawingml/2006/main"/>
        </p:blipFill>
        <p:spPr>
          <a:xfrm xmlns:a="http://schemas.openxmlformats.org/drawingml/2006/main">
            <a:off x="579746" y="1409700"/>
            <a:ext cx="7108209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6F54B-A331-4FC6-921C-4FB4ACD2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相对能量误差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563C7-49FE-4FE0-B2FA-007421EA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9072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1%：q ≈ 0.3454</a:t>
            </a:r>
          </a:p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5%：q ≈ 0.7633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0986B-D53A-4D71-A42C-CDDF99F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传播时的限制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82C41-5083-4A4A-8AFB-F70CFD0C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33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同样的能量误差会随时间积累为相位误差。主模拟保留完整余弦能带。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58ABC-5977-4ED4-8548-F1E6F00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4C441-A180-491D-8158-4C94C11B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长波近似便于理解局部机制，其使用范围由波矢与传播时间共同约束。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1969463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7243C-137A-4B0A-BF05-BE26027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附录：独立计算路径与边界检验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61F6A-AAFC-4F0E-ACF0-E598A4D2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0630E-6B70-4465-B1B4-244412E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checks_independent.json、checks_b.json、checks_c.json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8008C-B771-4FA0-BCE3-5AB6ED6E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3D4D8-21BF-493B-8F6A-0A30A4DC1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e5a770dbb433e"/>
          <a:stretch xmlns:a="http://schemas.openxmlformats.org/drawingml/2006/main"/>
        </p:blipFill>
        <p:spPr>
          <a:xfrm xmlns:a="http://schemas.openxmlformats.org/drawingml/2006/main">
            <a:off x="390525" y="1495055"/>
            <a:ext cx="7067550" cy="322971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FCD87-5506-4057-BDD1-4DB15F5D57B6}"/>
              </a:ext>
            </a:extLst>
          </p:cNvPr>
          <p:cNvGraphicFramePr/>
          <p:nvPr/>
        </p:nvGraphicFramePr>
        <p:xfrm>
          <a:off xmlns:a="http://schemas.openxmlformats.org/drawingml/2006/main" x="7715250" y="1514475"/>
          <a:ext xmlns:a="http://schemas.openxmlformats.org/drawingml/2006/main" cx="3962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66900"/>
              </a:tblGrid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误差量级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实空间矩阵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振幅 L² ≈ 3.4×10⁻¹⁵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Bessel 核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max|ΔP| ≈ 5.6×10⁻¹⁶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扩大晶格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 L¹ ≤ 3.8×10⁻¹⁵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边缘概率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5.7×10⁻¹⁴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9420B-98C4-49AB-8363-302B324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C84E9-7BD5-4194-98F9-E337FA27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解析解、独立推进与扩大晶格对照，共同约束计算误差和边界影响。</a:t>
            </a:r>
          </a:p>
        </p:txBody>
      </p:sp>
    </p:spTree>
    <p:extLst>
      <p:ext uri="{BB962C8B-B14F-4D97-AF65-F5344CB8AC3E}">
        <p14:creationId xmlns:p14="http://schemas.microsoft.com/office/powerpoint/2010/main" val="13157292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29EF5-2B49-4075-AA1B-E7CDC0A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附录：零二阶曲率后的高阶形变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D3C8F-9089-4D7F-B88E-69EF8FA2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22A8-07FB-4BBB-B15B-494F5A1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C14　独立示例 σ = 2，q₀ = (π/2,π/2)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FB54-525C-4813-9A7C-2D43207B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FBCD7-6191-4790-8B41-5B3B4D9A0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9abbe28694ae4"/>
          <a:stretch xmlns:a="http://schemas.openxmlformats.org/drawingml/2006/main"/>
        </p:blipFill>
        <p:spPr>
          <a:xfrm xmlns:a="http://schemas.openxmlformats.org/drawingml/2006/main">
            <a:off x="1167517" y="1190625"/>
            <a:ext cx="985696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73637-3919-41F4-9706-D81ED33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残余色散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3FA0-F13B-4899-B116-8BAE8680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扣除常数和线性项后，sin δq − δq 的首项为 −δq³/6。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CC620-D469-4A47-A268-48F2852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8EAE1-051C-46A6-BA7C-451F225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相位差仍会积累，产生偏斜与尾部。本页 σ = 2，与前面的 σ = 3 对照不同。</a:t>
            </a:r>
          </a:p>
        </p:txBody>
      </p:sp>
    </p:spTree>
    <p:extLst>
      <p:ext uri="{BB962C8B-B14F-4D97-AF65-F5344CB8AC3E}">
        <p14:creationId xmlns:p14="http://schemas.microsoft.com/office/powerpoint/2010/main" val="2995565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52544-3CAC-42D7-8AC9-433051A5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附录：传播动画对照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509B2-C700-4C86-9329-BC74C88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3BB6F-8499-4D34-8788-01C6FEA2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单点翻转 B16　Gaussian 载波方向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3BC3A-6FE3-4CBA-8BF1-EDF2443F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CE696-00A4-4E4C-A1CF-F031FACE6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0a5cdbbb64fb3"/>
          <a:stretch xmlns:a="http://schemas.openxmlformats.org/drawingml/2006/main"/>
        </p:blipFill>
        <p:spPr>
          <a:xfrm xmlns:a="http://schemas.openxmlformats.org/drawingml/2006/main">
            <a:off x="381000" y="1739503"/>
            <a:ext cx="5715000" cy="30360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9FE4E-735D-4FA4-8777-905D7FFF1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21a0551484110"/>
          <a:stretch xmlns:a="http://schemas.openxmlformats.org/drawingml/2006/main"/>
        </p:blipFill>
        <p:spPr>
          <a:xfrm xmlns:a="http://schemas.openxmlformats.org/drawingml/2006/main">
            <a:off x="6238875" y="2152650"/>
            <a:ext cx="55245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ACCB6-B644-41B5-B166-7B8B078C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单点激发：η = 1 与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2083F-B256-4AAF-9322-C9C02735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 Gaussian 包络，不同载波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B75AA-5438-4DB3-B5F4-39D6A93D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49C37-414F-4A6E-8444-D07BDDD1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放映时观察时间演化，静态关键帧与定量曲线用于比较传播规律。</a:t>
            </a:r>
          </a:p>
        </p:txBody>
      </p:sp>
    </p:spTree>
    <p:extLst>
      <p:ext uri="{BB962C8B-B14F-4D97-AF65-F5344CB8AC3E}">
        <p14:creationId xmlns:p14="http://schemas.microsoft.com/office/powerpoint/2010/main" val="1044822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541E6-8D34-40C5-AA44-AFC2451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附录：原理、图组与数据来源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6D7D6-1A65-4458-8173-C92DC483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CEA20-2B27-472D-B7B4-B43EC228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项目本地材料与可复现模拟文件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E72E-3E67-4565-A58F-2B814584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7B0FC-A5E2-43BF-B511-20F8FB2A6A9E}"/>
              </a:ext>
            </a:extLst>
          </p:cNvPr>
          <p:cNvGraphicFramePr/>
          <p:nvPr/>
        </p:nvGraphicFramePr>
        <p:xfrm>
          <a:off xmlns:a="http://schemas.openxmlformats.org/drawingml/2006/main" x="523875" y="1362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857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 PDF，5 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直接交换、矩阵匹配、EOM、色散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Note/single_magnon_derivation/main.pdf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组，12 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色散、群速度、近似范围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figures/midterm-report/a-dispersion/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组，13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局域翻转与解析传播核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b-local-flip/local_flip_data.npz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组，14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质心、宽度与相位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c-gaussian/gaussian_simulation_data.npz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3FB5B-7FB2-4BBB-8629-916ACD00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符号对照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788FC-72BA-4FD6-8874-4FAA37ED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     τ = Jₓt/ℏ     η = Jᵧ/Jₓ     e = ε/Jₓ</a:t>
            </a:r>
          </a:p>
        </p:txBody>
      </p:sp>
    </p:spTree>
    <p:extLst>
      <p:ext uri="{BB962C8B-B14F-4D97-AF65-F5344CB8AC3E}">
        <p14:creationId xmlns:p14="http://schemas.microsoft.com/office/powerpoint/2010/main" val="1661567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2026-10-19T14:05:57.5860000Z</dcterms:created>
  <dcterms:modified xsi:type="dcterms:W3CDTF">2026-10-19T14:05:57.5860000Z</dcterms:modified>
</coreProperties>
</file>