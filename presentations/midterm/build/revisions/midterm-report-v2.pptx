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6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cd5a172114907" /><Relationship Type="http://schemas.openxmlformats.org/officeDocument/2006/relationships/extended-properties" Target="/docProps/app.xml" Id="R5cf9a04876754220" /><Relationship Type="http://schemas.openxmlformats.org/officeDocument/2006/relationships/officeDocument" Target="/ppt/presentation.xml" Id="R2e40ae1f908b4d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7bcff70c7408f"/>
  </p:sldMasterIdLst>
  <p:notesMasterIdLst>
    <p:notesMasterId xmlns:r="http://schemas.openxmlformats.org/officeDocument/2006/relationships" r:id="Rd3af7373c7d648d2"/>
  </p:notesMasterIdLst>
  <p:sldIdLst>
    <p:sldId xmlns:r="http://schemas.openxmlformats.org/officeDocument/2006/relationships" id="256" r:id="Rac37b16bbc434adf"/>
    <p:sldId xmlns:r="http://schemas.openxmlformats.org/officeDocument/2006/relationships" id="257" r:id="Re04d147b9fc5483b"/>
    <p:sldId xmlns:r="http://schemas.openxmlformats.org/officeDocument/2006/relationships" id="258" r:id="R7ef07342511f42bf"/>
    <p:sldId xmlns:r="http://schemas.openxmlformats.org/officeDocument/2006/relationships" id="259" r:id="R49b18c72c7a044a7"/>
    <p:sldId xmlns:r="http://schemas.openxmlformats.org/officeDocument/2006/relationships" id="260" r:id="Rab0fafa881b2470c"/>
    <p:sldId xmlns:r="http://schemas.openxmlformats.org/officeDocument/2006/relationships" id="261" r:id="R8e62ac18cdb141ce"/>
    <p:sldId xmlns:r="http://schemas.openxmlformats.org/officeDocument/2006/relationships" id="262" r:id="R369bd7b2ce814794"/>
    <p:sldId xmlns:r="http://schemas.openxmlformats.org/officeDocument/2006/relationships" id="263" r:id="R30c3d4ca7ffb4a37"/>
    <p:sldId xmlns:r="http://schemas.openxmlformats.org/officeDocument/2006/relationships" id="264" r:id="Rd6a5789f967a4a5a"/>
    <p:sldId xmlns:r="http://schemas.openxmlformats.org/officeDocument/2006/relationships" id="265" r:id="Ra1c3143d70ae4322"/>
    <p:sldId xmlns:r="http://schemas.openxmlformats.org/officeDocument/2006/relationships" id="266" r:id="R71a625f7ce2a4c33"/>
    <p:sldId xmlns:r="http://schemas.openxmlformats.org/officeDocument/2006/relationships" id="267" r:id="R0dde582b0fb545fc"/>
    <p:sldId xmlns:r="http://schemas.openxmlformats.org/officeDocument/2006/relationships" id="268" r:id="Rce18c453486b449a"/>
    <p:sldId xmlns:r="http://schemas.openxmlformats.org/officeDocument/2006/relationships" id="269" r:id="R3c097e7cfe584d5a"/>
    <p:sldId xmlns:r="http://schemas.openxmlformats.org/officeDocument/2006/relationships" id="270" r:id="R0407bf73a152456a"/>
    <p:sldId xmlns:r="http://schemas.openxmlformats.org/officeDocument/2006/relationships" id="271" r:id="R075e34c312dd4791"/>
    <p:sldId xmlns:r="http://schemas.openxmlformats.org/officeDocument/2006/relationships" id="272" r:id="Rdc983d70da724970"/>
    <p:sldId xmlns:r="http://schemas.openxmlformats.org/officeDocument/2006/relationships" id="273" r:id="Rbabd931090ab4282"/>
    <p:sldId xmlns:r="http://schemas.openxmlformats.org/officeDocument/2006/relationships" id="274" r:id="Rce78768ec8e3464b"/>
    <p:sldId xmlns:r="http://schemas.openxmlformats.org/officeDocument/2006/relationships" id="275" r:id="R94fc08bbef304185"/>
    <p:sldId xmlns:r="http://schemas.openxmlformats.org/officeDocument/2006/relationships" id="276" r:id="Rb4fb3f68760f4743"/>
    <p:sldId xmlns:r="http://schemas.openxmlformats.org/officeDocument/2006/relationships" id="277" r:id="R08651eec91ab418e"/>
    <p:sldId xmlns:r="http://schemas.openxmlformats.org/officeDocument/2006/relationships" id="278" r:id="Rcd853e23fcd34d29"/>
    <p:sldId xmlns:r="http://schemas.openxmlformats.org/officeDocument/2006/relationships" id="279" r:id="R2860be29e5fc43ad"/>
    <p:sldId xmlns:r="http://schemas.openxmlformats.org/officeDocument/2006/relationships" id="280" r:id="Racd4e60d09c24f87"/>
    <p:sldId xmlns:r="http://schemas.openxmlformats.org/officeDocument/2006/relationships" id="281" r:id="R9d4bc3fc4423499a"/>
    <p:sldId xmlns:r="http://schemas.openxmlformats.org/officeDocument/2006/relationships" id="282" r:id="Rb2e6c11081e44d96"/>
    <p:sldId xmlns:r="http://schemas.openxmlformats.org/officeDocument/2006/relationships" id="283" r:id="R55f29229c7174fa1"/>
    <p:sldId xmlns:r="http://schemas.openxmlformats.org/officeDocument/2006/relationships" id="284" r:id="Rfb1ebef92dc14bd2"/>
    <p:sldId xmlns:r="http://schemas.openxmlformats.org/officeDocument/2006/relationships" id="285" r:id="Ra66ec785cd8b4485"/>
    <p:sldId xmlns:r="http://schemas.openxmlformats.org/officeDocument/2006/relationships" id="286" r:id="R408258537783403e"/>
    <p:sldId xmlns:r="http://schemas.openxmlformats.org/officeDocument/2006/relationships" id="287" r:id="Re796fdc38df8449f"/>
    <p:sldId xmlns:r="http://schemas.openxmlformats.org/officeDocument/2006/relationships" id="288" r:id="R597a4710b72e4306"/>
    <p:sldId xmlns:r="http://schemas.openxmlformats.org/officeDocument/2006/relationships" id="289" r:id="Rf6a392f668404947"/>
    <p:sldId xmlns:r="http://schemas.openxmlformats.org/officeDocument/2006/relationships" id="290" r:id="Re572fa10f6ff49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d5cfd26f14f1e" /><Relationship Type="http://schemas.openxmlformats.org/officeDocument/2006/relationships/slideMaster" Target="/ppt/slideMasters/slideMaster1.xml" Id="Rc357bcff70c7408f" /><Relationship Type="http://schemas.openxmlformats.org/officeDocument/2006/relationships/notesMaster" Target="/ppt/notesMasters/notesMaster1.xml" Id="Rd3af7373c7d648d2" /><Relationship Type="http://schemas.openxmlformats.org/officeDocument/2006/relationships/presProps" Target="/ppt/presProps.xml" Id="Rc304d0ce92fd4a39" /><Relationship Type="http://schemas.openxmlformats.org/officeDocument/2006/relationships/tableStyles" Target="/ppt/tableStyles.xml" Id="Rcb1a86c7a5f04fd4" /><Relationship Type="http://schemas.openxmlformats.org/officeDocument/2006/relationships/slide" Target="/ppt/slides/slide1.xml" Id="Rac37b16bbc434adf" /><Relationship Type="http://schemas.openxmlformats.org/officeDocument/2006/relationships/slide" Target="/ppt/slides/slide2.xml" Id="Re04d147b9fc5483b" /><Relationship Type="http://schemas.openxmlformats.org/officeDocument/2006/relationships/slide" Target="/ppt/slides/slide3.xml" Id="R7ef07342511f42bf" /><Relationship Type="http://schemas.openxmlformats.org/officeDocument/2006/relationships/slide" Target="/ppt/slides/slide4.xml" Id="R49b18c72c7a044a7" /><Relationship Type="http://schemas.openxmlformats.org/officeDocument/2006/relationships/slide" Target="/ppt/slides/slide5.xml" Id="Rab0fafa881b2470c" /><Relationship Type="http://schemas.openxmlformats.org/officeDocument/2006/relationships/slide" Target="/ppt/slides/slide6.xml" Id="R8e62ac18cdb141ce" /><Relationship Type="http://schemas.openxmlformats.org/officeDocument/2006/relationships/slide" Target="/ppt/slides/slide7.xml" Id="R369bd7b2ce814794" /><Relationship Type="http://schemas.openxmlformats.org/officeDocument/2006/relationships/slide" Target="/ppt/slides/slide8.xml" Id="R30c3d4ca7ffb4a37" /><Relationship Type="http://schemas.openxmlformats.org/officeDocument/2006/relationships/slide" Target="/ppt/slides/slide9.xml" Id="Rd6a5789f967a4a5a" /><Relationship Type="http://schemas.openxmlformats.org/officeDocument/2006/relationships/slide" Target="/ppt/slides/slide10.xml" Id="Ra1c3143d70ae4322" /><Relationship Type="http://schemas.openxmlformats.org/officeDocument/2006/relationships/slide" Target="/ppt/slides/slide11.xml" Id="R71a625f7ce2a4c33" /><Relationship Type="http://schemas.openxmlformats.org/officeDocument/2006/relationships/slide" Target="/ppt/slides/slide12.xml" Id="R0dde582b0fb545fc" /><Relationship Type="http://schemas.openxmlformats.org/officeDocument/2006/relationships/slide" Target="/ppt/slides/slide13.xml" Id="Rce18c453486b449a" /><Relationship Type="http://schemas.openxmlformats.org/officeDocument/2006/relationships/slide" Target="/ppt/slides/slide14.xml" Id="R3c097e7cfe584d5a" /><Relationship Type="http://schemas.openxmlformats.org/officeDocument/2006/relationships/slide" Target="/ppt/slides/slide15.xml" Id="R0407bf73a152456a" /><Relationship Type="http://schemas.openxmlformats.org/officeDocument/2006/relationships/slide" Target="/ppt/slides/slide16.xml" Id="R075e34c312dd4791" /><Relationship Type="http://schemas.openxmlformats.org/officeDocument/2006/relationships/slide" Target="/ppt/slides/slide17.xml" Id="Rdc983d70da724970" /><Relationship Type="http://schemas.openxmlformats.org/officeDocument/2006/relationships/slide" Target="/ppt/slides/slide18.xml" Id="Rbabd931090ab4282" /><Relationship Type="http://schemas.openxmlformats.org/officeDocument/2006/relationships/slide" Target="/ppt/slides/slide19.xml" Id="Rce78768ec8e3464b" /><Relationship Type="http://schemas.openxmlformats.org/officeDocument/2006/relationships/slide" Target="/ppt/slides/slide20.xml" Id="R94fc08bbef304185" /><Relationship Type="http://schemas.openxmlformats.org/officeDocument/2006/relationships/slide" Target="/ppt/slides/slide21.xml" Id="Rb4fb3f68760f4743" /><Relationship Type="http://schemas.openxmlformats.org/officeDocument/2006/relationships/slide" Target="/ppt/slides/slide22.xml" Id="R08651eec91ab418e" /><Relationship Type="http://schemas.openxmlformats.org/officeDocument/2006/relationships/slide" Target="/ppt/slides/slide23.xml" Id="Rcd853e23fcd34d29" /><Relationship Type="http://schemas.openxmlformats.org/officeDocument/2006/relationships/slide" Target="/ppt/slides/slide24.xml" Id="R2860be29e5fc43ad" /><Relationship Type="http://schemas.openxmlformats.org/officeDocument/2006/relationships/slide" Target="/ppt/slides/slide25.xml" Id="Racd4e60d09c24f87" /><Relationship Type="http://schemas.openxmlformats.org/officeDocument/2006/relationships/slide" Target="/ppt/slides/slide26.xml" Id="R9d4bc3fc4423499a" /><Relationship Type="http://schemas.openxmlformats.org/officeDocument/2006/relationships/slide" Target="/ppt/slides/slide27.xml" Id="Rb2e6c11081e44d96" /><Relationship Type="http://schemas.openxmlformats.org/officeDocument/2006/relationships/slide" Target="/ppt/slides/slide28.xml" Id="R55f29229c7174fa1" /><Relationship Type="http://schemas.openxmlformats.org/officeDocument/2006/relationships/slide" Target="/ppt/slides/slide29.xml" Id="Rfb1ebef92dc14bd2" /><Relationship Type="http://schemas.openxmlformats.org/officeDocument/2006/relationships/slide" Target="/ppt/slides/slide30.xml" Id="Ra66ec785cd8b4485" /><Relationship Type="http://schemas.openxmlformats.org/officeDocument/2006/relationships/slide" Target="/ppt/slides/slide31.xml" Id="R408258537783403e" /><Relationship Type="http://schemas.openxmlformats.org/officeDocument/2006/relationships/slide" Target="/ppt/slides/slide32.xml" Id="Re796fdc38df8449f" /><Relationship Type="http://schemas.openxmlformats.org/officeDocument/2006/relationships/slide" Target="/ppt/slides/slide33.xml" Id="R597a4710b72e4306" /><Relationship Type="http://schemas.openxmlformats.org/officeDocument/2006/relationships/slide" Target="/ppt/slides/slide34.xml" Id="Rf6a392f668404947" /><Relationship Type="http://schemas.openxmlformats.org/officeDocument/2006/relationships/slide" Target="/ppt/slides/slide35.xml" Id="Re572fa10f6ff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f9786199649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6b77e6a8b1423c" /><Relationship Type="http://schemas.openxmlformats.org/officeDocument/2006/relationships/notesMaster" Target="/ppt/notesMasters/notesMaster1.xml" Id="R5e666663eeb14a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a904eca17446d4" /><Relationship Type="http://schemas.openxmlformats.org/officeDocument/2006/relationships/notesMaster" Target="/ppt/notesMasters/notesMaster1.xml" Id="R835861cf95d243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303b6ef3214d79" /><Relationship Type="http://schemas.openxmlformats.org/officeDocument/2006/relationships/notesMaster" Target="/ppt/notesMasters/notesMaster1.xml" Id="R46ff48256ca346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15c3324f97401f" /><Relationship Type="http://schemas.openxmlformats.org/officeDocument/2006/relationships/notesMaster" Target="/ppt/notesMasters/notesMaster1.xml" Id="R3830d605eae042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ef1de6122043d4" /><Relationship Type="http://schemas.openxmlformats.org/officeDocument/2006/relationships/notesMaster" Target="/ppt/notesMasters/notesMaster1.xml" Id="R4446f7d652fe44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ddad1f61434434" /><Relationship Type="http://schemas.openxmlformats.org/officeDocument/2006/relationships/notesMaster" Target="/ppt/notesMasters/notesMaster1.xml" Id="Rf14476c1c0de4c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4e4427451d4d58" /><Relationship Type="http://schemas.openxmlformats.org/officeDocument/2006/relationships/notesMaster" Target="/ppt/notesMasters/notesMaster1.xml" Id="R38ff0a1baf0d4b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befc745e3948c5" /><Relationship Type="http://schemas.openxmlformats.org/officeDocument/2006/relationships/notesMaster" Target="/ppt/notesMasters/notesMaster1.xml" Id="R730cbd7c83ed4e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8dbbf561874bfd" /><Relationship Type="http://schemas.openxmlformats.org/officeDocument/2006/relationships/notesMaster" Target="/ppt/notesMasters/notesMaster1.xml" Id="Rf8aea4ddf02f45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51c7a763ee4ecb" /><Relationship Type="http://schemas.openxmlformats.org/officeDocument/2006/relationships/notesMaster" Target="/ppt/notesMasters/notesMaster1.xml" Id="R5d9e0c2bf0a044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a8401711004dd7" /><Relationship Type="http://schemas.openxmlformats.org/officeDocument/2006/relationships/notesMaster" Target="/ppt/notesMasters/notesMaster1.xml" Id="R51ebde262baf45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58e28ee5cc4e93" /><Relationship Type="http://schemas.openxmlformats.org/officeDocument/2006/relationships/notesMaster" Target="/ppt/notesMasters/notesMaster1.xml" Id="Rdb3fa5967b0547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8f6efcf018499e" /><Relationship Type="http://schemas.openxmlformats.org/officeDocument/2006/relationships/notesMaster" Target="/ppt/notesMasters/notesMaster1.xml" Id="Re2c7c82bf6e149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cbd8a226614c67" /><Relationship Type="http://schemas.openxmlformats.org/officeDocument/2006/relationships/notesMaster" Target="/ppt/notesMasters/notesMaster1.xml" Id="Rb3732da268da40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3492cdebc347e7" /><Relationship Type="http://schemas.openxmlformats.org/officeDocument/2006/relationships/notesMaster" Target="/ppt/notesMasters/notesMaster1.xml" Id="R059cbdb9dcbe48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3fad66cf044f2b" /><Relationship Type="http://schemas.openxmlformats.org/officeDocument/2006/relationships/notesMaster" Target="/ppt/notesMasters/notesMaster1.xml" Id="R5caed5520f184a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ffd9121c2a49c3" /><Relationship Type="http://schemas.openxmlformats.org/officeDocument/2006/relationships/notesMaster" Target="/ppt/notesMasters/notesMaster1.xml" Id="R18c7d09570dc43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c0735448ee4f6a" /><Relationship Type="http://schemas.openxmlformats.org/officeDocument/2006/relationships/notesMaster" Target="/ppt/notesMasters/notesMaster1.xml" Id="R800048032bbd4c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a93d322c7947a8" /><Relationship Type="http://schemas.openxmlformats.org/officeDocument/2006/relationships/notesMaster" Target="/ppt/notesMasters/notesMaster1.xml" Id="Rf5912180e95547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79524ed893427d" /><Relationship Type="http://schemas.openxmlformats.org/officeDocument/2006/relationships/notesMaster" Target="/ppt/notesMasters/notesMaster1.xml" Id="R15b88084329c4a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6e5a0d3ed849b2" /><Relationship Type="http://schemas.openxmlformats.org/officeDocument/2006/relationships/notesMaster" Target="/ppt/notesMasters/notesMaster1.xml" Id="R283491f21f254d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50362a8d6a4cf2" /><Relationship Type="http://schemas.openxmlformats.org/officeDocument/2006/relationships/notesMaster" Target="/ppt/notesMasters/notesMaster1.xml" Id="R5ad8cff334c54c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d3eb21747974ce7" /><Relationship Type="http://schemas.openxmlformats.org/officeDocument/2006/relationships/notesMaster" Target="/ppt/notesMasters/notesMaster1.xml" Id="R3a73c543605646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a3121df23a4cc5" /><Relationship Type="http://schemas.openxmlformats.org/officeDocument/2006/relationships/notesMaster" Target="/ppt/notesMasters/notesMaster1.xml" Id="R88cf735c539c43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b0ddcc16ee4859" /><Relationship Type="http://schemas.openxmlformats.org/officeDocument/2006/relationships/notesMaster" Target="/ppt/notesMasters/notesMaster1.xml" Id="Rad9c4386d0b1486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8c790e3a774581" /><Relationship Type="http://schemas.openxmlformats.org/officeDocument/2006/relationships/notesMaster" Target="/ppt/notesMasters/notesMaster1.xml" Id="R85554b8ffd624fc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b81e2e222346cf" /><Relationship Type="http://schemas.openxmlformats.org/officeDocument/2006/relationships/notesMaster" Target="/ppt/notesMasters/notesMaster1.xml" Id="Red97ac2e07c5400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2cabc5adc4a450a" /><Relationship Type="http://schemas.openxmlformats.org/officeDocument/2006/relationships/notesMaster" Target="/ppt/notesMasters/notesMaster1.xml" Id="R2b319c2f2eed4c4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62524d945843a3" /><Relationship Type="http://schemas.openxmlformats.org/officeDocument/2006/relationships/notesMaster" Target="/ppt/notesMasters/notesMaster1.xml" Id="Rc4a127b9b2fd41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cb52db74a040b4" /><Relationship Type="http://schemas.openxmlformats.org/officeDocument/2006/relationships/notesMaster" Target="/ppt/notesMasters/notesMaster1.xml" Id="Rdc4ddb939c2340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8d9706ada0543f2" /><Relationship Type="http://schemas.openxmlformats.org/officeDocument/2006/relationships/notesMaster" Target="/ppt/notesMasters/notesMaster1.xml" Id="R5f8d2870414a427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a4d4792d01c4c3f" /><Relationship Type="http://schemas.openxmlformats.org/officeDocument/2006/relationships/notesMaster" Target="/ppt/notesMasters/notesMaster1.xml" Id="R0140ea2bb8104ea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4a60e93c1142d7" /><Relationship Type="http://schemas.openxmlformats.org/officeDocument/2006/relationships/notesMaster" Target="/ppt/notesMasters/notesMaster1.xml" Id="R7cee4badabba44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72dce5d849e4a24" /><Relationship Type="http://schemas.openxmlformats.org/officeDocument/2006/relationships/notesMaster" Target="/ppt/notesMasters/notesMaster1.xml" Id="R053faf4faf634fe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1cf6f0038fa4ad3" /><Relationship Type="http://schemas.openxmlformats.org/officeDocument/2006/relationships/notesMaster" Target="/ppt/notesMasters/notesMaster1.xml" Id="R735a1da64ebd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报告研究零外场、自旋1/2正方晶格铁磁体。先解释直接库仑交换与单翻转精确子空间，再讨论线性传播与波包展宽。图中是有效模型计算。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理论来源：单磁子推导 PDF　模拟：均匀最近邻交换模型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以全极化铁磁态为背景，在其中翻转一个自旋。首先关注激发怎样在格点间传递，再区分波包整体运动和形状变化。动画在放映模式中展示。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3–5 页　动画 B14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固定两个正交归一的相邻轨道a,b，各占据一个电子。只保留固定占据下的直接库仑交换，不纳入电子跃迁产生的超交换。D和K都具有能量量纲。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1–2 页，式 (1)–(9)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有序基底为↑↑、↑↓、↓↑、↓↓。反平行积态之间有−K的非对角矩阵元。两个反平行积态的对称和反对称组合分别属于triplet和singlet。D±K是本征态能量。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 页，式 (10)–(14)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比较S_a·S_b与库仑作用矩阵。中间块的非对角元为1/2，所以−J_H/2=−K，得到J_H=2K。常数项D−K/2只平移所有能量。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(17)–(21)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每条无向键计一次，背景沿+x极化。Jx和Jy的差异属于空间方向的交换各向异性，每条键上的自旋作用仍是点积。每条铁磁键均达到其能量下界。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(22)–(25)　图 A01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局域翻转是基矢，不是一般的能量本征态。H作用后仍是单翻转基矢的线性组合，因此这个子空间精确闭合。概率P_i给出翻转位置的测量分布。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 页，式 (26)–(31)　图 B01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一条含翻转的键相对基态增加Jij/2的对角能量，并产生−Jij/2的跃迁振幅。四个邻居的贡献相加，得到离散Schrödinger形式。E_F完整保留在原理推导中。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(28)、(34)、(35)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均匀晶格具有平移不变性。相邻格点只相差e^{±ik_mu a}。将这些相位代入四邻居方程，两个指数相加成为2cos，从而得到单磁子激发能。此页沿用源PDF的hbar=1。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(36)–(39)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能量用Jx归一化。左图eta=1色散曲面，右图使用实际保存的eta=.35轴向截面。原点是零激发能，最高能量2(1+eta)。二维点激发包含整个布里渊区。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式 (39)　模拟 A02、A03 轴向截面数据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箭头长度按共同尺度编码速度大小。等频不等于等群速度，也不自动保证完整局域波包保形。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A05、A06，η = 1 与 0.35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有限频宽波包的精确质心速度是谱平均，中心波矢处群速度是窄带近似。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A07　ω = ε / 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原理PDF保留E_F且取hbar=1。模拟恢复hbar后显式去除公共基态相位psi=e^{iE_Ft/hbar}c；概率保持不变。使用q=ka、tau=Jx*t/hbar、eta=Jy/Jx。每个FFT模式直接乘完整余弦色散的时间相位。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　模拟 common.py 与 THEORY.md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图中为N²|A|²，仅为可读性缩放。不能用单一中心波矢或只在原点展开的二阶色散描述全部传播。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B02　N = 256 表示 256 × 256 格点，Σ|A|²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早期过程见第2页动画。此页固定色标1e-7到0.1。显示边缘是色标阈值，前沿外仍有小概率尾部。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B04　η = 1，四个时刻使用共同对数色标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动画比较eta=1与.3，静态数值来自同一单点初态tau24。RMS_x=tau/sqrt2，RMS_y=eta*tau/sqrt2。eta=0为解耦链极限，有静态图支持。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B05、B11、B16　Jₓ 固定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热图是Px，即对y求和的边际概率。主要前沿由最大x群速度|u_x|≤1描述，RMS_x=tau/sqrt2。前沿之外仍有非零尾部，不是严格有限支持。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B07、B09　左图 η = 1，右图 η = 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原点返回概率的振荡是无耗散相干传播的结果。沿+x量子化时&lt;Sx&gt;=1/2-P，而&lt;Sy&gt;=&lt;Sz&gt;=0。所有格点的纵向亏损之和为1。图的两部分纵轴不同。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B10　固定单磁子数态，η = 1 与 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左图是y=0中心截线，不是对y求和的边际。两个面板纵轴不同，右图显示相对1/2背景的亏损。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B12　η = 1，τ = 8，背景沿 +x 极化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Gaussian振幅的指数分母为4sigma²，sigma是概率分布的RMS宽度。载波改变频谱中心，但不改变初始概率。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C01　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动画中的三种初态具有相同概率包络，q0分别为(-.7,0),(.7,0),(.7,.7)。零载波情况下质心不动但包络仍展宽。动画固定空间窗与色标。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C03、C05、C16　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图表数值直接来自保存的NPZ轨迹。对于q0=(.7,0)，真实质心速度是.6392043454，而sin(.7)=.6442176872。tau60时，中心波矢近似会多预测.3008005a位移。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C06　σ = 4，η = 1，τ ≤ 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Px和Py都是对另一方向求和的边际概率，分别归一化为1。x运动和形状变化可以分别度量。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C07　q₀ = (0.7,0)，σ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无限晶格下初始位置与速度的对称协方差为零，Var(n(tau))=Var(n0)+tau²Var(u)。当前有限周期盒在展示范围内有边界检查。对于一般有啁啾初态还存在2tau Cov_sym项。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C09　完整色散下的数值宽度与谱矩关系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sigma3/6/10都归一化为1，但初始空间范围不同。更宽包络对应更窄频谱，通常有较小相对展宽。本页不将其解释为相同初始资源的性能比较。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C02、C08　q₀ = (0.7,0)，η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左右保持q0、sigma和tau60相同，只改变eta。波矢均为45度，谱平均群速度方向分别45度和16.699度。eta.3时中心为(38.3523,11.5057)a。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C10、C11　q₀ = (0.7,0.7)，σ = 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右图为固定qy=0时的精确残余相位，连续展开显示，不取模2pi。这里的非线性相位指相位对波矢的非线性依赖，模型动力学仍是线性的。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C12　e = ε/Jₓ，τ = 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对比普通中心q0=(.7,.7)和(pi/2,pi/2)。sigma均3，tau均60，使用各自真实谱平均速度作平移参考。F为复态重合模平方，含相对相位改变，不仅是概率轮廓重合。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C13　同初宽 σ = 3，η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本次完成的层次是模型推导、线性传播图像与有限时间的数值证据。未来研究可针对具体初态局域性与完整二维保形，不将当前toy model直接等同于实际材料。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 PDF 第 1–5 页　模拟 A、B、C 组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本页用于回答交换负号和单翻转矩阵元问题。源推导固定产生算符顺序f_a† f_b†。从反平行态读出非对角元−K，再与−J S_a·S_b匹配。所有箭头相对于x量子化轴。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2–4 页，式 (9)、(15)、(17)、(27)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e≈(qx²+eta qy²)/2只适用于小波矢。误差阈值是轴向能量的相对误差，不是传播保真度阈值。相位差还随时间积累。所有主动力学计算使用完整余弦色散。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A08、A09　轴向能量近似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验证图为FFT与无限晶格Bessel解析传播核比较。独立稀疏矩阵Hamiltonian直接按键构造。边界与扩大晶格测试说明当前展示区间内数值可信，不能代替材料参数验证。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来源：checks_independent.json、checks_b.json、checks_c.json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本页是为了显示高阶形变的独立例子，不能把结果与sigma3例子解释为同一初态资源的性能比较。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C14　独立示例 σ = 2，q₀ = (π/2,π/2)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本页嵌入完整GIF，在支持GIF的PowerPoint放映模式下播放。静态关键帧已经出现在正文各向异性和载波方向页。动画使用固定色标，不逐帧峰值归一化。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来源：单点翻转 B16　Gaussian 载波方向 C16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本报告未新增外部实验或材料参数。理论依据是本地五页原理PDF，数值结果来自既有39图8动画资料包。每个图表的具体来源已写入其所在页的备注。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来源：项目本地材料与可复现模拟文件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6846d2e0e47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78deabff34e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c691e06644c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40484666d44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66888dac849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9f07d0a3849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5F271-23E4-4925-AFCC-E7696069F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724EBD-A613-4153-9D71-96D9BE3420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335668-D3EA-4CE7-A624-38D3F1F30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0E4083-5090-44C7-8590-D86742896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F1AF21-135E-4F6B-90E2-05BF463C1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AD5267-42FD-4AE6-8947-5E15BB3A84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9C5D21-9649-4D87-B970-376AB287D1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39FC14-6DD7-4DA3-8ABD-F977F6CE51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7BD71A-A460-4BE5-85B7-F36A62071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098415-6577-424D-827A-8A47456498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4bb411ae6b4928" /><Relationship Type="http://schemas.openxmlformats.org/officeDocument/2006/relationships/slideLayout" Target="/ppt/slideLayouts/slideLayout1.xml" Id="Rf07608953dec4e96" /><Relationship Type="http://schemas.openxmlformats.org/officeDocument/2006/relationships/slideLayout" Target="/ppt/slideLayouts/slideLayout2.xml" Id="Ra00ee81aa14f4d1d" /><Relationship Type="http://schemas.openxmlformats.org/officeDocument/2006/relationships/slideLayout" Target="/ppt/slideLayouts/slideLayout3.xml" Id="R7c6db321c0bc424a" /><Relationship Type="http://schemas.openxmlformats.org/officeDocument/2006/relationships/slideLayout" Target="/ppt/slideLayouts/slideLayout4.xml" Id="R7c8df099c72042cc" /><Relationship Type="http://schemas.openxmlformats.org/officeDocument/2006/relationships/slideLayout" Target="/ppt/slideLayouts/slideLayout5.xml" Id="R5cef9107f86b4f8b" /><Relationship Type="http://schemas.openxmlformats.org/officeDocument/2006/relationships/slideLayout" Target="/ppt/slideLayouts/slideLayout6.xml" Id="R5cf0bc749a7544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7608953dec4e96"/>
    <p:sldLayoutId xmlns:r="http://schemas.openxmlformats.org/officeDocument/2006/relationships" id="2147483650" r:id="Ra00ee81aa14f4d1d"/>
    <p:sldLayoutId xmlns:r="http://schemas.openxmlformats.org/officeDocument/2006/relationships" id="2147483651" r:id="R7c6db321c0bc424a"/>
    <p:sldLayoutId xmlns:r="http://schemas.openxmlformats.org/officeDocument/2006/relationships" id="2147483652" r:id="R7c8df099c72042cc"/>
    <p:sldLayoutId xmlns:r="http://schemas.openxmlformats.org/officeDocument/2006/relationships" id="2147483653" r:id="R5cef9107f86b4f8b"/>
    <p:sldLayoutId xmlns:r="http://schemas.openxmlformats.org/officeDocument/2006/relationships" id="2147483654" r:id="R5cf0bc749a7544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b7e306e8747e7" /><Relationship Type="http://schemas.openxmlformats.org/officeDocument/2006/relationships/image" Target="/ppt/media/image.png" Id="Rf5d8c4c4fb334d88" /><Relationship Type="http://schemas.openxmlformats.org/officeDocument/2006/relationships/image" Target="/ppt/media/image2.png" Id="Re29f10afb9f14ea4" /><Relationship Type="http://schemas.openxmlformats.org/officeDocument/2006/relationships/notesSlide" Target="/ppt/notesSlides/notesSlide1.xml" Id="Rf798abcbf7e9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926a8bf0d4865" /><Relationship Type="http://schemas.openxmlformats.org/officeDocument/2006/relationships/image" Target="/ppt/media/image.gif" Id="R581f569003254859" /><Relationship Type="http://schemas.openxmlformats.org/officeDocument/2006/relationships/notesSlide" Target="/ppt/notesSlides/notesSlide2.xml" Id="Rf80021fd37f743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26936da9ca472c" /><Relationship Type="http://schemas.openxmlformats.org/officeDocument/2006/relationships/image" Target="/ppt/media/image3.png" Id="R87400e5d3a014037" /><Relationship Type="http://schemas.openxmlformats.org/officeDocument/2006/relationships/notesSlide" Target="/ppt/notesSlides/notesSlide3.xml" Id="Rf4140b17fbe14d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580da666034473" /><Relationship Type="http://schemas.openxmlformats.org/officeDocument/2006/relationships/image" Target="/ppt/media/image4.png" Id="R0df73e5445544700" /><Relationship Type="http://schemas.openxmlformats.org/officeDocument/2006/relationships/image" Target="/ppt/media/image5.png" Id="R820f3dbea99d45ed" /><Relationship Type="http://schemas.openxmlformats.org/officeDocument/2006/relationships/chart" Target="/ppt/slides/charts/chart1.xml" Id="R8c8abbe99d0b45e1" /><Relationship Type="http://schemas.openxmlformats.org/officeDocument/2006/relationships/notesSlide" Target="/ppt/notesSlides/notesSlide4.xml" Id="R45d7d4054df4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60578e95e4c92" /><Relationship Type="http://schemas.openxmlformats.org/officeDocument/2006/relationships/image" Target="/ppt/media/image6.png" Id="R951782557bef4f7e" /><Relationship Type="http://schemas.openxmlformats.org/officeDocument/2006/relationships/image" Target="/ppt/media/image7.png" Id="R51ed5a10be8840d6" /><Relationship Type="http://schemas.openxmlformats.org/officeDocument/2006/relationships/notesSlide" Target="/ppt/notesSlides/notesSlide5.xml" Id="Re380b28598c340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295cc5de74a02" /><Relationship Type="http://schemas.openxmlformats.org/officeDocument/2006/relationships/image" Target="/ppt/media/image8.png" Id="Rdeebe69dd11c4a72" /><Relationship Type="http://schemas.openxmlformats.org/officeDocument/2006/relationships/image" Target="/ppt/media/image9.png" Id="Rd90ba28312c54715" /><Relationship Type="http://schemas.openxmlformats.org/officeDocument/2006/relationships/image" Target="/ppt/media/image10.png" Id="R20485fbe353945ba" /><Relationship Type="http://schemas.openxmlformats.org/officeDocument/2006/relationships/notesSlide" Target="/ppt/notesSlides/notesSlide6.xml" Id="R0bade2f1855940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88fa099504df5" /><Relationship Type="http://schemas.openxmlformats.org/officeDocument/2006/relationships/image" Target="/ppt/media/image11.png" Id="Ra8c06bb482614659" /><Relationship Type="http://schemas.openxmlformats.org/officeDocument/2006/relationships/image" Target="/ppt/media/image12.png" Id="R6878ec4e446d4a93" /><Relationship Type="http://schemas.openxmlformats.org/officeDocument/2006/relationships/image" Target="/ppt/media/image13.png" Id="R78a6a636b56f466c" /><Relationship Type="http://schemas.openxmlformats.org/officeDocument/2006/relationships/image" Target="/ppt/media/image14.png" Id="R1cd3d7b43a6c4fc3" /><Relationship Type="http://schemas.openxmlformats.org/officeDocument/2006/relationships/notesSlide" Target="/ppt/notesSlides/notesSlide7.xml" Id="Rcd4f54aab47e41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84db0cbe44bc6" /><Relationship Type="http://schemas.openxmlformats.org/officeDocument/2006/relationships/image" Target="/ppt/media/image15.png" Id="R73f9d08d833b4b8b" /><Relationship Type="http://schemas.openxmlformats.org/officeDocument/2006/relationships/image" Target="/ppt/media/image16.png" Id="R94f09e53424f466e" /><Relationship Type="http://schemas.openxmlformats.org/officeDocument/2006/relationships/notesSlide" Target="/ppt/notesSlides/notesSlide8.xml" Id="R4281e693b25f44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2d2f826d194220" /><Relationship Type="http://schemas.openxmlformats.org/officeDocument/2006/relationships/image" Target="/ppt/media/image17.png" Id="R4368a47def1b439a" /><Relationship Type="http://schemas.openxmlformats.org/officeDocument/2006/relationships/image" Target="/ppt/media/image18.png" Id="R0f889684fa3747f3" /><Relationship Type="http://schemas.openxmlformats.org/officeDocument/2006/relationships/image" Target="/ppt/media/image19.png" Id="R9334feb85cf64097" /><Relationship Type="http://schemas.openxmlformats.org/officeDocument/2006/relationships/notesSlide" Target="/ppt/notesSlides/notesSlide9.xml" Id="R2562daf419e942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b45dc51564d3a" /><Relationship Type="http://schemas.openxmlformats.org/officeDocument/2006/relationships/image" Target="/ppt/media/image20.png" Id="R710eef621c364e50" /><Relationship Type="http://schemas.openxmlformats.org/officeDocument/2006/relationships/chart" Target="/ppt/slides/charts/chart2.xml" Id="R9acf332d9cbc4e2e" /><Relationship Type="http://schemas.openxmlformats.org/officeDocument/2006/relationships/notesSlide" Target="/ppt/notesSlides/notesSlide10.xml" Id="R51e1a5fec4684a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b2b8a6f464ea4" /><Relationship Type="http://schemas.openxmlformats.org/officeDocument/2006/relationships/image" Target="/ppt/media/image21.png" Id="R336f8a7646fb40b7" /><Relationship Type="http://schemas.openxmlformats.org/officeDocument/2006/relationships/notesSlide" Target="/ppt/notesSlides/notesSlide11.xml" Id="R1f34e7c8950142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2723f3cc34e51" /><Relationship Type="http://schemas.openxmlformats.org/officeDocument/2006/relationships/image" Target="/ppt/media/image22.png" Id="R55c763779feb4626" /><Relationship Type="http://schemas.openxmlformats.org/officeDocument/2006/relationships/notesSlide" Target="/ppt/notesSlides/notesSlide12.xml" Id="R27766e99d3604b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0381c970347c2" /><Relationship Type="http://schemas.openxmlformats.org/officeDocument/2006/relationships/notesSlide" Target="/ppt/notesSlides/notesSlide13.xml" Id="R2319a3d0930243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0701c7db14f0d" /><Relationship Type="http://schemas.openxmlformats.org/officeDocument/2006/relationships/image" Target="/ppt/media/image23.png" Id="R08e40c16d8a74489" /><Relationship Type="http://schemas.openxmlformats.org/officeDocument/2006/relationships/notesSlide" Target="/ppt/notesSlides/notesSlide14.xml" Id="R516d3b7a92e548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025f97a514c77" /><Relationship Type="http://schemas.openxmlformats.org/officeDocument/2006/relationships/image" Target="/ppt/media/image24.png" Id="R916a106f83d0405c" /><Relationship Type="http://schemas.openxmlformats.org/officeDocument/2006/relationships/notesSlide" Target="/ppt/notesSlides/notesSlide15.xml" Id="R01af9468db1c4e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515ee6714442e" /><Relationship Type="http://schemas.openxmlformats.org/officeDocument/2006/relationships/image" Target="/ppt/media/image25.png" Id="Ra510fcc5730743d5" /><Relationship Type="http://schemas.openxmlformats.org/officeDocument/2006/relationships/notesSlide" Target="/ppt/notesSlides/notesSlide16.xml" Id="R5e8bfc585d4f4a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838feb4534faa" /><Relationship Type="http://schemas.openxmlformats.org/officeDocument/2006/relationships/image" Target="/ppt/media/image26.png" Id="R1e99b64e13c1422a" /><Relationship Type="http://schemas.openxmlformats.org/officeDocument/2006/relationships/chart" Target="/ppt/slides/charts/chart3.xml" Id="R8e8f9e7b297f47e8" /><Relationship Type="http://schemas.openxmlformats.org/officeDocument/2006/relationships/notesSlide" Target="/ppt/notesSlides/notesSlide17.xml" Id="R9f2d171ee7e44b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9951d4ae94613" /><Relationship Type="http://schemas.openxmlformats.org/officeDocument/2006/relationships/image" Target="/ppt/media/image27.png" Id="Ra72fcda520174cec" /><Relationship Type="http://schemas.openxmlformats.org/officeDocument/2006/relationships/notesSlide" Target="/ppt/notesSlides/notesSlide18.xml" Id="R3cd948626e7244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304170cba4ce0" /><Relationship Type="http://schemas.openxmlformats.org/officeDocument/2006/relationships/image" Target="/ppt/media/image28.png" Id="R63546e99abe44b8b" /><Relationship Type="http://schemas.openxmlformats.org/officeDocument/2006/relationships/notesSlide" Target="/ppt/notesSlides/notesSlide19.xml" Id="Rf850b078b6f74f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df798490d48b0" /><Relationship Type="http://schemas.openxmlformats.org/officeDocument/2006/relationships/image" Target="/ppt/media/image29.png" Id="Rc48e80c9478b4f00" /><Relationship Type="http://schemas.openxmlformats.org/officeDocument/2006/relationships/notesSlide" Target="/ppt/notesSlides/notesSlide20.xml" Id="R55039c7a6d0b42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6b304322b4d78" /><Relationship Type="http://schemas.openxmlformats.org/officeDocument/2006/relationships/image" Target="/ppt/media/image30.png" Id="Re3b52b7c99584950" /><Relationship Type="http://schemas.openxmlformats.org/officeDocument/2006/relationships/notesSlide" Target="/ppt/notesSlides/notesSlide21.xml" Id="R16be60349f0745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7fd0f2e81463e" /><Relationship Type="http://schemas.openxmlformats.org/officeDocument/2006/relationships/chart" Target="/ppt/slides/charts/chart4.xml" Id="R472304179bfd4ea4" /><Relationship Type="http://schemas.openxmlformats.org/officeDocument/2006/relationships/notesSlide" Target="/ppt/notesSlides/notesSlide22.xml" Id="Re468c5d2f54746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c7537e5a34f51" /><Relationship Type="http://schemas.openxmlformats.org/officeDocument/2006/relationships/image" Target="/ppt/media/image31.png" Id="R9f5b1feb05264ca2" /><Relationship Type="http://schemas.openxmlformats.org/officeDocument/2006/relationships/notesSlide" Target="/ppt/notesSlides/notesSlide23.xml" Id="R3a6e47c54ae34a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28f4ecd4e4844" /><Relationship Type="http://schemas.openxmlformats.org/officeDocument/2006/relationships/chart" Target="/ppt/slides/charts/chart5.xml" Id="Rb5275a83c6f4419b" /><Relationship Type="http://schemas.openxmlformats.org/officeDocument/2006/relationships/notesSlide" Target="/ppt/notesSlides/notesSlide24.xml" Id="Rd0afedccb5ce4e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2ad2c3a084522" /><Relationship Type="http://schemas.openxmlformats.org/officeDocument/2006/relationships/image" Target="/ppt/media/image32.png" Id="Re33d2bb77a024b7b" /><Relationship Type="http://schemas.openxmlformats.org/officeDocument/2006/relationships/chart" Target="/ppt/slides/charts/chart6.xml" Id="R47749718a3804866" /><Relationship Type="http://schemas.openxmlformats.org/officeDocument/2006/relationships/notesSlide" Target="/ppt/notesSlides/notesSlide25.xml" Id="R950c5d1b3ec640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58ef423a7459e" /><Relationship Type="http://schemas.openxmlformats.org/officeDocument/2006/relationships/image" Target="/ppt/media/image33.png" Id="R6985b23a56c645d8" /><Relationship Type="http://schemas.openxmlformats.org/officeDocument/2006/relationships/notesSlide" Target="/ppt/notesSlides/notesSlide26.xml" Id="Rb562d3e62fea4a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d8c5e0bb84628" /><Relationship Type="http://schemas.openxmlformats.org/officeDocument/2006/relationships/image" Target="/ppt/media/image34.png" Id="R3324c10641f64525" /><Relationship Type="http://schemas.openxmlformats.org/officeDocument/2006/relationships/notesSlide" Target="/ppt/notesSlides/notesSlide27.xml" Id="R9ab974bc58cd400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257a623f040dd" /><Relationship Type="http://schemas.openxmlformats.org/officeDocument/2006/relationships/chart" Target="/ppt/slides/charts/chart7.xml" Id="R7d22bc3603914fb9" /><Relationship Type="http://schemas.openxmlformats.org/officeDocument/2006/relationships/chart" Target="/ppt/slides/charts/chart8.xml" Id="R6df53550ffd34af1" /><Relationship Type="http://schemas.openxmlformats.org/officeDocument/2006/relationships/notesSlide" Target="/ppt/notesSlides/notesSlide28.xml" Id="R88eef3245cca4f4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e642d1ffb4ee8" /><Relationship Type="http://schemas.openxmlformats.org/officeDocument/2006/relationships/notesSlide" Target="/ppt/notesSlides/notesSlide29.xml" Id="Rf696056f10ff45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3326eab03476c" /><Relationship Type="http://schemas.openxmlformats.org/officeDocument/2006/relationships/image" Target="/ppt/media/image35.png" Id="R883b0a460a5b473d" /><Relationship Type="http://schemas.openxmlformats.org/officeDocument/2006/relationships/image" Target="/ppt/media/image36.png" Id="R4c1d71d1d44447f6" /><Relationship Type="http://schemas.openxmlformats.org/officeDocument/2006/relationships/image" Target="/ppt/media/image37.png" Id="Re30ed9fef14441e5" /><Relationship Type="http://schemas.openxmlformats.org/officeDocument/2006/relationships/notesSlide" Target="/ppt/notesSlides/notesSlide30.xml" Id="R65bbb43bba1d482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8ef2208944f23" /><Relationship Type="http://schemas.openxmlformats.org/officeDocument/2006/relationships/image" Target="/ppt/media/image38.png" Id="R22757fdd0a5b4666" /><Relationship Type="http://schemas.openxmlformats.org/officeDocument/2006/relationships/notesSlide" Target="/ppt/notesSlides/notesSlide31.xml" Id="Ra909fcfeccfa485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fbe9d347d4c71" /><Relationship Type="http://schemas.openxmlformats.org/officeDocument/2006/relationships/image" Target="/ppt/media/image39.png" Id="R35eec4e9b0534ab0" /><Relationship Type="http://schemas.openxmlformats.org/officeDocument/2006/relationships/notesSlide" Target="/ppt/notesSlides/notesSlide32.xml" Id="R3165d16d3284403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0e8fbdbf54f5c" /><Relationship Type="http://schemas.openxmlformats.org/officeDocument/2006/relationships/image" Target="/ppt/media/image40.png" Id="R61c9119a14f64b4c" /><Relationship Type="http://schemas.openxmlformats.org/officeDocument/2006/relationships/notesSlide" Target="/ppt/notesSlides/notesSlide33.xml" Id="R0b8a4a6c9f6d4f8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f6e8379ae4121" /><Relationship Type="http://schemas.openxmlformats.org/officeDocument/2006/relationships/image" Target="/ppt/media/image2.gif" Id="Rb6334201b9934df6" /><Relationship Type="http://schemas.openxmlformats.org/officeDocument/2006/relationships/image" Target="/ppt/media/image3.gif" Id="R3f37914dc4b6482b" /><Relationship Type="http://schemas.openxmlformats.org/officeDocument/2006/relationships/notesSlide" Target="/ppt/notesSlides/notesSlide34.xml" Id="R725d91e7017f4e0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afaa761794732" /><Relationship Type="http://schemas.openxmlformats.org/officeDocument/2006/relationships/notesSlide" Target="/ppt/notesSlides/notesSlide35.xml" Id="Rf3eb605cec9b4de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三重态，3 个态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0.0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单重态，1 个态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 /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5"/>
        <c:majorUnit val="0.5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0.35 的两个方向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沿 x，qᵧ = 0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2</c:v>
              </c:pt>
              <c:pt idx="1">
                <c:v>1.996917333733128</c:v>
              </c:pt>
              <c:pt idx="2">
                <c:v>1.9876883405951378</c:v>
              </c:pt>
              <c:pt idx="3">
                <c:v>1.9723699203976766</c:v>
              </c:pt>
              <c:pt idx="4">
                <c:v>1.9510565162951536</c:v>
              </c:pt>
              <c:pt idx="5">
                <c:v>1.9238795325112867</c:v>
              </c:pt>
              <c:pt idx="6">
                <c:v>1.8910065241883678</c:v>
              </c:pt>
              <c:pt idx="7">
                <c:v>1.8526401643540922</c:v>
              </c:pt>
              <c:pt idx="8">
                <c:v>1.8090169943749475</c:v>
              </c:pt>
              <c:pt idx="9">
                <c:v>1.760405965600031</c:v>
              </c:pt>
              <c:pt idx="10">
                <c:v>1.7071067811865475</c:v>
              </c:pt>
              <c:pt idx="11">
                <c:v>1.6494480483301834</c:v>
              </c:pt>
              <c:pt idx="12">
                <c:v>1.587785252292473</c:v>
              </c:pt>
              <c:pt idx="13">
                <c:v>1.5224985647159488</c:v>
              </c:pt>
              <c:pt idx="14">
                <c:v>1.4539904997395467</c:v>
              </c:pt>
              <c:pt idx="15">
                <c:v>1.3826834323650896</c:v>
              </c:pt>
              <c:pt idx="16">
                <c:v>1.3090169943749475</c:v>
              </c:pt>
              <c:pt idx="17">
                <c:v>1.2334453638559053</c:v>
              </c:pt>
              <c:pt idx="18">
                <c:v>1.1564344650402307</c:v>
              </c:pt>
              <c:pt idx="19">
                <c:v>1.0784590957278448</c:v>
              </c:pt>
              <c:pt idx="20">
                <c:v>0.9999999999999999</c:v>
              </c:pt>
              <c:pt idx="21">
                <c:v>0.921540904272155</c:v>
              </c:pt>
              <c:pt idx="22">
                <c:v>0.843565534959769</c:v>
              </c:pt>
              <c:pt idx="23">
                <c:v>0.7665546361440945</c:v>
              </c:pt>
              <c:pt idx="24">
                <c:v>0.6909830056250525</c:v>
              </c:pt>
              <c:pt idx="25">
                <c:v>0.6173165676349102</c:v>
              </c:pt>
              <c:pt idx="26">
                <c:v>0.5460095002604533</c:v>
              </c:pt>
              <c:pt idx="27">
                <c:v>0.4775014352840511</c:v>
              </c:pt>
              <c:pt idx="28">
                <c:v>0.41221474770752686</c:v>
              </c:pt>
              <c:pt idx="29">
                <c:v>0.35055195166981634</c:v>
              </c:pt>
              <c:pt idx="30">
                <c:v>0.2928932188134524</c:v>
              </c:pt>
              <c:pt idx="31">
                <c:v>0.23959403439996907</c:v>
              </c:pt>
              <c:pt idx="32">
                <c:v>0.19098300562505255</c:v>
              </c:pt>
              <c:pt idx="33">
                <c:v>0.1473598356459077</c:v>
              </c:pt>
              <c:pt idx="34">
                <c:v>0.1089934758116321</c:v>
              </c:pt>
              <c:pt idx="35">
                <c:v>0.07612046748871326</c:v>
              </c:pt>
              <c:pt idx="36">
                <c:v>0.04894348370484647</c:v>
              </c:pt>
              <c:pt idx="37">
                <c:v>0.027630079602323443</c:v>
              </c:pt>
              <c:pt idx="38">
                <c:v>0.01231165940486223</c:v>
              </c:pt>
              <c:pt idx="39">
                <c:v>0.003082666266872036</c:v>
              </c:pt>
              <c:pt idx="40">
                <c:v>0</c:v>
              </c:pt>
              <c:pt idx="41">
                <c:v>0.003082666266872036</c:v>
              </c:pt>
              <c:pt idx="42">
                <c:v>0.01231165940486223</c:v>
              </c:pt>
              <c:pt idx="43">
                <c:v>0.027630079602323443</c:v>
              </c:pt>
              <c:pt idx="44">
                <c:v>0.04894348370484647</c:v>
              </c:pt>
              <c:pt idx="45">
                <c:v>0.07612046748871326</c:v>
              </c:pt>
              <c:pt idx="46">
                <c:v>0.1089934758116321</c:v>
              </c:pt>
              <c:pt idx="47">
                <c:v>0.1473598356459077</c:v>
              </c:pt>
              <c:pt idx="48">
                <c:v>0.19098300562505255</c:v>
              </c:pt>
              <c:pt idx="49">
                <c:v>0.23959403439996907</c:v>
              </c:pt>
              <c:pt idx="50">
                <c:v>0.2928932188134524</c:v>
              </c:pt>
              <c:pt idx="51">
                <c:v>0.350551951669816</c:v>
              </c:pt>
              <c:pt idx="52">
                <c:v>0.41221474770752686</c:v>
              </c:pt>
              <c:pt idx="53">
                <c:v>0.47750143528405153</c:v>
              </c:pt>
              <c:pt idx="54">
                <c:v>0.5460095002604533</c:v>
              </c:pt>
              <c:pt idx="55">
                <c:v>0.6173165676349097</c:v>
              </c:pt>
              <c:pt idx="56">
                <c:v>0.6909830056250525</c:v>
              </c:pt>
              <c:pt idx="57">
                <c:v>0.7665546361440949</c:v>
              </c:pt>
              <c:pt idx="58">
                <c:v>0.843565534959769</c:v>
              </c:pt>
              <c:pt idx="59">
                <c:v>0.9215409042721545</c:v>
              </c:pt>
              <c:pt idx="60">
                <c:v>0.9999999999999999</c:v>
              </c:pt>
              <c:pt idx="61">
                <c:v>1.0784590957278453</c:v>
              </c:pt>
              <c:pt idx="62">
                <c:v>1.1564344650402307</c:v>
              </c:pt>
              <c:pt idx="63">
                <c:v>1.2334453638559049</c:v>
              </c:pt>
              <c:pt idx="64">
                <c:v>1.3090169943749475</c:v>
              </c:pt>
              <c:pt idx="65">
                <c:v>1.38268343236509</c:v>
              </c:pt>
              <c:pt idx="66">
                <c:v>1.4539904997395467</c:v>
              </c:pt>
              <c:pt idx="67">
                <c:v>1.5224985647159484</c:v>
              </c:pt>
              <c:pt idx="68">
                <c:v>1.587785252292473</c:v>
              </c:pt>
              <c:pt idx="69">
                <c:v>1.6494480483301839</c:v>
              </c:pt>
              <c:pt idx="70">
                <c:v>1.7071067811865475</c:v>
              </c:pt>
              <c:pt idx="71">
                <c:v>1.7604059656000306</c:v>
              </c:pt>
              <c:pt idx="72">
                <c:v>1.8090169943749475</c:v>
              </c:pt>
              <c:pt idx="73">
                <c:v>1.8526401643540924</c:v>
              </c:pt>
              <c:pt idx="74">
                <c:v>1.8910065241883678</c:v>
              </c:pt>
              <c:pt idx="75">
                <c:v>1.9238795325112865</c:v>
              </c:pt>
              <c:pt idx="76">
                <c:v>1.9510565162951536</c:v>
              </c:pt>
              <c:pt idx="77">
                <c:v>1.9723699203976768</c:v>
              </c:pt>
              <c:pt idx="78">
                <c:v>1.9876883405951378</c:v>
              </c:pt>
              <c:pt idx="79">
                <c:v>1.996917333733128</c:v>
              </c:pt>
              <c:pt idx="80">
                <c:v>2</c:v>
              </c:pt>
            </c:numLit>
          </c:yVal>
        </c:ser>
        <c:ser>
          <c:idx val="1"/>
          <c:order val="1"/>
          <c:tx>
            <c:v>沿 y，qₓ = 0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0.7</c:v>
              </c:pt>
              <c:pt idx="1">
                <c:v>0.6989210668065948</c:v>
              </c:pt>
              <c:pt idx="2">
                <c:v>0.6956909192082982</c:v>
              </c:pt>
              <c:pt idx="3">
                <c:v>0.6903294721391867</c:v>
              </c:pt>
              <c:pt idx="4">
                <c:v>0.6828697807033037</c:v>
              </c:pt>
              <c:pt idx="5">
                <c:v>0.6733578363789503</c:v>
              </c:pt>
              <c:pt idx="6">
                <c:v>0.6618522834659287</c:v>
              </c:pt>
              <c:pt idx="7">
                <c:v>0.6484240575239322</c:v>
              </c:pt>
              <c:pt idx="8">
                <c:v>0.6331559480312315</c:v>
              </c:pt>
              <c:pt idx="9">
                <c:v>0.6161420879600108</c:v>
              </c:pt>
              <c:pt idx="10">
                <c:v>0.5974873734152916</c:v>
              </c:pt>
              <c:pt idx="11">
                <c:v>0.5773068169155642</c:v>
              </c:pt>
              <c:pt idx="12">
                <c:v>0.5557248383023655</c:v>
              </c:pt>
              <c:pt idx="13">
                <c:v>0.532874497650582</c:v>
              </c:pt>
              <c:pt idx="14">
                <c:v>0.5088966749088414</c:v>
              </c:pt>
              <c:pt idx="15">
                <c:v>0.48393920132778134</c:v>
              </c:pt>
              <c:pt idx="16">
                <c:v>0.45815594803123155</c:v>
              </c:pt>
              <c:pt idx="17">
                <c:v>0.43170587734956684</c:v>
              </c:pt>
              <c:pt idx="18">
                <c:v>0.4047520627640807</c:v>
              </c:pt>
              <c:pt idx="19">
                <c:v>0.37746068350474565</c:v>
              </c:pt>
              <c:pt idx="20">
                <c:v>0.3499999999999999</c:v>
              </c:pt>
              <c:pt idx="21">
                <c:v>0.3225393164952542</c:v>
              </c:pt>
              <c:pt idx="22">
                <c:v>0.29524793723591913</c:v>
              </c:pt>
              <c:pt idx="23">
                <c:v>0.26829412265043306</c:v>
              </c:pt>
              <c:pt idx="24">
                <c:v>0.24184405196876838</c:v>
              </c:pt>
              <c:pt idx="25">
                <c:v>0.21606079867221856</c:v>
              </c:pt>
              <c:pt idx="26">
                <c:v>0.19110332509115863</c:v>
              </c:pt>
              <c:pt idx="27">
                <c:v>0.16712550234941786</c:v>
              </c:pt>
              <c:pt idx="28">
                <c:v>0.14427516169763438</c:v>
              </c:pt>
              <c:pt idx="29">
                <c:v>0.1226931830844357</c:v>
              </c:pt>
              <c:pt idx="30">
                <c:v>0.10251262658470835</c:v>
              </c:pt>
              <c:pt idx="31">
                <c:v>0.08385791203998917</c:v>
              </c:pt>
              <c:pt idx="32">
                <c:v>0.06684405196876839</c:v>
              </c:pt>
              <c:pt idx="33">
                <c:v>0.0515759424760677</c:v>
              </c:pt>
              <c:pt idx="34">
                <c:v>0.03814771653407123</c:v>
              </c:pt>
              <c:pt idx="35">
                <c:v>0.02664216362104964</c:v>
              </c:pt>
              <c:pt idx="36">
                <c:v>0.017130219296696263</c:v>
              </c:pt>
              <c:pt idx="37">
                <c:v>0.009670527860813204</c:v>
              </c:pt>
              <c:pt idx="38">
                <c:v>0.00430908079170178</c:v>
              </c:pt>
              <c:pt idx="39">
                <c:v>0.0010789331934052127</c:v>
              </c:pt>
              <c:pt idx="40">
                <c:v>0</c:v>
              </c:pt>
              <c:pt idx="41">
                <c:v>0.0010789331934052127</c:v>
              </c:pt>
              <c:pt idx="42">
                <c:v>0.00430908079170178</c:v>
              </c:pt>
              <c:pt idx="43">
                <c:v>0.009670527860813204</c:v>
              </c:pt>
              <c:pt idx="44">
                <c:v>0.017130219296696263</c:v>
              </c:pt>
              <c:pt idx="45">
                <c:v>0.02664216362104964</c:v>
              </c:pt>
              <c:pt idx="46">
                <c:v>0.03814771653407123</c:v>
              </c:pt>
              <c:pt idx="47">
                <c:v>0.0515759424760677</c:v>
              </c:pt>
              <c:pt idx="48">
                <c:v>0.06684405196876839</c:v>
              </c:pt>
              <c:pt idx="49">
                <c:v>0.08385791203998917</c:v>
              </c:pt>
              <c:pt idx="50">
                <c:v>0.10251262658470835</c:v>
              </c:pt>
              <c:pt idx="51">
                <c:v>0.1226931830844356</c:v>
              </c:pt>
              <c:pt idx="52">
                <c:v>0.14427516169763438</c:v>
              </c:pt>
              <c:pt idx="53">
                <c:v>0.16712550234941803</c:v>
              </c:pt>
              <c:pt idx="54">
                <c:v>0.19110332509115863</c:v>
              </c:pt>
              <c:pt idx="55">
                <c:v>0.2160607986722184</c:v>
              </c:pt>
              <c:pt idx="56">
                <c:v>0.24184405196876838</c:v>
              </c:pt>
              <c:pt idx="57">
                <c:v>0.2682941226504332</c:v>
              </c:pt>
              <c:pt idx="58">
                <c:v>0.29524793723591913</c:v>
              </c:pt>
              <c:pt idx="59">
                <c:v>0.3225393164952541</c:v>
              </c:pt>
              <c:pt idx="60">
                <c:v>0.3499999999999999</c:v>
              </c:pt>
              <c:pt idx="61">
                <c:v>0.3774606835047458</c:v>
              </c:pt>
              <c:pt idx="62">
                <c:v>0.4047520627640807</c:v>
              </c:pt>
              <c:pt idx="63">
                <c:v>0.43170587734956667</c:v>
              </c:pt>
              <c:pt idx="64">
                <c:v>0.45815594803123155</c:v>
              </c:pt>
              <c:pt idx="65">
                <c:v>0.4839392013277815</c:v>
              </c:pt>
              <c:pt idx="66">
                <c:v>0.5088966749088414</c:v>
              </c:pt>
              <c:pt idx="67">
                <c:v>0.5328744976505819</c:v>
              </c:pt>
              <c:pt idx="68">
                <c:v>0.5557248383023655</c:v>
              </c:pt>
              <c:pt idx="69">
                <c:v>0.5773068169155643</c:v>
              </c:pt>
              <c:pt idx="70">
                <c:v>0.5974873734152916</c:v>
              </c:pt>
              <c:pt idx="71">
                <c:v>0.6161420879600107</c:v>
              </c:pt>
              <c:pt idx="72">
                <c:v>0.6331559480312315</c:v>
              </c:pt>
              <c:pt idx="73">
                <c:v>0.6484240575239323</c:v>
              </c:pt>
              <c:pt idx="74">
                <c:v>0.6618522834659287</c:v>
              </c:pt>
              <c:pt idx="75">
                <c:v>0.6733578363789502</c:v>
              </c:pt>
              <c:pt idx="76">
                <c:v>0.6828697807033037</c:v>
              </c:pt>
              <c:pt idx="77">
                <c:v>0.6903294721391868</c:v>
              </c:pt>
              <c:pt idx="78">
                <c:v>0.6956909192082982</c:v>
              </c:pt>
              <c:pt idx="79">
                <c:v>0.6989210668065948</c:v>
              </c:pt>
              <c:pt idx="80">
                <c:v>0.7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ε / Jₓ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q = ka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-3.14159265358979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宽度的弹道增长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不同载波的质心轨迹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-2.0661168548719898E-17</c:v>
              </c:pt>
              <c:pt idx="1">
                <c:v>2.831755825032994E-17</c:v>
              </c:pt>
              <c:pt idx="2">
                <c:v>-8.043652786130308E-17</c:v>
              </c:pt>
              <c:pt idx="3">
                <c:v>-5.402682727522836E-17</c:v>
              </c:pt>
              <c:pt idx="4">
                <c:v>-8.347986275347437E-17</c:v>
              </c:pt>
              <c:pt idx="5">
                <c:v>-7.416063970258935E-17</c:v>
              </c:pt>
              <c:pt idx="6">
                <c:v>-4.265694020657431E-17</c:v>
              </c:pt>
              <c:pt idx="7">
                <c:v>-9.492489347250293E-17</c:v>
              </c:pt>
              <c:pt idx="8">
                <c:v>-1.0491414745056732E-16</c:v>
              </c:pt>
              <c:pt idx="9">
                <c:v>-5.231985014533567E-17</c:v>
              </c:pt>
              <c:pt idx="10">
                <c:v>-1.4923204897607406E-16</c:v>
              </c:pt>
              <c:pt idx="11">
                <c:v>-2.010611678050171E-16</c:v>
              </c:pt>
              <c:pt idx="12">
                <c:v>-4.187173696096064E-17</c:v>
              </c:pt>
              <c:pt idx="13">
                <c:v>-2.8921921034396445E-16</c:v>
              </c:pt>
              <c:pt idx="14">
                <c:v>-1.2805406600937044E-16</c:v>
              </c:pt>
              <c:pt idx="15">
                <c:v>-1.1172675739448148E-16</c:v>
              </c:pt>
              <c:pt idx="16">
                <c:v>-2.2133222818455642E-16</c:v>
              </c:pt>
              <c:pt idx="17">
                <c:v>-2.245134802987985E-16</c:v>
              </c:pt>
              <c:pt idx="18">
                <c:v>-1.7441380605286062E-16</c:v>
              </c:pt>
              <c:pt idx="19">
                <c:v>-4.765556697698448E-16</c:v>
              </c:pt>
              <c:pt idx="20">
                <c:v>-3.612126029891771E-16</c:v>
              </c:pt>
              <c:pt idx="21">
                <c:v>-1.8065134905461464E-16</c:v>
              </c:pt>
              <c:pt idx="22">
                <c:v>-2.728379877527252E-16</c:v>
              </c:pt>
              <c:pt idx="23">
                <c:v>-3.1718911392400895E-16</c:v>
              </c:pt>
              <c:pt idx="24">
                <c:v>-2.8118492527521214E-16</c:v>
              </c:pt>
              <c:pt idx="25">
                <c:v>-9.377951707801542E-17</c:v>
              </c:pt>
              <c:pt idx="26">
                <c:v>-1.1137127796070403E-16</c:v>
              </c:pt>
              <c:pt idx="27">
                <c:v>-2.1704211013844202E-16</c:v>
              </c:pt>
              <c:pt idx="28">
                <c:v>-1.7606692752831045E-16</c:v>
              </c:pt>
              <c:pt idx="29">
                <c:v>-3.341799308041925E-16</c:v>
              </c:pt>
              <c:pt idx="30">
                <c:v>-4.575299363471412E-16</c:v>
              </c:pt>
            </c:numLit>
          </c:yVal>
        </c:ser>
        <c:ser>
          <c:idx val="1"/>
          <c:order val="1"/>
          <c:tx>
            <c:v>q₀ = (0.7,0)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-1.4945406938737424E-16</c:v>
              </c:pt>
              <c:pt idx="1">
                <c:v>1.2784086908435277</c:v>
              </c:pt>
              <c:pt idx="2">
                <c:v>2.5568173816870554</c:v>
              </c:pt>
              <c:pt idx="3">
                <c:v>3.8352260725305847</c:v>
              </c:pt>
              <c:pt idx="4">
                <c:v>5.113634763374113</c:v>
              </c:pt>
              <c:pt idx="5">
                <c:v>6.392043454217642</c:v>
              </c:pt>
              <c:pt idx="6">
                <c:v>7.670452145061169</c:v>
              </c:pt>
              <c:pt idx="7">
                <c:v>8.948860835904698</c:v>
              </c:pt>
              <c:pt idx="8">
                <c:v>10.227269526748222</c:v>
              </c:pt>
              <c:pt idx="9">
                <c:v>11.505678217591754</c:v>
              </c:pt>
              <c:pt idx="10">
                <c:v>12.784086908435283</c:v>
              </c:pt>
              <c:pt idx="11">
                <c:v>14.062495599278808</c:v>
              </c:pt>
              <c:pt idx="12">
                <c:v>15.340904290122337</c:v>
              </c:pt>
              <c:pt idx="13">
                <c:v>16.619312980965873</c:v>
              </c:pt>
              <c:pt idx="14">
                <c:v>17.897721671809396</c:v>
              </c:pt>
              <c:pt idx="15">
                <c:v>19.17613036265292</c:v>
              </c:pt>
              <c:pt idx="16">
                <c:v>20.454539053496443</c:v>
              </c:pt>
              <c:pt idx="17">
                <c:v>21.732947744339985</c:v>
              </c:pt>
              <c:pt idx="18">
                <c:v>23.01135643518351</c:v>
              </c:pt>
              <c:pt idx="19">
                <c:v>24.28976512602703</c:v>
              </c:pt>
              <c:pt idx="20">
                <c:v>25.568173816870566</c:v>
              </c:pt>
              <c:pt idx="21">
                <c:v>26.846582507714093</c:v>
              </c:pt>
              <c:pt idx="22">
                <c:v>28.124991198557616</c:v>
              </c:pt>
              <c:pt idx="23">
                <c:v>29.403399889401143</c:v>
              </c:pt>
              <c:pt idx="24">
                <c:v>30.681808580244677</c:v>
              </c:pt>
              <c:pt idx="25">
                <c:v>31.960217271088204</c:v>
              </c:pt>
              <c:pt idx="26">
                <c:v>33.23862596193174</c:v>
              </c:pt>
              <c:pt idx="27">
                <c:v>34.517034652775266</c:v>
              </c:pt>
              <c:pt idx="28">
                <c:v>35.795443343618786</c:v>
              </c:pt>
              <c:pt idx="29">
                <c:v>37.07385203446232</c:v>
              </c:pt>
              <c:pt idx="30">
                <c:v>38.352260725305854</c:v>
              </c:pt>
            </c:numLit>
          </c:yVal>
        </c:ser>
        <c:ser>
          <c:idx val="2"/>
          <c:order val="2"/>
          <c:tx>
            <c:v>q₀ = (−0.7,0)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-1.464972719015002E-16</c:v>
              </c:pt>
              <c:pt idx="1">
                <c:v>-1.2784086908435282</c:v>
              </c:pt>
              <c:pt idx="2">
                <c:v>-2.5568173816870563</c:v>
              </c:pt>
              <c:pt idx="3">
                <c:v>-3.8352260725305847</c:v>
              </c:pt>
              <c:pt idx="4">
                <c:v>-5.113634763374113</c:v>
              </c:pt>
              <c:pt idx="5">
                <c:v>-6.392043454217643</c:v>
              </c:pt>
              <c:pt idx="6">
                <c:v>-7.670452145061168</c:v>
              </c:pt>
              <c:pt idx="7">
                <c:v>-8.948860835904698</c:v>
              </c:pt>
              <c:pt idx="8">
                <c:v>-10.227269526748225</c:v>
              </c:pt>
              <c:pt idx="9">
                <c:v>-11.505678217591752</c:v>
              </c:pt>
              <c:pt idx="10">
                <c:v>-12.784086908435283</c:v>
              </c:pt>
              <c:pt idx="11">
                <c:v>-14.062495599278808</c:v>
              </c:pt>
              <c:pt idx="12">
                <c:v>-15.340904290122339</c:v>
              </c:pt>
              <c:pt idx="13">
                <c:v>-16.61931298096587</c:v>
              </c:pt>
              <c:pt idx="14">
                <c:v>-17.897721671809396</c:v>
              </c:pt>
              <c:pt idx="15">
                <c:v>-19.176130362652927</c:v>
              </c:pt>
              <c:pt idx="16">
                <c:v>-20.45453905349645</c:v>
              </c:pt>
              <c:pt idx="17">
                <c:v>-21.732947744339977</c:v>
              </c:pt>
              <c:pt idx="18">
                <c:v>-23.01135643518351</c:v>
              </c:pt>
              <c:pt idx="19">
                <c:v>-24.28976512602704</c:v>
              </c:pt>
              <c:pt idx="20">
                <c:v>-25.568173816870566</c:v>
              </c:pt>
              <c:pt idx="21">
                <c:v>-26.846582507714096</c:v>
              </c:pt>
              <c:pt idx="22">
                <c:v>-28.124991198557616</c:v>
              </c:pt>
              <c:pt idx="23">
                <c:v>-29.403399889401147</c:v>
              </c:pt>
              <c:pt idx="24">
                <c:v>-30.681808580244677</c:v>
              </c:pt>
              <c:pt idx="25">
                <c:v>-31.960217271088204</c:v>
              </c:pt>
              <c:pt idx="26">
                <c:v>-33.23862596193174</c:v>
              </c:pt>
              <c:pt idx="27">
                <c:v>-34.517034652775266</c:v>
              </c:pt>
              <c:pt idx="28">
                <c:v>-35.795443343618786</c:v>
              </c:pt>
              <c:pt idx="29">
                <c:v>-37.07385203446232</c:v>
              </c:pt>
              <c:pt idx="30">
                <c:v>-38.352260725305854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40"/>
        <c:majorUnit val="2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 RMS 宽度随时间变化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(0,0)，σₓ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4.1878799261897175</c:v>
              </c:pt>
              <c:pt idx="6">
                <c:v>4.2679277310778385</c:v>
              </c:pt>
              <c:pt idx="7">
                <c:v>4.360635621250448</c:v>
              </c:pt>
              <c:pt idx="8">
                <c:v>4.465215110946835</c:v>
              </c:pt>
              <c:pt idx="9">
                <c:v>4.5808531972583735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5.138011945003214</c:v>
              </c:pt>
              <c:pt idx="14">
                <c:v>5.297223054136302</c:v>
              </c:pt>
              <c:pt idx="15">
                <c:v>5.463061823340935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6.18171535320736</c:v>
              </c:pt>
              <c:pt idx="20">
                <c:v>6.372865322515827</c:v>
              </c:pt>
              <c:pt idx="21">
                <c:v>6.567822104157858</c:v>
              </c:pt>
              <c:pt idx="22">
                <c:v>6.766256648021781</c:v>
              </c:pt>
              <c:pt idx="23">
                <c:v>6.967871836079364</c:v>
              </c:pt>
              <c:pt idx="24">
                <c:v>7.172399450898678</c:v>
              </c:pt>
              <c:pt idx="25">
                <c:v>7.37959734027338</c:v>
              </c:pt>
              <c:pt idx="26">
                <c:v>7.589246799780783</c:v>
              </c:pt>
              <c:pt idx="27">
                <c:v>7.801150180165127</c:v>
              </c:pt>
              <c:pt idx="28">
                <c:v>8.015128716439465</c:v>
              </c:pt>
              <c:pt idx="29">
                <c:v>8.231020569211895</c:v>
              </c:pt>
              <c:pt idx="30">
                <c:v>8.448679064953334</c:v>
              </c:pt>
            </c:numLit>
          </c:yVal>
        </c:ser>
        <c:ser>
          <c:idx val="1"/>
          <c:order val="1"/>
          <c:tx>
            <c:v>q₀ = (0.7,0)，σₓ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4.004521895537584</c:v>
              </c:pt>
              <c:pt idx="2">
                <c:v>4.0180570487935725</c:v>
              </c:pt>
              <c:pt idx="3">
                <c:v>4.040514881368383</c:v>
              </c:pt>
              <c:pt idx="4">
                <c:v>4.071747756116391</c:v>
              </c:pt>
              <c:pt idx="5">
                <c:v>4.111555702650546</c:v>
              </c:pt>
              <c:pt idx="6">
                <c:v>4.159692539868474</c:v>
              </c:pt>
              <c:pt idx="7">
                <c:v>4.215872979604167</c:v>
              </c:pt>
              <c:pt idx="8">
                <c:v>4.2797802697983744</c:v>
              </c:pt>
              <c:pt idx="9">
                <c:v>4.351073954673057</c:v>
              </c:pt>
              <c:pt idx="10">
                <c:v>4.429397383842737</c:v>
              </c:pt>
              <c:pt idx="11">
                <c:v>4.514384679292558</c:v>
              </c:pt>
              <c:pt idx="12">
                <c:v>4.605666955496211</c:v>
              </c:pt>
              <c:pt idx="13">
                <c:v>4.702877672335097</c:v>
              </c:pt>
              <c:pt idx="14">
                <c:v>4.80565707480528</c:v>
              </c:pt>
              <c:pt idx="15">
                <c:v>4.913655733156728</c:v>
              </c:pt>
              <c:pt idx="16">
                <c:v>5.026537240588372</c:v>
              </c:pt>
              <c:pt idx="17">
                <c:v>5.143980153707771</c:v>
              </c:pt>
              <c:pt idx="18">
                <c:v>5.26567927585197</c:v>
              </c:pt>
              <c:pt idx="19">
                <c:v>5.391346387889976</c:v>
              </c:pt>
              <c:pt idx="20">
                <c:v>5.5207105281812705</c:v>
              </c:pt>
              <c:pt idx="21">
                <c:v>5.6535179155467965</c:v>
              </c:pt>
              <c:pt idx="22">
                <c:v>5.7895315985427995</c:v>
              </c:pt>
              <c:pt idx="23">
                <c:v>5.92853090262017</c:v>
              </c:pt>
              <c:pt idx="24">
                <c:v>6.070310735028232</c:v>
              </c:pt>
              <c:pt idx="25">
                <c:v>6.2146807963044655</c:v>
              </c:pt>
              <c:pt idx="26">
                <c:v>6.361464737290608</c:v>
              </c:pt>
              <c:pt idx="27">
                <c:v>6.510499292013485</c:v>
              </c:pt>
              <c:pt idx="28">
                <c:v>6.661633409495314</c:v>
              </c:pt>
              <c:pt idx="29">
                <c:v>6.814727401545869</c:v>
              </c:pt>
              <c:pt idx="30">
                <c:v>6.969652118716968</c:v>
              </c:pt>
            </c:numLit>
          </c:yVal>
        </c:ser>
        <c:ser>
          <c:idx val="2"/>
          <c:order val="2"/>
          <c:tx>
            <c:v>q₀ = (0.7,0)，σᵧ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4.187879926189718</c:v>
              </c:pt>
              <c:pt idx="6">
                <c:v>4.267927731077839</c:v>
              </c:pt>
              <c:pt idx="7">
                <c:v>4.360635621250449</c:v>
              </c:pt>
              <c:pt idx="8">
                <c:v>4.465215110946835</c:v>
              </c:pt>
              <c:pt idx="9">
                <c:v>4.580853197258374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5.138011945003215</c:v>
              </c:pt>
              <c:pt idx="14">
                <c:v>5.297223054136302</c:v>
              </c:pt>
              <c:pt idx="15">
                <c:v>5.463061823340934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6.181715353207359</c:v>
              </c:pt>
              <c:pt idx="20">
                <c:v>6.372865322515828</c:v>
              </c:pt>
              <c:pt idx="21">
                <c:v>6.567822104157857</c:v>
              </c:pt>
              <c:pt idx="22">
                <c:v>6.766256648021781</c:v>
              </c:pt>
              <c:pt idx="23">
                <c:v>6.967871836079363</c:v>
              </c:pt>
              <c:pt idx="24">
                <c:v>7.172399450898678</c:v>
              </c:pt>
              <c:pt idx="25">
                <c:v>7.3795973402733805</c:v>
              </c:pt>
              <c:pt idx="26">
                <c:v>7.589246799780783</c:v>
              </c:pt>
              <c:pt idx="27">
                <c:v>7.801150180165125</c:v>
              </c:pt>
              <c:pt idx="28">
                <c:v>8.015128716439465</c:v>
              </c:pt>
              <c:pt idx="29">
                <c:v>8.231020569211896</c:v>
              </c:pt>
              <c:pt idx="30">
                <c:v>8.448679064953332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RMS 宽度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3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 = 6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 = 10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 / 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相同初始宽度的传播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相对平移初态的复态重合度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6D4B0-710D-4F34-88C0-5125D71F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9D201-AF6F-41F4-84EE-29AFFD4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2A030-8BC3-41A2-9BD3-6E7F75E2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理论来源：单磁子推导 PDF　模拟：均匀最近邻交换模型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5F3F3-40CA-40AB-A94A-5EAA726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1B037-4C46-43D2-A77D-E10E64E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库仑交换与线性波包动力学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2C81B-AA4D-4A59-A7FC-9667DE0C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03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基本物理图像与数值模拟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8BFE0-7202-4A5D-894A-2D5CE44A6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8c4c4fb334d88"/>
          <a:stretch xmlns:a="http://schemas.openxmlformats.org/drawingml/2006/main"/>
        </p:blipFill>
        <p:spPr>
          <a:xfrm xmlns:a="http://schemas.openxmlformats.org/drawingml/2006/main">
            <a:off x="6619875" y="1756416"/>
            <a:ext cx="5238750" cy="293559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2A099-3C5B-4332-9CAD-0176A7963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f10afb9f14ea4"/>
          <a:stretch xmlns:a="http://schemas.openxmlformats.org/drawingml/2006/main"/>
        </p:blipFill>
        <p:spPr>
          <a:xfrm xmlns:a="http://schemas.openxmlformats.org/drawingml/2006/main">
            <a:off x="552450" y="4050148"/>
            <a:ext cx="5829300" cy="5674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1CCA6-37C6-49D5-8E6C-5A599600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由微观交换确定传播算符，再用局域激发与波包解释它的动力学。</a:t>
            </a:r>
          </a:p>
        </p:txBody>
      </p:sp>
    </p:spTree>
    <p:extLst>
      <p:ext uri="{BB962C8B-B14F-4D97-AF65-F5344CB8AC3E}">
        <p14:creationId xmlns:p14="http://schemas.microsoft.com/office/powerpoint/2010/main" val="1418801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1020C-347D-49E8-ABD2-81644041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研究对象与报告问题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578C9-5E7C-4D47-B36E-C67885F0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9C27A-31AF-4B13-B315-BA2C8AFE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3–5 页　动画 B14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A8E6B-5ED8-4C72-8FFF-53921046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054A1-3CD6-431F-BEC1-51B8E74E9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f569003254859"/>
          <a:stretch xmlns:a="http://schemas.openxmlformats.org/drawingml/2006/main"/>
        </p:blipFill>
        <p:spPr>
          <a:xfrm xmlns:a="http://schemas.openxmlformats.org/drawingml/2006/main">
            <a:off x="640556" y="1257300"/>
            <a:ext cx="6243638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8A2FF-6105-43F5-AC51-3B48972B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B4776-2CD5-453B-B688-0D181D83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二维正方晶格，每格点自旋 1/2。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最近邻交换 Jₓ、Jᵧ，零外场。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1E1B4-8462-47FE-BC62-B98EB4C7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需要回答的问题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F4C70-B2B1-4731-AE54-1941E1FC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局域翻转怎样向外传播？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载波怎样决定传播方向？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有限宽度波包为什么会展宽？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44356-481B-423F-8D56-68E9B32C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F062D-05B6-44A4-8F49-D463C3B8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本报告把原理推导与可观测的概率分布逐一对应。</a:t>
            </a:r>
          </a:p>
        </p:txBody>
      </p:sp>
    </p:spTree>
    <p:extLst>
      <p:ext uri="{BB962C8B-B14F-4D97-AF65-F5344CB8AC3E}">
        <p14:creationId xmlns:p14="http://schemas.microsoft.com/office/powerpoint/2010/main" val="1774448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DA91C-A2DA-41B9-B74F-35D365EF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两电子的直接积分与交换积分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5D1C1-4DF0-4A25-BFF1-EAD86F61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A81AF-E424-41B6-8D72-E74F45F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1–2 页，式 (1)–(9)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1E524-2643-4C55-859D-25B7CA6C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B7816-1F79-495B-98E3-C31112971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00e5d3a014037"/>
          <a:stretch xmlns:a="http://schemas.openxmlformats.org/drawingml/2006/main"/>
        </p:blipFill>
        <p:spPr>
          <a:xfrm xmlns:a="http://schemas.openxmlformats.org/drawingml/2006/main">
            <a:off x="581025" y="1566568"/>
            <a:ext cx="7524750" cy="17722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716AE-E01A-4DDD-9BA8-4576923B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固定占据的出发点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6961D-9FB8-42E1-AE01-20E71DEF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轨道 a、b 正交归一，各有一个电子。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库仑核作用在两电子坐标上。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8A6E2-36D0-48DE-A50C-085464C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两种矩阵元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10005-89B9-4765-8CAF-7705E5AE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对应保持轨道配对的直接项。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K 对应交换轨道配对的交换项。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E84AE-F004-4300-8FF2-6AF327438EEB}"/>
              </a:ext>
            </a:extLst>
          </p:cNvPr>
          <p:cNvGraphicFramePr/>
          <p:nvPr/>
        </p:nvGraphicFramePr>
        <p:xfrm>
          <a:off xmlns:a="http://schemas.openxmlformats.org/drawingml/2006/main" x="581025" y="3743325"/>
          <a:ext xmlns:a="http://schemas.openxmlformats.org/drawingml/2006/main" cx="7477125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143250"/>
                <a:gridCol w="3381375"/>
              </a:tblGrid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依赖的空间结构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在自旋模型中的作用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两轨道的密度分布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贡献共同能量常数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两轨道的交叉乘积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决定自旋交换耦合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7092F-479F-45D2-B538-06220D20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CFCA3-308D-4B9B-94F6-7A9B52D6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在固定轨道模型中，交换积分把电子的空间结构带入自旋动力学。</a:t>
            </a:r>
          </a:p>
        </p:txBody>
      </p:sp>
    </p:spTree>
    <p:extLst>
      <p:ext uri="{BB962C8B-B14F-4D97-AF65-F5344CB8AC3E}">
        <p14:creationId xmlns:p14="http://schemas.microsoft.com/office/powerpoint/2010/main" val="179172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31C5A-E69C-4FD5-88ED-FA38663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库仑矩阵与单重态、三重态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B0151-217A-4F13-92CE-53FBF83C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F0BF7-D73F-43AB-AC6B-F421F33B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 页，式 (10)–(14)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E6962-615C-4230-9F45-7621CD32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23871-7B37-4459-873E-3536318B5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73e5445544700"/>
          <a:stretch xmlns:a="http://schemas.openxmlformats.org/drawingml/2006/main"/>
        </p:blipFill>
        <p:spPr>
          <a:xfrm xmlns:a="http://schemas.openxmlformats.org/drawingml/2006/main">
            <a:off x="548717" y="1476375"/>
            <a:ext cx="5465291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EF188-27DD-4F8B-B40D-E12910FFC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f3dbea99d45ed"/>
          <a:stretch xmlns:a="http://schemas.openxmlformats.org/drawingml/2006/main"/>
        </p:blipFill>
        <p:spPr>
          <a:xfrm xmlns:a="http://schemas.openxmlformats.org/drawingml/2006/main">
            <a:off x="1295995" y="3838575"/>
            <a:ext cx="3942159" cy="1638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20C319C-AB2F-4A79-9E35-C96F5177BA1D}"/>
              </a:ext>
            </a:extLst>
          </p:cNvPr>
          <p:cNvGraphicFramePr/>
          <p:nvPr/>
        </p:nvGraphicFramePr>
        <p:xfrm>
          <a:off xmlns:a="http://schemas.openxmlformats.org/drawingml/2006/main" x="6334125" y="14097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8abbe99d0b45e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4942D-83E2-4824-BB87-0F1A2F95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时，三重态能量更低。</a:t>
            </a:r>
          </a:p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能级间隔为 2K。</a:t>
            </a:r>
          </a:p>
        </p:txBody>
      </p:sp>
    </p:spTree>
    <p:extLst>
      <p:ext uri="{BB962C8B-B14F-4D97-AF65-F5344CB8AC3E}">
        <p14:creationId xmlns:p14="http://schemas.microsoft.com/office/powerpoint/2010/main" val="713716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9E092-8E1C-41A8-A734-A3793009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矩阵匹配给出 Heisenberg 交换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28CFE-F3CF-4761-AE32-37588E5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069A4-95D4-4DAA-9C01-69A651C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(17)–(21)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BDBDF-815A-4E66-ABEF-2138C8C6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CC9FF-F748-4498-9F16-9A6A21D62A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782557bef4f7e"/>
          <a:stretch xmlns:a="http://schemas.openxmlformats.org/drawingml/2006/main"/>
        </p:blipFill>
        <p:spPr>
          <a:xfrm xmlns:a="http://schemas.openxmlformats.org/drawingml/2006/main">
            <a:off x="1547325" y="1438275"/>
            <a:ext cx="3858599" cy="22193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1B23E-92B1-4193-BC70-F8E9DA083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d5a10be8840d6"/>
          <a:stretch xmlns:a="http://schemas.openxmlformats.org/drawingml/2006/main"/>
        </p:blipFill>
        <p:spPr>
          <a:xfrm xmlns:a="http://schemas.openxmlformats.org/drawingml/2006/main">
            <a:off x="1306727" y="4171950"/>
            <a:ext cx="4587446" cy="102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CF1B-4B5B-4CB9-822B-43DB0025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−J / 2 = −K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E7DD8-BC1C-42B1-92F5-F3B8A51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32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E12B6-A778-4374-AADE-0CCF004E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共同的能量常数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B9CE4-1D49-4CF9-98A7-3A31A6AE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− K/2 不改变自旋态之间的能量差。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对所有最近邻键求和得到晶格模型。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A02EC-4ABF-4D1B-8925-73F1CA33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7A0B7-C74E-4142-9B23-5A267A6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自旋点积形式与两电子矩阵等价，交换系数由矩阵元确定。</a:t>
            </a:r>
          </a:p>
        </p:txBody>
      </p:sp>
    </p:spTree>
    <p:extLst>
      <p:ext uri="{BB962C8B-B14F-4D97-AF65-F5344CB8AC3E}">
        <p14:creationId xmlns:p14="http://schemas.microsoft.com/office/powerpoint/2010/main" val="2085466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99701-AE72-419F-9583-7506FF06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二维交换模型与全极化基态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FA5F4-11F3-4C99-9B36-D71F424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4B8F0-7270-4B3E-BA88-7B69F5D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(22)–(25)　图 A01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BA5D1-B8E5-474C-B09F-7ADB6599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7B48C-A4F4-4044-B48A-1E381F067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be69dd11c4a72"/>
          <a:stretch xmlns:a="http://schemas.openxmlformats.org/drawingml/2006/main"/>
        </p:blipFill>
        <p:spPr>
          <a:xfrm xmlns:a="http://schemas.openxmlformats.org/drawingml/2006/main">
            <a:off x="361950" y="1477089"/>
            <a:ext cx="6905625" cy="375142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C20AD-81A1-4C0F-9972-80E3E725F5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ba28312c54715"/>
          <a:stretch xmlns:a="http://schemas.openxmlformats.org/drawingml/2006/main"/>
        </p:blipFill>
        <p:spPr>
          <a:xfrm xmlns:a="http://schemas.openxmlformats.org/drawingml/2006/main">
            <a:off x="7429500" y="1736624"/>
            <a:ext cx="4191000" cy="58440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10A0-3ECB-4D8B-82FE-104F8EB11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85fbe353945ba"/>
          <a:stretch xmlns:a="http://schemas.openxmlformats.org/drawingml/2006/main"/>
        </p:blipFill>
        <p:spPr>
          <a:xfrm xmlns:a="http://schemas.openxmlformats.org/drawingml/2006/main">
            <a:off x="8250051" y="3000375"/>
            <a:ext cx="2635624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4DBD5-3E49-43D3-820F-B4C3491D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38957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每条键只计一次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Jₓ、Jᵧ &gt; 0，零外场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背景自旋沿 +x 极化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AA26B-43D0-4DDB-8A81-AB10ED3F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DA7CE-2DA1-4388-A4A7-446C982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Jₓ ≠ Jᵧ 改变空间方向的耦合强度，单磁子仍在同一条能带上运动。</a:t>
            </a:r>
          </a:p>
        </p:txBody>
      </p:sp>
    </p:spTree>
    <p:extLst>
      <p:ext uri="{BB962C8B-B14F-4D97-AF65-F5344CB8AC3E}">
        <p14:creationId xmlns:p14="http://schemas.microsoft.com/office/powerpoint/2010/main" val="405541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4D430-7096-4A24-BDC5-CD2AC00B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单翻转子空间中的精确动力学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6F869-FCC8-4584-ABE0-248F448E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9C8AE-AC08-4C5D-889F-467284F1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 页，式 (26)–(31)　图 B01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729DD-4BE7-4EB5-A8EF-EA8A153E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AF953-B9C2-40DC-90FF-83EED9C967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06bb482614659"/>
          <a:stretch xmlns:a="http://schemas.openxmlformats.org/drawingml/2006/main"/>
        </p:blipFill>
        <p:spPr>
          <a:xfrm xmlns:a="http://schemas.openxmlformats.org/drawingml/2006/main">
            <a:off x="3139490" y="1362075"/>
            <a:ext cx="5303420" cy="676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F60D9-44CC-4D0B-B02B-D133DDA00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8ec4e446d4a93"/>
          <a:stretch xmlns:a="http://schemas.openxmlformats.org/drawingml/2006/main"/>
        </p:blipFill>
        <p:spPr>
          <a:xfrm xmlns:a="http://schemas.openxmlformats.org/drawingml/2006/main">
            <a:off x="514350" y="2633214"/>
            <a:ext cx="5810250" cy="11724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4080A-4839-4236-ACAD-513BF8C1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H 作用后仍是单翻转基矢的叠加。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0BB3B-4877-47ED-B0A2-073E8C2C6F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6a636b56f466c"/>
          <a:stretch xmlns:a="http://schemas.openxmlformats.org/drawingml/2006/main"/>
        </p:blipFill>
        <p:spPr>
          <a:xfrm xmlns:a="http://schemas.openxmlformats.org/drawingml/2006/main">
            <a:off x="514350" y="4441540"/>
            <a:ext cx="5810250" cy="718121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75638-DE26-4C90-80D0-55CE9946E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d7b43a6c4fc3"/>
          <a:stretch xmlns:a="http://schemas.openxmlformats.org/drawingml/2006/main"/>
        </p:blipFill>
        <p:spPr>
          <a:xfrm xmlns:a="http://schemas.openxmlformats.org/drawingml/2006/main">
            <a:off x="7572211" y="2266950"/>
            <a:ext cx="3429328" cy="3286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D1CF1-E21B-43E5-A48D-7D8765B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5A265-50F4-4CF2-B357-8CDE9378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Pᵢ = |cᵢ|²，ΣPᵢ = 1。沿极化轴的局域自旋满足 〈Sᵢˣ〉 = 1/2 − Pᵢ。</a:t>
            </a:r>
          </a:p>
        </p:txBody>
      </p:sp>
    </p:spTree>
    <p:extLst>
      <p:ext uri="{BB962C8B-B14F-4D97-AF65-F5344CB8AC3E}">
        <p14:creationId xmlns:p14="http://schemas.microsoft.com/office/powerpoint/2010/main" val="1180284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E86CA-1EF2-43AC-AB4A-B971E74F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交换耦合把翻转振幅传给相邻格点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B3C40-9D7C-4900-A1F9-1070854A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0455A-B6D5-429F-A6DD-F799EF99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(28)、(34)、(35)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8F60B-7545-4B96-8CD4-D536F82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FEE19-04BF-4E34-9A7A-9D15AFCDC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9d08d833b4b8b"/>
          <a:stretch xmlns:a="http://schemas.openxmlformats.org/drawingml/2006/main"/>
        </p:blipFill>
        <p:spPr>
          <a:xfrm xmlns:a="http://schemas.openxmlformats.org/drawingml/2006/main">
            <a:off x="2071688" y="1333500"/>
            <a:ext cx="4000500" cy="857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C2472-4489-4978-8967-F1D94F1D34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09e53424f466e"/>
          <a:stretch xmlns:a="http://schemas.openxmlformats.org/drawingml/2006/main"/>
        </p:blipFill>
        <p:spPr>
          <a:xfrm xmlns:a="http://schemas.openxmlformats.org/drawingml/2006/main">
            <a:off x="2437861" y="2686050"/>
            <a:ext cx="7316278" cy="16859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57AC2-3CD1-4704-91D8-2C503DA7E6BD}"/>
              </a:ext>
            </a:extLst>
          </p:cNvPr>
          <p:cNvGraphicFramePr/>
          <p:nvPr/>
        </p:nvGraphicFramePr>
        <p:xfrm>
          <a:off xmlns:a="http://schemas.openxmlformats.org/drawingml/2006/main" x="619125" y="4638675"/>
          <a:ext xmlns:a="http://schemas.openxmlformats.org/drawingml/2006/main" cx="10906125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143250"/>
                <a:gridCol w="5619750"/>
              </a:tblGrid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基态能量 + Jₓ + Jᵧ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共同相位与交换对角能量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−Jₓ/2、−Jᵧ/2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36301-676C-4761-A3F6-0412DCC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573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单条交换键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15CAD-8486-4552-A5EF-FF9009C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847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保留原位置，也产生相邻位置的振幅。</a:t>
            </a:r>
          </a:p>
        </p:txBody>
      </p:sp>
    </p:spTree>
    <p:extLst>
      <p:ext uri="{BB962C8B-B14F-4D97-AF65-F5344CB8AC3E}">
        <p14:creationId xmlns:p14="http://schemas.microsoft.com/office/powerpoint/2010/main" val="1661172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801D-9326-4D49-B404-28BD5356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平面波代入运动方程得到色散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74C72-F313-45EE-AE22-6607352F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A75A6-CDA6-416E-8CFD-2113AD33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(36)–(39)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E1994-DE7D-4339-8D1A-C6D27CFB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2F14C-15B9-4C97-80A1-55C7148E37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8a47def1b439a"/>
          <a:stretch xmlns:a="http://schemas.openxmlformats.org/drawingml/2006/main"/>
        </p:blipFill>
        <p:spPr>
          <a:xfrm xmlns:a="http://schemas.openxmlformats.org/drawingml/2006/main">
            <a:off x="1335881" y="1352550"/>
            <a:ext cx="4767263" cy="866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5427B-53A5-44D1-A2C3-A25293C3F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89684fa3747f3"/>
          <a:stretch xmlns:a="http://schemas.openxmlformats.org/drawingml/2006/main"/>
        </p:blipFill>
        <p:spPr>
          <a:xfrm xmlns:a="http://schemas.openxmlformats.org/drawingml/2006/main">
            <a:off x="1562514" y="2628900"/>
            <a:ext cx="9009822" cy="800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90427-90AD-4DF6-9D3F-1022F71E9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4feb85cf64097"/>
          <a:stretch xmlns:a="http://schemas.openxmlformats.org/drawingml/2006/main"/>
        </p:blipFill>
        <p:spPr>
          <a:xfrm xmlns:a="http://schemas.openxmlformats.org/drawingml/2006/main">
            <a:off x="2151970" y="3819525"/>
            <a:ext cx="7678511" cy="12668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2222E-68DA-4AAD-9E39-BA76B3D2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1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平移本征模式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D9890-20CE-4B4B-9B89-3C0CF80A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85950"/>
            <a:ext cx="3505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相邻格点的振幅大小相同，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空间移动只改变相位。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3B8BF-9DB8-467A-BCBB-A762D60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96C16-5B02-4D04-A74E-E6DB3329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余弦项来自正、反两个最近邻方向的相位之和。</a:t>
            </a:r>
          </a:p>
        </p:txBody>
      </p:sp>
    </p:spTree>
    <p:extLst>
      <p:ext uri="{BB962C8B-B14F-4D97-AF65-F5344CB8AC3E}">
        <p14:creationId xmlns:p14="http://schemas.microsoft.com/office/powerpoint/2010/main" val="2130647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B12FA-5AB1-4DA5-ADBA-E20B446C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色散曲面与方向带宽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30671-7572-45E2-BB0E-0318CEB8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7E635-4802-4FCB-A6D3-D3B3ED60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式 (39)　模拟 A02、A03 轴向截面数据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9F928-E1DC-4223-8D3D-DE18F16A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4F4D5-AC55-46CC-9F2D-2D4FDCA32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eef621c364e50"/>
          <a:stretch xmlns:a="http://schemas.openxmlformats.org/drawingml/2006/main"/>
        </p:blipFill>
        <p:spPr>
          <a:xfrm xmlns:a="http://schemas.openxmlformats.org/drawingml/2006/main">
            <a:off x="381000" y="1580117"/>
            <a:ext cx="5715000" cy="320246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F947F85-EE01-4109-A180-DA791E64165E}"/>
              </a:ext>
            </a:extLst>
          </p:cNvPr>
          <p:cNvGraphicFramePr/>
          <p:nvPr/>
        </p:nvGraphicFramePr>
        <p:xfrm>
          <a:off xmlns:a="http://schemas.openxmlformats.org/drawingml/2006/main" x="6238875" y="1381125"/>
          <a:ext xmlns:a="http://schemas.openxmlformats.org/drawingml/2006/main" cx="539115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cf332d9cbc4e2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4500B-6C22-40AF-91F3-B5D2AC1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η = 1：能带宽度 4Jₓ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89C7D-2867-4A00-A0CE-B33057D8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 Jₓ，减小 η 会降低 y 方向带宽。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32E17-7E0C-4F71-986F-1CBCE710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AA2F4-DFCB-405E-B3C3-409A3671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正方晶格在大波矢处保留晶格对称性，长波区域才近似抛物面。</a:t>
            </a:r>
          </a:p>
        </p:txBody>
      </p:sp>
    </p:spTree>
    <p:extLst>
      <p:ext uri="{BB962C8B-B14F-4D97-AF65-F5344CB8AC3E}">
        <p14:creationId xmlns:p14="http://schemas.microsoft.com/office/powerpoint/2010/main" val="1600705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033DC-6929-41EA-8B9A-8C98D148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等频线与能量传播方向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D638F-F7B8-4010-BBB6-9950236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09E05-7C41-4399-9BC1-F6470979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A05、A06，η = 1 与 0.35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446C3-7B2C-433A-B19F-D09DA550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C5929-2BDC-4A4D-8B4F-2618BAABC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f8a7646fb40b7"/>
          <a:stretch xmlns:a="http://schemas.openxmlformats.org/drawingml/2006/main"/>
        </p:blipFill>
        <p:spPr>
          <a:xfrm xmlns:a="http://schemas.openxmlformats.org/drawingml/2006/main">
            <a:off x="2589883" y="1190625"/>
            <a:ext cx="7012235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D23BA-D2E3-4E3C-9A34-B0ADF964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同一条等频线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658FF-B5C7-4DB0-872B-CE0A5E1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线上各模式的频率相同。群速度指向色散曲面的梯度方向。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F6805-5483-4D05-AF84-31C1C33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空间各向异性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EC938-A30E-453F-A9F9-B1520FB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减小 Jᵧ 后，群速度的 y 分量减小。波矢方向与传播方向一般需要分别判断。</a:t>
            </a:r>
          </a:p>
        </p:txBody>
      </p:sp>
    </p:spTree>
    <p:extLst>
      <p:ext uri="{BB962C8B-B14F-4D97-AF65-F5344CB8AC3E}">
        <p14:creationId xmlns:p14="http://schemas.microsoft.com/office/powerpoint/2010/main" val="1861640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45523-31BE-4F24-9EA2-1E66B3CA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群速度由色散斜率决定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D4697-E3FC-4B1C-9C20-DBC7540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49152-B1DA-4F65-BB88-842215D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A07　ω = ε / 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322DF-395C-468D-B697-D58A0E8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5C1A7-488A-4C2A-B856-7C60CCFF66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763779feb4626"/>
          <a:stretch xmlns:a="http://schemas.openxmlformats.org/drawingml/2006/main"/>
        </p:blipFill>
        <p:spPr>
          <a:xfrm xmlns:a="http://schemas.openxmlformats.org/drawingml/2006/main">
            <a:off x="2652337" y="1190625"/>
            <a:ext cx="688732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B50F3-1C64-4FFD-866A-B61FC2A5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群速度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BF90C-B08F-468E-BB98-D835D800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v = (1/ℏ)∇ₖε。沿 x 方向，vₓ = (Jₓa/ℏ) sin qₓ。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916D0-2C27-4D16-A467-BB04C2BA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方向与速度上限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81124-8648-485B-A9F4-7DF02B4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近原点，qₓ 的符号决定方向。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最大 |vₓ| 对应 qₓ = ±π/2。</a:t>
            </a:r>
          </a:p>
        </p:txBody>
      </p:sp>
    </p:spTree>
    <p:extLst>
      <p:ext uri="{BB962C8B-B14F-4D97-AF65-F5344CB8AC3E}">
        <p14:creationId xmlns:p14="http://schemas.microsoft.com/office/powerpoint/2010/main" val="14001898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12D67-89F4-4879-9DA8-F79D3A07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原理公式与传播模拟的对应关系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B2DAC-A208-4E56-AA4F-D3A5A0B2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0CDF7-D3BA-4E83-B627-DBE354A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　模拟 common.py 与 THEORY.md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1684B-0DA2-4236-9312-1FE56DD1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544AF-0502-4FE2-93C5-3AD24102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 = exp(i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155D5-4887-4550-A31E-B27EB172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95400"/>
            <a:ext cx="28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E17F9-46BC-44A8-BFC8-17EA47B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382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5DACC-1FD1-47F0-AD6E-C2F01C48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954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t/ℏ)c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5DE77-DA4F-4EFA-9AD6-5E5829A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95400"/>
            <a:ext cx="595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|ψ|² = |c|²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F375D-D873-4C29-9D8D-E960D9A3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n = r/a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5525B-5F57-4DCC-A841-3223234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9775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BB9F8-95F1-4E18-824A-A694C660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97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τ = Jₓt/ℏ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0C44F-ED9C-4C74-AFD2-4A42F5CC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η = Jᵧ/Jₓ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F8E98-46D3-4622-B072-62F9729C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ℏv/(Jₓa)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5D1F6-5FD9-40B8-B138-410BF3F6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e(q) = ε/Jₓ = 1 − cos qₓ + η(1 − cos qᵧ)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BF1A2-CB8B-48F0-93B3-FAD2469B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A(q,τ) = A(q,0) exp[−i e(q)τ]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C9A4B-E22E-4860-B754-9250EA984E35}"/>
              </a:ext>
            </a:extLst>
          </p:cNvPr>
          <p:cNvGraphicFramePr/>
          <p:nvPr/>
        </p:nvGraphicFramePr>
        <p:xfrm>
          <a:off xmlns:a="http://schemas.openxmlformats.org/drawingml/2006/main" x="600075" y="4229100"/>
          <a:ext xmlns:a="http://schemas.openxmlformats.org/drawingml/2006/main" cx="11001375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52875"/>
                <a:gridCol w="3667125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波矢空间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初态 ψ(n,0)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 得到 A(q,0)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P(n,0) = |ψ(n,0)|²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FFT 得到 ψ(n,τ)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各模式独立积累时间相位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P(n,τ)、质心、RMS 宽度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F7854-F80F-479B-A9C7-D59FFFE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C5736-58AC-41E7-9B0B-E0F9B746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完整余弦色散直接决定时间演化，有限周期盒的影响另用扩大晶格对照检查。</a:t>
            </a:r>
          </a:p>
        </p:txBody>
      </p:sp>
    </p:spTree>
    <p:extLst>
      <p:ext uri="{BB962C8B-B14F-4D97-AF65-F5344CB8AC3E}">
        <p14:creationId xmlns:p14="http://schemas.microsoft.com/office/powerpoint/2010/main" val="9092411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DAE9C-170B-48F6-A28E-B9254DB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一个格点的局域翻转包含整个能带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1DEEC-A340-4B14-A605-C4B0F91B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02D9A-A38E-495D-88B6-9192EE32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B02　N = 256 表示 256 × 256 格点，Σ|A|²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D2756-FA44-435E-B97D-C88AD7DC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FA91-8654-4DF2-B6D4-6C3A304D7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40c16d8a74489"/>
          <a:stretch xmlns:a="http://schemas.openxmlformats.org/drawingml/2006/main"/>
        </p:blipFill>
        <p:spPr>
          <a:xfrm xmlns:a="http://schemas.openxmlformats.org/drawingml/2006/main">
            <a:off x="2523468" y="1190625"/>
            <a:ext cx="7145064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52ECC-7D5C-451B-9EF4-01488402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位置越局域，频谱越宽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68707-F892-4412-9FF2-86315A46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单点初态 ψₘₙ = δₘ₀δₙ₀。每个离散波矢的概率都为 1/N²。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337B1-3056-418A-ADB7-20B1C2B5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传播的直接后果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2AC15-E9DF-46E9-9FB9-053A49EC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许多方向和速度的分量同时参与演化，局域激发自然向周围展开。</a:t>
            </a:r>
          </a:p>
        </p:txBody>
      </p:sp>
    </p:spTree>
    <p:extLst>
      <p:ext uri="{BB962C8B-B14F-4D97-AF65-F5344CB8AC3E}">
        <p14:creationId xmlns:p14="http://schemas.microsoft.com/office/powerpoint/2010/main" val="169866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92D2B-EE4C-44A0-B06B-9B07AF51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局域激发的后期传播与干涉图样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5A68D-9735-4313-ADA4-C6510988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13E2E-35B8-4EB8-8AFA-99EB62C5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B04　η = 1，四个时刻使用共同对数色标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ED60C-1087-41AD-8BF9-7ED98B26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BB54E-3EC4-4FDE-A7B1-D4FE1373D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a106f83d0405c"/>
          <a:stretch xmlns:a="http://schemas.openxmlformats.org/drawingml/2006/main"/>
        </p:blipFill>
        <p:spPr>
          <a:xfrm xmlns:a="http://schemas.openxmlformats.org/drawingml/2006/main">
            <a:off x="419100" y="1289508"/>
            <a:ext cx="11353800" cy="32788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C5292-516C-4BC8-B01E-04F09CD6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由近邻传递到空间展开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79A7-EF38-4C77-B72A-2C046FBE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6、12、24、36 时，概率逐步向外展开，图中保留完整余弦能带的贡献。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1D2C1-65A4-45CD-9855-02FE8A8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晶格与相干干涉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E5B87-F0B2-4FAA-8152-BA451485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方格晶格留下四重对称图样。不同传播路径叠加形成条纹和旁瓣。</a:t>
            </a:r>
          </a:p>
        </p:txBody>
      </p:sp>
    </p:spTree>
    <p:extLst>
      <p:ext uri="{BB962C8B-B14F-4D97-AF65-F5344CB8AC3E}">
        <p14:creationId xmlns:p14="http://schemas.microsoft.com/office/powerpoint/2010/main" val="6748201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2D599-21EE-476F-AAF8-558D24DA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交换各向异性控制概率展开的方向尺度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FEC46-4B2B-41D5-AA13-73A7725D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9112A-DCCE-4FB4-82C8-689FEBCD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B05、B11、B16　Jₓ 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2EDE6-B6F4-473E-B2B6-AC853D2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F3D53-B596-4079-A711-B16BA07C4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0fcc5730743d5"/>
          <a:stretch xmlns:a="http://schemas.openxmlformats.org/drawingml/2006/main"/>
        </p:blipFill>
        <p:spPr>
          <a:xfrm xmlns:a="http://schemas.openxmlformats.org/drawingml/2006/main">
            <a:off x="400050" y="2116989"/>
            <a:ext cx="7639050" cy="24525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71B4A-1658-4FD8-A22C-5A87A65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382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相同初态，相同时间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7C8D4-B025-4077-B783-68DE5BE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24 时，x 方向 RMS 宽度均为 16.971a。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90FFA-8C07-4B5A-A8F7-147F2478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385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改变 η = Jᵧ/Jₓ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67734-7859-4B10-9450-6F4F0A4A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1：σᵧ = 16.971a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0.3：σᵧ = 5.091a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0：严格停留在原链。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3C58E-7953-4D68-BF93-B3A2BE71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67711-3EBB-45FF-9CCA-83B2FE6F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单点初态的 RMS 长宽比 σᵧ/σₓ = η，给出可直接检查的各向异性规律。</a:t>
            </a:r>
          </a:p>
        </p:txBody>
      </p:sp>
    </p:spTree>
    <p:extLst>
      <p:ext uri="{BB962C8B-B14F-4D97-AF65-F5344CB8AC3E}">
        <p14:creationId xmlns:p14="http://schemas.microsoft.com/office/powerpoint/2010/main" val="1895789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0199F-ADDB-4158-A6A3-3974CAF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传播前沿与均方根宽度描述不同尺度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6F854-AC44-42E8-B50C-1D8702F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E5BAE-859E-4B1B-BEAD-1326F1D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B07、B09　左图 η = 1，右图 η = 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5D054-25E2-4505-9E2D-DD3D2B4E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85B30-5A68-4985-9066-35CFC2086A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9b64e13c1422a"/>
          <a:stretch xmlns:a="http://schemas.openxmlformats.org/drawingml/2006/main"/>
        </p:blipFill>
        <p:spPr>
          <a:xfrm xmlns:a="http://schemas.openxmlformats.org/drawingml/2006/main">
            <a:off x="361950" y="1931352"/>
            <a:ext cx="6238875" cy="278574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93F034F-EB52-473B-BF74-52A9EA9A6A38}"/>
              </a:ext>
            </a:extLst>
          </p:cNvPr>
          <p:cNvGraphicFramePr/>
          <p:nvPr/>
        </p:nvGraphicFramePr>
        <p:xfrm>
          <a:off xmlns:a="http://schemas.openxmlformats.org/drawingml/2006/main" x="6781800" y="1390650"/>
          <a:ext xmlns:a="http://schemas.openxmlformats.org/drawingml/2006/main" cx="4914900" cy="370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8f9e7b297f47e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693AD-C56C-4A8A-B9A0-FA4571F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43123-C683-49F1-9F66-87F94061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721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等方情形：σₓ/a = σᵧ/a = 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6DDE-2844-421D-BE4D-5BBB141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B28AD-CD7A-4A57-86C7-41CA22CD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宽度与时间成正比，对应相干弹道展开。图示前沿之外仍存在小尾部。</a:t>
            </a:r>
          </a:p>
        </p:txBody>
      </p:sp>
    </p:spTree>
    <p:extLst>
      <p:ext uri="{BB962C8B-B14F-4D97-AF65-F5344CB8AC3E}">
        <p14:creationId xmlns:p14="http://schemas.microsoft.com/office/powerpoint/2010/main" val="3847192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DA4B4-EF03-4431-AB5F-EB6A2C9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局域返回概率的相干振荡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16A06-0166-4EFF-86BD-E6240418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BDDEB-E817-45D7-987A-A22DA482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B10　固定单磁子数态，η = 1 与 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D5664-3681-4C2C-A877-3A3021B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5F3BF-C6DC-4E0E-AAEA-11284B169E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fcda520174cec"/>
          <a:stretch xmlns:a="http://schemas.openxmlformats.org/drawingml/2006/main"/>
        </p:blipFill>
        <p:spPr>
          <a:xfrm xmlns:a="http://schemas.openxmlformats.org/drawingml/2006/main">
            <a:off x="2305028" y="1295400"/>
            <a:ext cx="7562894" cy="3590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0B3B0-CFA7-4504-815D-1EAA5E32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435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P₀₀ 随时间降低并出现振荡，ΣP 始终为 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2765F-FF8B-4EE4-9278-B5D87475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6DDE8-8F3F-47D5-91C1-F67F698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局部概率减少表示激发向外传播，当前模型没有引入阻尼或磁子损失。</a:t>
            </a:r>
          </a:p>
        </p:txBody>
      </p:sp>
    </p:spTree>
    <p:extLst>
      <p:ext uri="{BB962C8B-B14F-4D97-AF65-F5344CB8AC3E}">
        <p14:creationId xmlns:p14="http://schemas.microsoft.com/office/powerpoint/2010/main" val="6834935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37B21-908A-4A07-B8B5-C06D57C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翻转概率对应纵向自旋亏损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632B-A507-40AB-82DD-5D787F9E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6CEE3-A526-4DCA-BF1F-94D42134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B12　η = 1，τ = 8，背景沿 +x 极化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49896-2494-4F1F-A0DF-78175271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36830-6BD8-4BA9-BA47-C3FC0FBD84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46e99abe44b8b"/>
          <a:stretch xmlns:a="http://schemas.openxmlformats.org/drawingml/2006/main"/>
        </p:blipFill>
        <p:spPr>
          <a:xfrm xmlns:a="http://schemas.openxmlformats.org/drawingml/2006/main">
            <a:off x="2368150" y="1190625"/>
            <a:ext cx="7455699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8D429-81D6-47B3-B157-64CA8107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局域观测量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75254-B198-4248-90B2-98AC9FED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〈Sᵢˣ〉 = 1/2 − Pᵢ。图中概率峰对应自旋亏损，全部格点的亏损之和为 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D9F15-E067-49BC-8D25-16E72A04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量子态的解释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359FD-3570-4F4A-907A-9A24556E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固定单磁子数态满足 〈Sᵢʸ〉 = 〈Sᵢᶻ〉 = 0，概率振幅描述翻转位置的量子叠加。</a:t>
            </a:r>
          </a:p>
        </p:txBody>
      </p:sp>
    </p:spTree>
    <p:extLst>
      <p:ext uri="{BB962C8B-B14F-4D97-AF65-F5344CB8AC3E}">
        <p14:creationId xmlns:p14="http://schemas.microsoft.com/office/powerpoint/2010/main" val="10927564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B06E0-67A1-4AD4-A584-0FD142D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载波、包络与初始频谱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B8362-3B1F-4E8B-B590-6C1150D0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1A37D-EDDC-4899-86AA-8FA6A1A0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C01　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81571-66F6-4B13-B622-ECDBF9D6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245E8-05BA-410A-9A51-1EE60EA6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10934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ψ₀(n) ∝ exp[−(nₓ²+nᵧ²)/(4σ²)] exp(i q₀·n)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C5345-B377-41F5-84BC-38B914663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e80c9478b4f00"/>
          <a:stretch xmlns:a="http://schemas.openxmlformats.org/drawingml/2006/main"/>
        </p:blipFill>
        <p:spPr>
          <a:xfrm xmlns:a="http://schemas.openxmlformats.org/drawingml/2006/main">
            <a:off x="1762612" y="1905000"/>
            <a:ext cx="8647726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E2BFA-9CE9-483F-9DCB-51E187C5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σ 是初始概率 RMS 宽度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8D3C-3364-4711-A655-F8B90DC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乘上载波 exp(iq₀·n) 后，初始位置概率包络保持不变。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B364B-B8B6-4A69-8378-C70D9580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相位决定频谱位置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B4827-A4AF-402A-AACD-3024F6F6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载波把频谱中心移到 q₀，决定平均速度与传播方向。</a:t>
            </a:r>
          </a:p>
        </p:txBody>
      </p:sp>
    </p:spTree>
    <p:extLst>
      <p:ext uri="{BB962C8B-B14F-4D97-AF65-F5344CB8AC3E}">
        <p14:creationId xmlns:p14="http://schemas.microsoft.com/office/powerpoint/2010/main" val="528582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14DAF-506E-44F8-A45F-55379E29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载波选择静止、左行、右行与斜向传播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8DD74-A9E0-4CCA-A234-1C45C7E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FE557-154C-4AED-9BDC-11598D6F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C03、C05、C16　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69A26-B1E6-481E-9D7F-3AD279B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80467-863B-4232-A79C-D03CAC576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52b7c99584950"/>
          <a:stretch xmlns:a="http://schemas.openxmlformats.org/drawingml/2006/main"/>
        </p:blipFill>
        <p:spPr>
          <a:xfrm xmlns:a="http://schemas.openxmlformats.org/drawingml/2006/main">
            <a:off x="400050" y="1652696"/>
            <a:ext cx="11315700" cy="26763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46C9B-923A-40F6-ACBE-C0B65E6F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零中心波矢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31655-F59F-48FC-B981-086F089E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200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= (0,0) 的对称频谱给出零平均速度，但仍有向两侧运动的分量。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08D5E-33BD-4C74-92EE-0E8A9FE9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291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非零中心波矢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5459B-939F-4689-8F47-8FC86F1D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相位梯度改变频谱权重，让概率质心产生净位移。</a:t>
            </a:r>
          </a:p>
        </p:txBody>
      </p:sp>
    </p:spTree>
    <p:extLst>
      <p:ext uri="{BB962C8B-B14F-4D97-AF65-F5344CB8AC3E}">
        <p14:creationId xmlns:p14="http://schemas.microsoft.com/office/powerpoint/2010/main" val="13865856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00C82-4E4A-497A-8BB8-9BBB5F83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质心速度是整个频谱的加权平均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F1CFD-D6AD-4DE1-B272-79F06AF6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54581-BBDD-42EF-A773-A400D504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C06　σ = 4，η = 1，τ ≤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4DCD1-B104-4D97-B40C-C7F6D020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83FF1CB-982B-4F2F-86F5-BEB373175714}"/>
              </a:ext>
            </a:extLst>
          </p:cNvPr>
          <p:cNvGraphicFramePr/>
          <p:nvPr/>
        </p:nvGraphicFramePr>
        <p:xfrm>
          <a:off xmlns:a="http://schemas.openxmlformats.org/drawingml/2006/main" x="428625" y="1362075"/>
          <a:ext xmlns:a="http://schemas.openxmlformats.org/drawingml/2006/main" cx="76390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2304179bfd4ea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A9DC7-59EB-43D3-90CE-9F79F2F5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精确谱平均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59743-95A8-4413-9888-7F658207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Σ |A(q)|² sin qₓ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相同初态的谱权重保持不变。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0B2DF-2C91-4D86-9BA7-1CCA6041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有限频宽的差别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9CEA1-B4E2-42DB-A3F3-55975FDF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0.639204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sin(0.7) = 0.644218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60：〈x〉 = 38.3523a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2B829-A76C-4045-B127-19804366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F0D58-BEEA-4770-9EDC-50DEB461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中心波矢处群速度适用于窄带近似，实际质心轨迹由谱平均给出。</a:t>
            </a:r>
          </a:p>
        </p:txBody>
      </p:sp>
    </p:spTree>
    <p:extLst>
      <p:ext uri="{BB962C8B-B14F-4D97-AF65-F5344CB8AC3E}">
        <p14:creationId xmlns:p14="http://schemas.microsoft.com/office/powerpoint/2010/main" val="11359237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6D728-DD21-4192-BC45-F2CAD87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共动坐标把展宽从整体移动中分离出来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E65F2-CB6A-491C-8A8C-EF9FBEA0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87254-90DA-4CB6-A8A4-E1FCA8BA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C07　q₀ = (0.7,0)，σ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DBF3B-483E-45B1-9894-043745AF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A9526-3A14-4398-B853-CBE222DBA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b1feb05264ca2"/>
          <a:stretch xmlns:a="http://schemas.openxmlformats.org/drawingml/2006/main"/>
        </p:blipFill>
        <p:spPr>
          <a:xfrm xmlns:a="http://schemas.openxmlformats.org/drawingml/2006/main">
            <a:off x="1309520" y="1190625"/>
            <a:ext cx="957296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2E823-D78E-484D-9C94-BD5246CC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只减去质心位移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F9114-E822-4D27-A463-1ECD95E8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每条曲线都在各自的共动坐标中显示，峰值与宽度没有重新归一化。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97B1E-F8F7-493E-88E6-DF5198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两个方向分别展宽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2FCD0-6460-4F6C-B545-61B64C35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 时 σₓ = 6.970a，σᵧ = 8.449a。不同方向的曲率导致不同速度方差。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12674011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637BB-4609-4110-A28C-824F6230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速度方差决定无啁啾 Gaussian 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D9CDD-738C-4EBC-BBA5-55AEB714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D08F3-F9CD-4A1D-BAEE-114491AB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C09　完整色散下的数值宽度与谱矩关系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26F8D-921F-410B-B2ED-6A35A787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0EDF17D-A8E8-4256-9945-980650F1683D}"/>
              </a:ext>
            </a:extLst>
          </p:cNvPr>
          <p:cNvGraphicFramePr/>
          <p:nvPr/>
        </p:nvGraphicFramePr>
        <p:xfrm>
          <a:off xmlns:a="http://schemas.openxmlformats.org/drawingml/2006/main" x="419100" y="1400175"/>
          <a:ext xmlns:a="http://schemas.openxmlformats.org/drawingml/2006/main" cx="7553325" cy="3971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275a83c6f4419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C2BC5-9134-4D69-98AF-BB51C8F2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</a:t>
            </a:r>
          </a:p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                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61C36-4294-4856-8532-63472F67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D8AA5-294A-4D60-A4BF-94397C8E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不同波矢的群速度不同。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速度差随传播时间积累，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形成包络宽度的增长。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5E9A8-6654-4775-BFE6-5F570491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92AAC-41C0-451E-929A-D3ED68D3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这里使用完整余弦色散的谱矩，不把结果限制为二阶抛物线近似。</a:t>
            </a:r>
          </a:p>
        </p:txBody>
      </p:sp>
    </p:spTree>
    <p:extLst>
      <p:ext uri="{BB962C8B-B14F-4D97-AF65-F5344CB8AC3E}">
        <p14:creationId xmlns:p14="http://schemas.microsoft.com/office/powerpoint/2010/main" val="11001348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3826D-7E3C-48FF-8AFD-DF430AF6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初始空间宽度与相对展宽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E41F7-8414-4454-AD1E-29074FCF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F9C3A-3EE4-41D1-901C-7D06CEE9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C02、C08　q₀ = (0.7,0)，η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3FAE5-D370-4CEB-9D86-33F0574C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12A0-E01E-4463-A9A3-04810DDAFB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d2bb77a024b7b"/>
          <a:stretch xmlns:a="http://schemas.openxmlformats.org/drawingml/2006/main"/>
        </p:blipFill>
        <p:spPr>
          <a:xfrm xmlns:a="http://schemas.openxmlformats.org/drawingml/2006/main">
            <a:off x="409575" y="1797541"/>
            <a:ext cx="6924675" cy="245329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AAFC3E4-FC7F-4227-A038-70C191CD41C3}"/>
              </a:ext>
            </a:extLst>
          </p:cNvPr>
          <p:cNvGraphicFramePr/>
          <p:nvPr/>
        </p:nvGraphicFramePr>
        <p:xfrm>
          <a:off xmlns:a="http://schemas.openxmlformats.org/drawingml/2006/main" x="7524750" y="1438275"/>
          <a:ext xmlns:a="http://schemas.openxmlformats.org/drawingml/2006/main" cx="41529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749718a3804866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81BA8-AA29-4F71-A6FD-EE185CE1A2BA}"/>
              </a:ext>
            </a:extLst>
          </p:cNvPr>
          <p:cNvGraphicFramePr/>
          <p:nvPr/>
        </p:nvGraphicFramePr>
        <p:xfrm>
          <a:off xmlns:a="http://schemas.openxmlformats.org/drawingml/2006/main" x="581025" y="5010150"/>
          <a:ext xmlns:a="http://schemas.openxmlformats.org/drawingml/2006/main" cx="11001375" cy="781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667000"/>
                <a:gridCol w="2667000"/>
                <a:gridCol w="2667000"/>
              </a:tblGrid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 / 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 / 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05A2A-156A-413E-A23A-BB24014F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43C98-02DE-4E76-B493-0717EFC9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更窄频谱减小速度分散，同时需要更大的初始空间范围。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15394937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93C28-558E-460D-945F-150C883D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各向异性同时改变方向与包络尺度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C721E-6CF3-424C-A203-2A7954A8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14A2E-748B-4F75-92D1-BFEE9C4C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C10、C11　q₀ = (0.7,0.7)，σ =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62906-2753-46C3-A8EB-1F35934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2D5B7-1AF7-48AB-99F1-F7F3017442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5b23a56c645d8"/>
          <a:stretch xmlns:a="http://schemas.openxmlformats.org/drawingml/2006/main"/>
        </p:blipFill>
        <p:spPr>
          <a:xfrm xmlns:a="http://schemas.openxmlformats.org/drawingml/2006/main">
            <a:off x="428625" y="2008013"/>
            <a:ext cx="7534275" cy="241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0F785-ED96-4296-960D-87B3DF85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相同的波矢方向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E78B1-13E6-4B60-B663-0FABFBF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的方向均为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1：传播方向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0.3：传播方向 16.70°。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88320-BF3A-492E-8690-0E31A00A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575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 的宽度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6C329-5693-4AC7-ABD3-C11DAD6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 时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σₓ = 6.970a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σᵧ = 4.351a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BE742-7F27-474C-A940-6819513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B19BD-AADE-4DD1-863F-5EAD044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减弱 y 方向交换会同时降低 y 向质心速度和速度方差。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19592800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A58C9-B04C-40CE-B447-A63C210A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频谱概率守恒，实空间形状仍会改变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6E452-7C05-4FC8-A066-D7F856C0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A6DED-1676-4073-A643-3885959B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C12　e = ε/Jₓ，τ = 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A06AD-9EF0-4C21-9432-AA9C4D14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189A1-8795-4B73-88B7-094657567E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4c10641f64525"/>
          <a:stretch xmlns:a="http://schemas.openxmlformats.org/drawingml/2006/main"/>
        </p:blipFill>
        <p:spPr>
          <a:xfrm xmlns:a="http://schemas.openxmlformats.org/drawingml/2006/main">
            <a:off x="1299726" y="1190625"/>
            <a:ext cx="9592547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C646D-9212-4884-AE5C-F2C99B56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时间演化保持谱权重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FD7E5-E72D-4A7D-850B-D538223E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A(q,τ) = A(q,0) exp[−ie(q)τ]。每个模式的概率保持不变。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C3EFA-3A17-4C96-8F66-43E0ABC0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相对相位产生形变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523FF-4EE4-4328-BF53-1F044AD9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去掉整体相位和线性平移相位后，残余的曲率与高阶项继续积累相位差。</a:t>
            </a:r>
          </a:p>
        </p:txBody>
      </p:sp>
    </p:spTree>
    <p:extLst>
      <p:ext uri="{BB962C8B-B14F-4D97-AF65-F5344CB8AC3E}">
        <p14:creationId xmlns:p14="http://schemas.microsoft.com/office/powerpoint/2010/main" val="20857281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A4D62-C12D-4972-A460-D8D632EF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零二阶曲率是后续保形研究的入口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4795E-6BBE-4A81-BDAB-47200A96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7EB1C-67EF-4E74-A0AC-46E05DB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C13　同初宽 σ = 3，η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4115F-6AE7-47F9-B256-D81EEC57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955493-0F65-4B64-AF07-2A86CDA3A32C}"/>
              </a:ext>
            </a:extLst>
          </p:cNvPr>
          <p:cNvGraphicFramePr/>
          <p:nvPr/>
        </p:nvGraphicFramePr>
        <p:xfrm>
          <a:off xmlns:a="http://schemas.openxmlformats.org/drawingml/2006/main" x="4476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22bc3603914fb9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28E9BA4-2595-4905-B691-921EED7E55EB}"/>
              </a:ext>
            </a:extLst>
          </p:cNvPr>
          <p:cNvGraphicFramePr/>
          <p:nvPr/>
        </p:nvGraphicFramePr>
        <p:xfrm>
          <a:off xmlns:a="http://schemas.openxmlformats.org/drawingml/2006/main" x="62388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f53550ffd34af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FB35D-5044-4EFB-A164-3C9B7A96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F = |〈ψ平移参考 | ψ(τ)〉|²，包含相对相位变化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58A7C-324E-4981-9A69-BADB7A1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60：普通波矢 F = 0.3823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856B9-AC43-4475-886A-B4A9B6D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244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rPr>
              <a:t>τ = 60：零曲率点 F = 0.9771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6A067-1959-4BC1-871C-A9ACE2DD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80817-8467-440B-A0E2-5331750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二阶项消失能减慢有限时间内的形变，三阶及更高阶色散仍然存在。</a:t>
            </a:r>
          </a:p>
        </p:txBody>
      </p:sp>
    </p:spTree>
    <p:extLst>
      <p:ext uri="{BB962C8B-B14F-4D97-AF65-F5344CB8AC3E}">
        <p14:creationId xmlns:p14="http://schemas.microsoft.com/office/powerpoint/2010/main" val="6083229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003F6-FFEF-42C0-8E00-BFAB625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当前结果与下一阶段问题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86793-099C-46E5-B852-87171603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A811C-3532-4790-AD7C-14827E0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 PDF 第 1–5 页　模拟 A、B、C 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C2E41-2FDC-453C-9647-4DB6D49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4B911-1D3F-4BE4-921E-C89118997FA9}"/>
              </a:ext>
            </a:extLst>
          </p:cNvPr>
          <p:cNvGraphicFramePr/>
          <p:nvPr/>
        </p:nvGraphicFramePr>
        <p:xfrm>
          <a:off xmlns:a="http://schemas.openxmlformats.org/drawingml/2006/main" x="523875" y="1371600"/>
          <a:ext xmlns:a="http://schemas.openxmlformats.org/drawingml/2006/main" cx="1114425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52875"/>
                <a:gridCol w="4048125"/>
              </a:tblGrid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理论或模拟结果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已建立的物理认识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下一步需要回答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两电子矩阵与 J = 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交换作用连接不同翻转位置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具体材料的有效交换参数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色散曲面与群速度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斜率控制运动，曲率影响展宽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给定波包尺寸下的参数选择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单点与 Gaussian 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质心、宽度和干涉可分别度量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完整二维波包的保形指标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零二阶曲率点对照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有限时间内形变受到抑制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高阶残差与可用传播距离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DBD81-72B7-4FB3-955A-2F3F708D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模型范围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5628F-362B-42E7-BC69-3088B3CA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53000"/>
            <a:ext cx="881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均匀晶格、单磁子、零外场、无耗散。当前结论对应记录的参数与时间窗口。</a:t>
            </a:r>
          </a:p>
        </p:txBody>
      </p:sp>
    </p:spTree>
    <p:extLst>
      <p:ext uri="{BB962C8B-B14F-4D97-AF65-F5344CB8AC3E}">
        <p14:creationId xmlns:p14="http://schemas.microsoft.com/office/powerpoint/2010/main" val="3505624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FBA28-F2B1-4990-8607-72C37050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附录：费米交换符号与自旋矩阵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7D479-3037-40C2-80ED-6F426684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36F33-3093-470F-BDF5-C504D1E0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2–4 页，式 (9)、(15)、(17)、(27)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75F53-7080-447F-B6E3-BAAE6E16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F5CAE-6358-4342-A209-C1CEBEA87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b0a460a5b473d"/>
          <a:stretch xmlns:a="http://schemas.openxmlformats.org/drawingml/2006/main"/>
        </p:blipFill>
        <p:spPr>
          <a:xfrm xmlns:a="http://schemas.openxmlformats.org/drawingml/2006/main">
            <a:off x="3216783" y="1419225"/>
            <a:ext cx="5701284" cy="8286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91561-2E96-44F1-95D3-332C9DF6E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d71d1d44447f6"/>
          <a:stretch xmlns:a="http://schemas.openxmlformats.org/drawingml/2006/main"/>
        </p:blipFill>
        <p:spPr>
          <a:xfrm xmlns:a="http://schemas.openxmlformats.org/drawingml/2006/main">
            <a:off x="2700338" y="2638425"/>
            <a:ext cx="6600825" cy="857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659C6-25F9-42FB-874D-397B7E992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ed9fef14441e5"/>
          <a:stretch xmlns:a="http://schemas.openxmlformats.org/drawingml/2006/main"/>
        </p:blipFill>
        <p:spPr>
          <a:xfrm xmlns:a="http://schemas.openxmlformats.org/drawingml/2006/main">
            <a:off x="1994146" y="3962400"/>
            <a:ext cx="4279408" cy="1400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10B95-EFCA-4F0F-ADAF-EAC8E9ED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4861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交换项的负号由费米反对易关系决定。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自旋矩阵取沿 x 量子化的基底。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C5008-A508-443B-9BCE-0ED78DF3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AEB48-C185-41AC-AB77-A7D2EB84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固定基底与算符顺序后，矩阵元符号和 J = 2K 的系数保持一致。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5800448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B8578-6930-4491-AD53-DCE72FFC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附录：长波二次近似的适用范围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7A5C5-0797-437C-BA74-BFC8B9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4C054-DD7B-468F-B00E-F8E644BE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A08、A09　轴向能量近似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92CA7-11D4-4C81-B695-61260261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80EC9-F437-4809-BD52-223309D591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57fdd0a5b4666"/>
          <a:stretch xmlns:a="http://schemas.openxmlformats.org/drawingml/2006/main"/>
        </p:blipFill>
        <p:spPr>
          <a:xfrm xmlns:a="http://schemas.openxmlformats.org/drawingml/2006/main">
            <a:off x="579746" y="1409700"/>
            <a:ext cx="7108209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6F840-63E1-49E9-9612-87F2A916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811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相对能量误差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0D44C-CEBA-4657-A62D-54583434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9072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1%：q ≈ 0.3454</a:t>
            </a:r>
          </a:p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5%：q ≈ 0.7633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AAA53-4D5C-40F1-BBA9-E1E8892F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337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传播时的限制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E8986-F083-4DD2-B4F6-96018E82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33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同样的能量误差会随时间积累为相位误差。主模拟保留完整余弦能带。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DCEC4-CE43-40F6-A624-1B08E709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0E933-6508-4870-858F-B8225C03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长波近似便于理解局部机制，其使用范围由波矢与传播时间共同约束。</a:t>
            </a:r>
          </a:p>
        </p:txBody>
      </p:sp>
    </p:spTree>
    <p:extLst>
      <p:ext uri="{BB962C8B-B14F-4D97-AF65-F5344CB8AC3E}">
        <p14:creationId xmlns:p14="http://schemas.microsoft.com/office/powerpoint/2010/main" val="11231690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49822-F11A-41D2-BF8B-EB29A084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附录：独立计算路径与边界检验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F9B23-DA85-4C04-A622-1D7777CA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C3F1E-B2EC-4A19-828C-BD1E7932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checks_independent.json、checks_b.json、checks_c.json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43851-322D-4603-8892-E5929016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BF280-16E7-406A-AB00-C2EA852AC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ec4e9b0534ab0"/>
          <a:stretch xmlns:a="http://schemas.openxmlformats.org/drawingml/2006/main"/>
        </p:blipFill>
        <p:spPr>
          <a:xfrm xmlns:a="http://schemas.openxmlformats.org/drawingml/2006/main">
            <a:off x="390525" y="1495055"/>
            <a:ext cx="7067550" cy="322971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18919-871F-4663-A108-439DC8BE8FD5}"/>
              </a:ext>
            </a:extLst>
          </p:cNvPr>
          <p:cNvGraphicFramePr/>
          <p:nvPr/>
        </p:nvGraphicFramePr>
        <p:xfrm>
          <a:off xmlns:a="http://schemas.openxmlformats.org/drawingml/2006/main" x="7715250" y="1514475"/>
          <a:ext xmlns:a="http://schemas.openxmlformats.org/drawingml/2006/main" cx="3962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866900"/>
              </a:tblGrid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误差量级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实空间矩阵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振幅 L² ≈ 3.4×10⁻¹⁵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Bessel 核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max|ΔP| ≈ 5.6×10⁻¹⁶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扩大晶格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 L¹ ≤ 3.8×10⁻¹⁵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边缘概率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5.7×10⁻¹⁴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0E5D6-E7B0-4B6A-8606-63B6452D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83F27-D35B-4A24-8B6D-345B6CF9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解析解、独立推进与扩大晶格对照，共同约束计算误差和边界影响。</a:t>
            </a:r>
          </a:p>
        </p:txBody>
      </p:sp>
    </p:spTree>
    <p:extLst>
      <p:ext uri="{BB962C8B-B14F-4D97-AF65-F5344CB8AC3E}">
        <p14:creationId xmlns:p14="http://schemas.microsoft.com/office/powerpoint/2010/main" val="17069432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558BD-5A26-49DC-ABDB-852DAAF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附录：零二阶曲率后的高阶形变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0A11F-F8B9-4D39-BDDB-0FE3A13D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D0EF4-8D39-4BC6-AE0E-4FA43C33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C14　独立示例 σ = 2，q₀ = (π/2,π/2)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0CAFB-8165-4BFE-B396-E51C4014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66DA7-D773-41D5-B4D8-95E62B3FF3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9119a14f64b4c"/>
          <a:stretch xmlns:a="http://schemas.openxmlformats.org/drawingml/2006/main"/>
        </p:blipFill>
        <p:spPr>
          <a:xfrm xmlns:a="http://schemas.openxmlformats.org/drawingml/2006/main">
            <a:off x="1167517" y="1190625"/>
            <a:ext cx="985696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FAF27-089F-4A3B-8E49-BDEA3F2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残余色散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61F9B-D0A9-4D41-9FF8-EAB9E7E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扣除常数和线性项后，sin δq − δq 的首项为 −δq³/6。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54894-0636-4B4B-A649-BFAE4972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03FA2-9FC1-4F81-A564-BD40DA86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相位差仍会积累，产生偏斜与尾部。本页 σ = 2，与前面的 σ = 3 对照不同。</a:t>
            </a:r>
          </a:p>
        </p:txBody>
      </p:sp>
    </p:spTree>
    <p:extLst>
      <p:ext uri="{BB962C8B-B14F-4D97-AF65-F5344CB8AC3E}">
        <p14:creationId xmlns:p14="http://schemas.microsoft.com/office/powerpoint/2010/main" val="21298405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AE353-98CA-436E-83AB-E7A6EB6C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附录：传播动画对照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6BB40-9CF8-41B4-9818-77125B4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DEC54-55F4-406A-907E-04FF9B3A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单点翻转 B16　Gaussian 载波方向 C16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C60E7-7549-46C1-9E2C-56A940FF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83292-7E3C-494D-9A1B-2694A2B70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34201b9934df6"/>
          <a:stretch xmlns:a="http://schemas.openxmlformats.org/drawingml/2006/main"/>
        </p:blipFill>
        <p:spPr>
          <a:xfrm xmlns:a="http://schemas.openxmlformats.org/drawingml/2006/main">
            <a:off x="381000" y="1739503"/>
            <a:ext cx="5715000" cy="30360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3ABBA-AB0C-430F-8B8F-1766F96676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7914dc4b6482b"/>
          <a:stretch xmlns:a="http://schemas.openxmlformats.org/drawingml/2006/main"/>
        </p:blipFill>
        <p:spPr>
          <a:xfrm xmlns:a="http://schemas.openxmlformats.org/drawingml/2006/main">
            <a:off x="6238875" y="2152650"/>
            <a:ext cx="552450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AFB7C-719C-4FA6-A6D8-C47329D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单点激发：η = 1 与 0.3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68D1A-5436-42F4-B9AA-49AE3BCD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673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 Gaussian 包络，不同载波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74554-42E5-4439-9ABC-30B54B74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8F794-A90F-4BBF-9FC4-85C02A07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放映时观察时间演化，静态关键帧与定量曲线用于比较传播规律。</a:t>
            </a:r>
          </a:p>
        </p:txBody>
      </p:sp>
    </p:spTree>
    <p:extLst>
      <p:ext uri="{BB962C8B-B14F-4D97-AF65-F5344CB8AC3E}">
        <p14:creationId xmlns:p14="http://schemas.microsoft.com/office/powerpoint/2010/main" val="4237957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0469D-39F4-404B-859C-5CC2D217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附录：原理、图组与数据来源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DED66-E222-4FFC-85C3-54A93FD3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89363-F081-49B2-80F3-1430B05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项目本地材料与可复现模拟文件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9B893-42DC-4C80-A889-B556FBB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14755-5839-4D4B-9216-2D7D9EB2A074}"/>
              </a:ext>
            </a:extLst>
          </p:cNvPr>
          <p:cNvGraphicFramePr/>
          <p:nvPr/>
        </p:nvGraphicFramePr>
        <p:xfrm>
          <a:off xmlns:a="http://schemas.openxmlformats.org/drawingml/2006/main" x="523875" y="13620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85775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承担的内容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 PDF，5 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直接交换、矩阵匹配、EOM、色散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Note/single_magnon_derivation/main.pdf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组，12 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色散、群速度、近似范围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figures/midterm-report/a-dispersion/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组，13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局域翻转与解析传播核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b-local-flip/local_flip_data.npz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组，14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质心、宽度与相位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c-gaussian/gaussian_simulation_data.npz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932B1-835D-4499-83C6-F63F772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符号对照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D655C-4E23-44CC-A563-0F10D73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890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     τ = Jₓt/ℏ     η = Jᵧ/Jₓ     e = ε/Jₓ</a:t>
            </a:r>
          </a:p>
        </p:txBody>
      </p:sp>
    </p:spTree>
    <p:extLst>
      <p:ext uri="{BB962C8B-B14F-4D97-AF65-F5344CB8AC3E}">
        <p14:creationId xmlns:p14="http://schemas.microsoft.com/office/powerpoint/2010/main" val="1190543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2026-10-19T13:59:46.4690000Z</dcterms:created>
  <dcterms:modified xsi:type="dcterms:W3CDTF">2026-10-19T13:59:46.4690000Z</dcterms:modified>
</coreProperties>
</file>