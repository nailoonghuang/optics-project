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3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slides/charts/chart4.xml" ContentType="application/vnd.openxmlformats-officedocument.drawingml.chart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5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6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7.xml" ContentType="application/vnd.openxmlformats-officedocument.drawingml.chart+xml"/>
  <Override PartName="/ppt/slides/charts/chart8.xml" ContentType="application/vnd.openxmlformats-officedocument.drawingml.chart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5e686c0f394c98" /><Relationship Type="http://schemas.openxmlformats.org/officeDocument/2006/relationships/extended-properties" Target="/docProps/app.xml" Id="Rb7f8aa0459ef4a67" /><Relationship Type="http://schemas.openxmlformats.org/officeDocument/2006/relationships/officeDocument" Target="/ppt/presentation.xml" Id="Rc7a41a6c3f1648a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f673c2c3794e28"/>
  </p:sldMasterIdLst>
  <p:notesMasterIdLst>
    <p:notesMasterId xmlns:r="http://schemas.openxmlformats.org/officeDocument/2006/relationships" r:id="Ra8c37de074744769"/>
  </p:notesMasterIdLst>
  <p:sldIdLst>
    <p:sldId xmlns:r="http://schemas.openxmlformats.org/officeDocument/2006/relationships" id="256" r:id="R3c76c7b4f3724f56"/>
    <p:sldId xmlns:r="http://schemas.openxmlformats.org/officeDocument/2006/relationships" id="257" r:id="R7762e45cce10476c"/>
    <p:sldId xmlns:r="http://schemas.openxmlformats.org/officeDocument/2006/relationships" id="258" r:id="R58abd65480d448dd"/>
    <p:sldId xmlns:r="http://schemas.openxmlformats.org/officeDocument/2006/relationships" id="259" r:id="R22ffc38d1818441d"/>
    <p:sldId xmlns:r="http://schemas.openxmlformats.org/officeDocument/2006/relationships" id="260" r:id="R19e3ab182b6a4b43"/>
    <p:sldId xmlns:r="http://schemas.openxmlformats.org/officeDocument/2006/relationships" id="261" r:id="R6a813bbc3ebc493a"/>
    <p:sldId xmlns:r="http://schemas.openxmlformats.org/officeDocument/2006/relationships" id="262" r:id="R2259f9732f4345df"/>
    <p:sldId xmlns:r="http://schemas.openxmlformats.org/officeDocument/2006/relationships" id="263" r:id="R2637b050dd234b13"/>
    <p:sldId xmlns:r="http://schemas.openxmlformats.org/officeDocument/2006/relationships" id="264" r:id="Rf823fffc263a4eb7"/>
    <p:sldId xmlns:r="http://schemas.openxmlformats.org/officeDocument/2006/relationships" id="265" r:id="R6c2a659dbd994554"/>
    <p:sldId xmlns:r="http://schemas.openxmlformats.org/officeDocument/2006/relationships" id="266" r:id="Rfe99d653bf954c1f"/>
    <p:sldId xmlns:r="http://schemas.openxmlformats.org/officeDocument/2006/relationships" id="267" r:id="R1ad4f74b8ea24bbf"/>
    <p:sldId xmlns:r="http://schemas.openxmlformats.org/officeDocument/2006/relationships" id="268" r:id="Rdf52d88e91594f7d"/>
    <p:sldId xmlns:r="http://schemas.openxmlformats.org/officeDocument/2006/relationships" id="269" r:id="Re80a5c62ac3148b8"/>
    <p:sldId xmlns:r="http://schemas.openxmlformats.org/officeDocument/2006/relationships" id="270" r:id="R6dda9f6a9637467f"/>
    <p:sldId xmlns:r="http://schemas.openxmlformats.org/officeDocument/2006/relationships" id="271" r:id="R6a307211c674417a"/>
    <p:sldId xmlns:r="http://schemas.openxmlformats.org/officeDocument/2006/relationships" id="272" r:id="R20e48fcdca234300"/>
    <p:sldId xmlns:r="http://schemas.openxmlformats.org/officeDocument/2006/relationships" id="273" r:id="Rd51fda208da04618"/>
    <p:sldId xmlns:r="http://schemas.openxmlformats.org/officeDocument/2006/relationships" id="274" r:id="R0e2793d3a1694582"/>
    <p:sldId xmlns:r="http://schemas.openxmlformats.org/officeDocument/2006/relationships" id="275" r:id="Rcaec1ad883ca4c02"/>
    <p:sldId xmlns:r="http://schemas.openxmlformats.org/officeDocument/2006/relationships" id="276" r:id="R25a6662553604b98"/>
    <p:sldId xmlns:r="http://schemas.openxmlformats.org/officeDocument/2006/relationships" id="277" r:id="Rc4c118fb18134669"/>
    <p:sldId xmlns:r="http://schemas.openxmlformats.org/officeDocument/2006/relationships" id="278" r:id="Rc949bd2b65664219"/>
    <p:sldId xmlns:r="http://schemas.openxmlformats.org/officeDocument/2006/relationships" id="279" r:id="Rcebeb0805ac14196"/>
    <p:sldId xmlns:r="http://schemas.openxmlformats.org/officeDocument/2006/relationships" id="280" r:id="R7a210ff274004b24"/>
    <p:sldId xmlns:r="http://schemas.openxmlformats.org/officeDocument/2006/relationships" id="281" r:id="Rc035cf4cea7d45c1"/>
    <p:sldId xmlns:r="http://schemas.openxmlformats.org/officeDocument/2006/relationships" id="282" r:id="Rb9a2f16eaff14a17"/>
    <p:sldId xmlns:r="http://schemas.openxmlformats.org/officeDocument/2006/relationships" id="283" r:id="R39b7623508704dd5"/>
    <p:sldId xmlns:r="http://schemas.openxmlformats.org/officeDocument/2006/relationships" id="284" r:id="Rb2ca7aa9503f4693"/>
    <p:sldId xmlns:r="http://schemas.openxmlformats.org/officeDocument/2006/relationships" id="285" r:id="R70fadbf9763d49da"/>
    <p:sldId xmlns:r="http://schemas.openxmlformats.org/officeDocument/2006/relationships" id="286" r:id="R5e3db2ff1f814460"/>
    <p:sldId xmlns:r="http://schemas.openxmlformats.org/officeDocument/2006/relationships" id="287" r:id="R15cd95e725e14244"/>
    <p:sldId xmlns:r="http://schemas.openxmlformats.org/officeDocument/2006/relationships" id="288" r:id="Rde378ab7ffb64e11"/>
    <p:sldId xmlns:r="http://schemas.openxmlformats.org/officeDocument/2006/relationships" id="289" r:id="R61cd2ad145a749c9"/>
    <p:sldId xmlns:r="http://schemas.openxmlformats.org/officeDocument/2006/relationships" id="290" r:id="R5c8be76bd44d49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d174eeaced74a17" /><Relationship Type="http://schemas.openxmlformats.org/officeDocument/2006/relationships/slideMaster" Target="/ppt/slideMasters/slideMaster1.xml" Id="R79f673c2c3794e28" /><Relationship Type="http://schemas.openxmlformats.org/officeDocument/2006/relationships/notesMaster" Target="/ppt/notesMasters/notesMaster1.xml" Id="Ra8c37de074744769" /><Relationship Type="http://schemas.openxmlformats.org/officeDocument/2006/relationships/presProps" Target="/ppt/presProps.xml" Id="R28e19dc8f0ab4012" /><Relationship Type="http://schemas.openxmlformats.org/officeDocument/2006/relationships/tableStyles" Target="/ppt/tableStyles.xml" Id="R0adb9db41377421b" /><Relationship Type="http://schemas.openxmlformats.org/officeDocument/2006/relationships/slide" Target="/ppt/slides/slide1.xml" Id="R3c76c7b4f3724f56" /><Relationship Type="http://schemas.openxmlformats.org/officeDocument/2006/relationships/slide" Target="/ppt/slides/slide2.xml" Id="R7762e45cce10476c" /><Relationship Type="http://schemas.openxmlformats.org/officeDocument/2006/relationships/slide" Target="/ppt/slides/slide3.xml" Id="R58abd65480d448dd" /><Relationship Type="http://schemas.openxmlformats.org/officeDocument/2006/relationships/slide" Target="/ppt/slides/slide4.xml" Id="R22ffc38d1818441d" /><Relationship Type="http://schemas.openxmlformats.org/officeDocument/2006/relationships/slide" Target="/ppt/slides/slide5.xml" Id="R19e3ab182b6a4b43" /><Relationship Type="http://schemas.openxmlformats.org/officeDocument/2006/relationships/slide" Target="/ppt/slides/slide6.xml" Id="R6a813bbc3ebc493a" /><Relationship Type="http://schemas.openxmlformats.org/officeDocument/2006/relationships/slide" Target="/ppt/slides/slide7.xml" Id="R2259f9732f4345df" /><Relationship Type="http://schemas.openxmlformats.org/officeDocument/2006/relationships/slide" Target="/ppt/slides/slide8.xml" Id="R2637b050dd234b13" /><Relationship Type="http://schemas.openxmlformats.org/officeDocument/2006/relationships/slide" Target="/ppt/slides/slide9.xml" Id="Rf823fffc263a4eb7" /><Relationship Type="http://schemas.openxmlformats.org/officeDocument/2006/relationships/slide" Target="/ppt/slides/slide10.xml" Id="R6c2a659dbd994554" /><Relationship Type="http://schemas.openxmlformats.org/officeDocument/2006/relationships/slide" Target="/ppt/slides/slide11.xml" Id="Rfe99d653bf954c1f" /><Relationship Type="http://schemas.openxmlformats.org/officeDocument/2006/relationships/slide" Target="/ppt/slides/slide12.xml" Id="R1ad4f74b8ea24bbf" /><Relationship Type="http://schemas.openxmlformats.org/officeDocument/2006/relationships/slide" Target="/ppt/slides/slide13.xml" Id="Rdf52d88e91594f7d" /><Relationship Type="http://schemas.openxmlformats.org/officeDocument/2006/relationships/slide" Target="/ppt/slides/slide14.xml" Id="Re80a5c62ac3148b8" /><Relationship Type="http://schemas.openxmlformats.org/officeDocument/2006/relationships/slide" Target="/ppt/slides/slide15.xml" Id="R6dda9f6a9637467f" /><Relationship Type="http://schemas.openxmlformats.org/officeDocument/2006/relationships/slide" Target="/ppt/slides/slide16.xml" Id="R6a307211c674417a" /><Relationship Type="http://schemas.openxmlformats.org/officeDocument/2006/relationships/slide" Target="/ppt/slides/slide17.xml" Id="R20e48fcdca234300" /><Relationship Type="http://schemas.openxmlformats.org/officeDocument/2006/relationships/slide" Target="/ppt/slides/slide18.xml" Id="Rd51fda208da04618" /><Relationship Type="http://schemas.openxmlformats.org/officeDocument/2006/relationships/slide" Target="/ppt/slides/slide19.xml" Id="R0e2793d3a1694582" /><Relationship Type="http://schemas.openxmlformats.org/officeDocument/2006/relationships/slide" Target="/ppt/slides/slide20.xml" Id="Rcaec1ad883ca4c02" /><Relationship Type="http://schemas.openxmlformats.org/officeDocument/2006/relationships/slide" Target="/ppt/slides/slide21.xml" Id="R25a6662553604b98" /><Relationship Type="http://schemas.openxmlformats.org/officeDocument/2006/relationships/slide" Target="/ppt/slides/slide22.xml" Id="Rc4c118fb18134669" /><Relationship Type="http://schemas.openxmlformats.org/officeDocument/2006/relationships/slide" Target="/ppt/slides/slide23.xml" Id="Rc949bd2b65664219" /><Relationship Type="http://schemas.openxmlformats.org/officeDocument/2006/relationships/slide" Target="/ppt/slides/slide24.xml" Id="Rcebeb0805ac14196" /><Relationship Type="http://schemas.openxmlformats.org/officeDocument/2006/relationships/slide" Target="/ppt/slides/slide25.xml" Id="R7a210ff274004b24" /><Relationship Type="http://schemas.openxmlformats.org/officeDocument/2006/relationships/slide" Target="/ppt/slides/slide26.xml" Id="Rc035cf4cea7d45c1" /><Relationship Type="http://schemas.openxmlformats.org/officeDocument/2006/relationships/slide" Target="/ppt/slides/slide27.xml" Id="Rb9a2f16eaff14a17" /><Relationship Type="http://schemas.openxmlformats.org/officeDocument/2006/relationships/slide" Target="/ppt/slides/slide28.xml" Id="R39b7623508704dd5" /><Relationship Type="http://schemas.openxmlformats.org/officeDocument/2006/relationships/slide" Target="/ppt/slides/slide29.xml" Id="Rb2ca7aa9503f4693" /><Relationship Type="http://schemas.openxmlformats.org/officeDocument/2006/relationships/slide" Target="/ppt/slides/slide30.xml" Id="R70fadbf9763d49da" /><Relationship Type="http://schemas.openxmlformats.org/officeDocument/2006/relationships/slide" Target="/ppt/slides/slide31.xml" Id="R5e3db2ff1f814460" /><Relationship Type="http://schemas.openxmlformats.org/officeDocument/2006/relationships/slide" Target="/ppt/slides/slide32.xml" Id="R15cd95e725e14244" /><Relationship Type="http://schemas.openxmlformats.org/officeDocument/2006/relationships/slide" Target="/ppt/slides/slide33.xml" Id="Rde378ab7ffb64e11" /><Relationship Type="http://schemas.openxmlformats.org/officeDocument/2006/relationships/slide" Target="/ppt/slides/slide34.xml" Id="R61cd2ad145a749c9" /><Relationship Type="http://schemas.openxmlformats.org/officeDocument/2006/relationships/slide" Target="/ppt/slides/slide35.xml" Id="R5c8be76bd44d49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df30262d11346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cb32d5a439a4db1" /><Relationship Type="http://schemas.openxmlformats.org/officeDocument/2006/relationships/notesMaster" Target="/ppt/notesMasters/notesMaster1.xml" Id="R4802706b12a549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ba6bec0152451d" /><Relationship Type="http://schemas.openxmlformats.org/officeDocument/2006/relationships/notesMaster" Target="/ppt/notesMasters/notesMaster1.xml" Id="Red638c980841417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b2f52a59d84121" /><Relationship Type="http://schemas.openxmlformats.org/officeDocument/2006/relationships/notesMaster" Target="/ppt/notesMasters/notesMaster1.xml" Id="R0fd10521ceb445d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9c4be99bc034b3d" /><Relationship Type="http://schemas.openxmlformats.org/officeDocument/2006/relationships/notesMaster" Target="/ppt/notesMasters/notesMaster1.xml" Id="Re66476f60cdd4d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5737940c0414f98" /><Relationship Type="http://schemas.openxmlformats.org/officeDocument/2006/relationships/notesMaster" Target="/ppt/notesMasters/notesMaster1.xml" Id="Ra06797fe65c1420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24afc78498a436a" /><Relationship Type="http://schemas.openxmlformats.org/officeDocument/2006/relationships/notesMaster" Target="/ppt/notesMasters/notesMaster1.xml" Id="Rdbe641ec8ede467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e115cae24bd47f3" /><Relationship Type="http://schemas.openxmlformats.org/officeDocument/2006/relationships/notesMaster" Target="/ppt/notesMasters/notesMaster1.xml" Id="R06ac2a3d9ec6420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dd50ada6848ae" /><Relationship Type="http://schemas.openxmlformats.org/officeDocument/2006/relationships/notesMaster" Target="/ppt/notesMasters/notesMaster1.xml" Id="Rdbb5fd0aad094a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cc2d5c2d804652" /><Relationship Type="http://schemas.openxmlformats.org/officeDocument/2006/relationships/notesMaster" Target="/ppt/notesMasters/notesMaster1.xml" Id="Rb8f69ecba97d4b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05018bcf59043aa" /><Relationship Type="http://schemas.openxmlformats.org/officeDocument/2006/relationships/notesMaster" Target="/ppt/notesMasters/notesMaster1.xml" Id="R0261a3ab365748f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314f838bf6413e" /><Relationship Type="http://schemas.openxmlformats.org/officeDocument/2006/relationships/notesMaster" Target="/ppt/notesMasters/notesMaster1.xml" Id="R23c9377b1a404d9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8a791ed1cff46c1" /><Relationship Type="http://schemas.openxmlformats.org/officeDocument/2006/relationships/notesMaster" Target="/ppt/notesMasters/notesMaster1.xml" Id="Ref2528f0df3845d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1ddeed01534e6a" /><Relationship Type="http://schemas.openxmlformats.org/officeDocument/2006/relationships/notesMaster" Target="/ppt/notesMasters/notesMaster1.xml" Id="R23fc9800a037432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fdabf5b8e7d4b10" /><Relationship Type="http://schemas.openxmlformats.org/officeDocument/2006/relationships/notesMaster" Target="/ppt/notesMasters/notesMaster1.xml" Id="R2f22fa14c0c1402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33df7468e7a4c80" /><Relationship Type="http://schemas.openxmlformats.org/officeDocument/2006/relationships/notesMaster" Target="/ppt/notesMasters/notesMaster1.xml" Id="Raeb305cbc5304c0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6da72dc7ab42ad" /><Relationship Type="http://schemas.openxmlformats.org/officeDocument/2006/relationships/notesMaster" Target="/ppt/notesMasters/notesMaster1.xml" Id="Rd5999ebdb98b458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6a6dbae7dde41bf" /><Relationship Type="http://schemas.openxmlformats.org/officeDocument/2006/relationships/notesMaster" Target="/ppt/notesMasters/notesMaster1.xml" Id="R5b7190ce9a5141b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776c52a341b4b32" /><Relationship Type="http://schemas.openxmlformats.org/officeDocument/2006/relationships/notesMaster" Target="/ppt/notesMasters/notesMaster1.xml" Id="R81d61bebb0e44e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3a1d2243434777" /><Relationship Type="http://schemas.openxmlformats.org/officeDocument/2006/relationships/notesMaster" Target="/ppt/notesMasters/notesMaster1.xml" Id="R2b016bcdb944423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e495c90e2e94f1e" /><Relationship Type="http://schemas.openxmlformats.org/officeDocument/2006/relationships/notesMaster" Target="/ppt/notesMasters/notesMaster1.xml" Id="R063023800b5944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1d6e422ca344877" /><Relationship Type="http://schemas.openxmlformats.org/officeDocument/2006/relationships/notesMaster" Target="/ppt/notesMasters/notesMaster1.xml" Id="R85f67854577d42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45fafc241d5944fe" /><Relationship Type="http://schemas.openxmlformats.org/officeDocument/2006/relationships/notesMaster" Target="/ppt/notesMasters/notesMaster1.xml" Id="Rda809b11a996489f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7f245614cdc40c0" /><Relationship Type="http://schemas.openxmlformats.org/officeDocument/2006/relationships/notesMaster" Target="/ppt/notesMasters/notesMaster1.xml" Id="R4387bb061d0844f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871aae864e74d5f" /><Relationship Type="http://schemas.openxmlformats.org/officeDocument/2006/relationships/notesMaster" Target="/ppt/notesMasters/notesMaster1.xml" Id="R628313aa4f3f4f2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9bda72e17494d0e" /><Relationship Type="http://schemas.openxmlformats.org/officeDocument/2006/relationships/notesMaster" Target="/ppt/notesMasters/notesMaster1.xml" Id="R3e3e0046ad80418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8eb8667099d4914" /><Relationship Type="http://schemas.openxmlformats.org/officeDocument/2006/relationships/notesMaster" Target="/ppt/notesMasters/notesMaster1.xml" Id="R642b8dc6e9a04706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3dab7fbc93284461" /><Relationship Type="http://schemas.openxmlformats.org/officeDocument/2006/relationships/notesMaster" Target="/ppt/notesMasters/notesMaster1.xml" Id="R0bde2ffd6459453b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621fef49a664e5e" /><Relationship Type="http://schemas.openxmlformats.org/officeDocument/2006/relationships/notesMaster" Target="/ppt/notesMasters/notesMaster1.xml" Id="Ra7eae612a7c946d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42d9ff7f0e140ae" /><Relationship Type="http://schemas.openxmlformats.org/officeDocument/2006/relationships/notesMaster" Target="/ppt/notesMasters/notesMaster1.xml" Id="R6be93c2e480a45a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cdb77c8cd46949c7" /><Relationship Type="http://schemas.openxmlformats.org/officeDocument/2006/relationships/notesMaster" Target="/ppt/notesMasters/notesMaster1.xml" Id="R0a4acbb9983e49cc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648494fff34606" /><Relationship Type="http://schemas.openxmlformats.org/officeDocument/2006/relationships/notesMaster" Target="/ppt/notesMasters/notesMaster1.xml" Id="R4eecf1a5f8be4d37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890cab74b29470a" /><Relationship Type="http://schemas.openxmlformats.org/officeDocument/2006/relationships/notesMaster" Target="/ppt/notesMasters/notesMaster1.xml" Id="R1540478862c34a44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b4734774db64602" /><Relationship Type="http://schemas.openxmlformats.org/officeDocument/2006/relationships/notesMaster" Target="/ppt/notesMasters/notesMaster1.xml" Id="R335399a79fbd468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e1d1f1fea914a5c" /><Relationship Type="http://schemas.openxmlformats.org/officeDocument/2006/relationships/notesMaster" Target="/ppt/notesMasters/notesMaster1.xml" Id="Ra1f704a715a54f8b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4a4aadae7f24813" /><Relationship Type="http://schemas.openxmlformats.org/officeDocument/2006/relationships/notesMaster" Target="/ppt/notesMasters/notesMaster1.xml" Id="R11da8a1020504a0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报告研究零外场、自旋1/2正方晶格铁磁体。先解释直接库仑交换与单翻转精确子空间，再讨论线性传播与波包展宽。图中是有效模型计算。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来源：中期报告　理论来源：单磁子推导 PDF　模拟：均匀最近邻交换模型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以全极化铁磁态为背景，在其中翻转一个自旋。首先关注激发怎样在格点间传递，再区分波包整体运动和形状变化。动画在放映模式中展示。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3–5 页　动画 B14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固定两个正交归一的相邻轨道a,b，各占据一个电子。只保留固定占据下的直接库仑交换，不纳入电子跃迁产生的超交换。D和K都具有能量量纲。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1–2 页，式 (1)–(9)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有序基底为↑↑、↑↓、↓↑、↓↓。反平行积态之间有−K的非对角矩阵元。两个反平行积态的对称和反对称组合分别属于triplet和singlet。D±K是本征态能量。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 页，式 (10)–(14)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比较S_a·S_b与库仑作用矩阵。中间块的非对角元为1/2，所以−J_H/2=−K，得到J_H=2K。常数项D−K/2只平移所有能量。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(17)–(21)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每条无向键计一次，背景沿+x极化。Jx和Jy的差异属于空间方向的交换各向异性，每条键上的自旋作用仍是点积。每条铁磁键均达到其能量下界。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3 页，式 (22)–(25)　图 A01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局域翻转是基矢，不是一般的能量本征态。H作用后仍是单翻转基矢的线性组合，因此这个子空间精确闭合。概率P_i给出翻转位置的测量分布。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 页，式 (26)–(31)　图 B01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一条含翻转的键相对基态增加Jij/2的对角能量，并产生−Jij/2的跃迁振幅。四个邻居的贡献相加，得到离散Schrödinger形式。E_F完整保留在原理推导中。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4–5 页，式 (28)、(34)、(35)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均匀晶格具有平移不变性。相邻格点只相差e^{±ik_mu a}。将这些相位代入四邻居方程，两个指数相加成为2cos，从而得到单磁子激发能。此页沿用源PDF的hbar=1。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页，式 (36)–(39)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能量用Jx归一化。左图eta=1色散曲面，右图使用实际保存的eta=.35轴向截面。原点是零激发能，最高能量2(1+eta)。二维点激发包含整个布里渊区。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式 (39)　模拟 A02、A03 轴向截面数据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箭头长度按共同尺度编码速度大小。等频不等于等群速度，也不自动保证完整局域波包保形。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A05、A06，η = 1 与 0.35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有限频宽波包的精确质心速度是谱平均，中心波矢处群速度是窄带近似。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A07　ω = ε / 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原理PDF保留E_F且取hbar=1。模拟恢复hbar后显式去除公共基态相位psi=e^{iE_Ft/hbar}c；概率保持不变。使用q=ka、tau=Jx*t/hbar、eta=Jy/Jx。每个FFT模式直接乘完整余弦色散的时间相位。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5 页　模拟 common.py 与 THEORY.md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图中为N²|A|²，仅为可读性缩放。不能用单一中心波矢或只在原点展开的二阶色散描述全部传播。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B02　N = 256 表示 256 × 256 格点，Σ|A|²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早期过程见第2页动画。此页固定色标1e-7到0.1。显示边缘是色标阈值，前沿外仍有小概率尾部。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B04　η = 1，四个时刻使用共同对数色标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快照比较eta=0、.3、1，均为同一单点初态tau24。RMS_x=tau/sqrt2，RMS_y=eta*tau/sqrt2。eta=0为解耦链极限。动画对照在附录。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B05、B11、B16　Jₓ 固定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热图是Px，即对y求和的边际概率。主要前沿由最大x群速度|u_x|≤1描述，RMS_x=tau/sqrt2。前沿之外仍有非零尾部，不是严格有限支持。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B07、B09　左图 η = 1，右图 η = 1、0.3、0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原点返回概率的振荡是无耗散相干传播的结果。沿+x量子化时&lt;Sx&gt;=1/2-P，而&lt;Sy&gt;=&lt;Sz&gt;=0。所有格点的纵向亏损之和为1。图的两部分纵轴不同。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B10　固定单磁子数态，η = 1 与 0.3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左图是y=0中心截线，不是对y求和的边际。两个面板纵轴不同，右图显示相对1/2背景的亏损。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B12　η = 1，τ = 8，背景沿 +x 极化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Gaussian振幅的指数分母为4sigma²，sigma是概率分布的RMS宽度。载波改变频谱中心，但不改变初始概率。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C01　n = r/a，σ 以格点数计，σ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三个tau60快照对应相同初始概率包络，q0分别为(-.7,0),(.7,0),(.7,.7)。零载波情况下质心不动但包络仍展宽，见C03。三幅图使用共同空间窗与色标。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C05　静态快照 τ = 60，σ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图表数值直接来自保存的NPZ轨迹。对于q0=(.7,0)，真实质心速度是.6392043454，而sin(.7)=.6442176872。tau60时，中心波矢近似会多预测.3008005a位移。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C06　σ = 4，η = 1，τ ≤ 60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Px和Py都是对另一方向求和的边际概率，分别归一化为1。x运动和形状变化可以分别度量。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C07　q₀ = (0.7,0)，σ = 4，η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无限晶格下初始位置与速度的对称协方差为零，Var(n(tau))=Var(n0)+tau²Var(u)。当前有限周期盒在展示范围内有边界检查。对于一般有啁啾初态还存在2tau Cov_sym项。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C09　完整色散下的数值宽度与谱矩关系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sigma3/6/10都归一化为1，但初始空间范围不同。更宽包络对应更窄频谱，通常有较小相对展宽。本页不将其解释为相同初始资源的性能比较。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C02、C08　q₀ = (0.7,0)，η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左右保持q0、sigma和tau60相同，只改变eta。波矢均为45度，谱平均群速度方向分别45度和16.699度。eta.3时中心为(38.3523,11.5057)a。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C10、C11　q₀ = (0.7,0.7)，σ = 4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右图为固定qy=0时的精确残余相位，连续展开显示，不取模2pi。这里的非线性相位指相位对波矢的非线性依赖，模型动力学仍是线性的。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C12　e = ε/Jₓ，τ = Jₓt/ℏ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对比普通中心q0=(.7,.7)和(pi/2,pi/2)。sigma均3，tau均60，使用各自真实谱平均速度作平移参考。F为复态重合模平方，含相对相位改变，不仅是概率轮廓重合。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C13　同初宽 σ = 3，η = 1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本次完成的层次是模型推导、线性传播图像与有限时间的数值证据。未来研究可针对具体初态局域性与完整二维保形，不将当前toy model直接等同于实际材料。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来源：理论 PDF 第 1–5 页　模拟 A、B、C 组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本页用于回答交换负号和单翻转矩阵元问题。源推导固定产生算符顺序f_a† f_b†。从反平行态读出非对角元−K，再与−J S_a·S_b匹配。所有箭头相对于x量子化轴。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来源：原理 PDF 第 2–4 页，式 (9)、(15)、(17)、(27)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e≈(qx²+eta qy²)/2只适用于小波矢。误差阈值是轴向能量的相对误差，不是传播保真度阈值。相位差还随时间积累。所有主动力学计算使用完整余弦色散。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A08、A09　轴向能量近似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验证图为FFT与无限晶格Bessel解析传播核比较。独立稀疏矩阵Hamiltonian直接按键构造。边界与扩大晶格测试说明当前展示区间内数值可信，不能代替材料参数验证。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来源：checks_independent.json、checks_b.json、checks_c.json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本页是为了显示高阶形变的独立例子，不能把结果与sigma3例子解释为同一初态资源的性能比较。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来源：模拟 C14　独立示例 σ = 2，q₀ = (π/2,π/2)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本页嵌入完整GIF，在支持GIF的PowerPoint放映模式下播放。静态关键帧已经出现在正文各向异性和载波方向页。动画使用固定色标，不逐帧峰值归一化。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来源：单点翻转 B16　Gaussian 载波方向 C16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本报告未新增外部实验或材料参数。理论依据是本地五页原理PDF，数值结果来自既有39图8动画资料包。每个图表的具体来源已写入其所在页的备注。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来源：项目本地材料与可复现模拟文件</a:t>
            </a:r>
          </a:p>
          <a:p xmlns:a="http://schemas.openxmlformats.org/drawingml/2006/main">
            <a:r>
              <a:t>原理PDF：C:/Users/xuanm/Desktop/optics/Note/single_magnon_derivation/main.pdf</a:t>
            </a:r>
          </a:p>
          <a:p xmlns:a="http://schemas.openxmlformats.org/drawingml/2006/main">
            <a:r>
              <a:t>模拟源：C:/Users/xuanm/Desktop/optics/figures/midterm-report/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01755b71942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15d41221e9449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016166ce4e479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5d0c8a8d4f484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fe15c1f87c4ca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3d6422fc0245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0B7E02D-FE27-4522-991C-A5D345BD94E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DA42B7-EF33-47C0-B153-1B565F8404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2B25269-836D-40C5-BD07-E5C9B9F814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052922B-3225-48F7-B01A-71314C0F3E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9952656-E522-4327-86BF-082BD490FE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C613D837-C803-4D9D-8C8C-FE03F6F5B1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2FCA9B-2BFA-4A90-B6C1-9B4A7600B4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3EDB297-2B9B-48C7-8FB4-6D30F502B4F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E7ACC3-3F7E-47E4-8AD5-2C50359E70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104BEF-7915-4A4E-A303-8337866E234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ee465fcc5a4b32" /><Relationship Type="http://schemas.openxmlformats.org/officeDocument/2006/relationships/slideLayout" Target="/ppt/slideLayouts/slideLayout1.xml" Id="Rf9c24e30e9e847ab" /><Relationship Type="http://schemas.openxmlformats.org/officeDocument/2006/relationships/slideLayout" Target="/ppt/slideLayouts/slideLayout2.xml" Id="R6d1e523b0cc54b14" /><Relationship Type="http://schemas.openxmlformats.org/officeDocument/2006/relationships/slideLayout" Target="/ppt/slideLayouts/slideLayout3.xml" Id="R7b912ab9dcc74f2a" /><Relationship Type="http://schemas.openxmlformats.org/officeDocument/2006/relationships/slideLayout" Target="/ppt/slideLayouts/slideLayout4.xml" Id="Rf854c5cfe8d749af" /><Relationship Type="http://schemas.openxmlformats.org/officeDocument/2006/relationships/slideLayout" Target="/ppt/slideLayouts/slideLayout5.xml" Id="Rb39fcde968604ed7" /><Relationship Type="http://schemas.openxmlformats.org/officeDocument/2006/relationships/slideLayout" Target="/ppt/slideLayouts/slideLayout6.xml" Id="R02784314801f46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c24e30e9e847ab"/>
    <p:sldLayoutId xmlns:r="http://schemas.openxmlformats.org/officeDocument/2006/relationships" id="2147483650" r:id="R6d1e523b0cc54b14"/>
    <p:sldLayoutId xmlns:r="http://schemas.openxmlformats.org/officeDocument/2006/relationships" id="2147483651" r:id="R7b912ab9dcc74f2a"/>
    <p:sldLayoutId xmlns:r="http://schemas.openxmlformats.org/officeDocument/2006/relationships" id="2147483652" r:id="Rf854c5cfe8d749af"/>
    <p:sldLayoutId xmlns:r="http://schemas.openxmlformats.org/officeDocument/2006/relationships" id="2147483653" r:id="Rb39fcde968604ed7"/>
    <p:sldLayoutId xmlns:r="http://schemas.openxmlformats.org/officeDocument/2006/relationships" id="2147483654" r:id="R02784314801f46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2518f728064a43" /><Relationship Type="http://schemas.openxmlformats.org/officeDocument/2006/relationships/image" Target="/ppt/media/image.png" Id="R70ea451f3335435a" /><Relationship Type="http://schemas.openxmlformats.org/officeDocument/2006/relationships/image" Target="/ppt/media/image2.png" Id="R07f9346f22b14416" /><Relationship Type="http://schemas.openxmlformats.org/officeDocument/2006/relationships/notesSlide" Target="/ppt/notesSlides/notesSlide1.xml" Id="R98412fe8d53c44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7abbafcf984e91" /><Relationship Type="http://schemas.openxmlformats.org/officeDocument/2006/relationships/image" Target="/ppt/media/image.gif" Id="R90f065c80d804673" /><Relationship Type="http://schemas.openxmlformats.org/officeDocument/2006/relationships/notesSlide" Target="/ppt/notesSlides/notesSlide2.xml" Id="R9d0d5903a984487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e42617808064414" /><Relationship Type="http://schemas.openxmlformats.org/officeDocument/2006/relationships/image" Target="/ppt/media/image3.png" Id="Rcf71f4dc1aed4cd4" /><Relationship Type="http://schemas.openxmlformats.org/officeDocument/2006/relationships/notesSlide" Target="/ppt/notesSlides/notesSlide3.xml" Id="Rbed086e505a94b0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f537a5f7f04b3a" /><Relationship Type="http://schemas.openxmlformats.org/officeDocument/2006/relationships/image" Target="/ppt/media/image4.png" Id="Rc37b34bda2314090" /><Relationship Type="http://schemas.openxmlformats.org/officeDocument/2006/relationships/image" Target="/ppt/media/image5.png" Id="Rcb03f182aae843ec" /><Relationship Type="http://schemas.openxmlformats.org/officeDocument/2006/relationships/chart" Target="/ppt/slides/charts/chart1.xml" Id="R96ae47e8616541e3" /><Relationship Type="http://schemas.openxmlformats.org/officeDocument/2006/relationships/notesSlide" Target="/ppt/notesSlides/notesSlide4.xml" Id="R03f98930355c4d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afb785195a49b0" /><Relationship Type="http://schemas.openxmlformats.org/officeDocument/2006/relationships/image" Target="/ppt/media/image6.png" Id="R7582f1b7af324208" /><Relationship Type="http://schemas.openxmlformats.org/officeDocument/2006/relationships/image" Target="/ppt/media/image7.png" Id="Rc3b95d9ffbd44b26" /><Relationship Type="http://schemas.openxmlformats.org/officeDocument/2006/relationships/notesSlide" Target="/ppt/notesSlides/notesSlide5.xml" Id="R52d6b5f556ec4b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0705de4826341d4" /><Relationship Type="http://schemas.openxmlformats.org/officeDocument/2006/relationships/image" Target="/ppt/media/image8.png" Id="Ra00a995dd89947bf" /><Relationship Type="http://schemas.openxmlformats.org/officeDocument/2006/relationships/image" Target="/ppt/media/image9.png" Id="R98fa0f720796435f" /><Relationship Type="http://schemas.openxmlformats.org/officeDocument/2006/relationships/image" Target="/ppt/media/image10.png" Id="R1d3e9576c1cd4324" /><Relationship Type="http://schemas.openxmlformats.org/officeDocument/2006/relationships/notesSlide" Target="/ppt/notesSlides/notesSlide6.xml" Id="R069f01cad4764f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408de8539c4f96" /><Relationship Type="http://schemas.openxmlformats.org/officeDocument/2006/relationships/image" Target="/ppt/media/image11.png" Id="R48789ba720634dd4" /><Relationship Type="http://schemas.openxmlformats.org/officeDocument/2006/relationships/image" Target="/ppt/media/image12.png" Id="Rccf8a2427ab541f0" /><Relationship Type="http://schemas.openxmlformats.org/officeDocument/2006/relationships/image" Target="/ppt/media/image13.png" Id="R9d21a4eed90c4d02" /><Relationship Type="http://schemas.openxmlformats.org/officeDocument/2006/relationships/image" Target="/ppt/media/image14.png" Id="Rf429e8f5fa7c452e" /><Relationship Type="http://schemas.openxmlformats.org/officeDocument/2006/relationships/notesSlide" Target="/ppt/notesSlides/notesSlide7.xml" Id="Rd81201c30bb1440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3cfe5921634753" /><Relationship Type="http://schemas.openxmlformats.org/officeDocument/2006/relationships/image" Target="/ppt/media/image15.png" Id="Rf5f23dbdd3104851" /><Relationship Type="http://schemas.openxmlformats.org/officeDocument/2006/relationships/image" Target="/ppt/media/image16.png" Id="R0adbd8bfd58549b5" /><Relationship Type="http://schemas.openxmlformats.org/officeDocument/2006/relationships/notesSlide" Target="/ppt/notesSlides/notesSlide8.xml" Id="R2670aac97a934b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92ff0c0229d46e8" /><Relationship Type="http://schemas.openxmlformats.org/officeDocument/2006/relationships/image" Target="/ppt/media/image17.png" Id="R09f5b6c8ae9349fe" /><Relationship Type="http://schemas.openxmlformats.org/officeDocument/2006/relationships/image" Target="/ppt/media/image18.png" Id="R9436a8424a3049c5" /><Relationship Type="http://schemas.openxmlformats.org/officeDocument/2006/relationships/image" Target="/ppt/media/image19.png" Id="Rf3f0b688e0f24004" /><Relationship Type="http://schemas.openxmlformats.org/officeDocument/2006/relationships/notesSlide" Target="/ppt/notesSlides/notesSlide9.xml" Id="R79e0181e5eb64c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937c12c444f35" /><Relationship Type="http://schemas.openxmlformats.org/officeDocument/2006/relationships/image" Target="/ppt/media/image20.png" Id="Rf4d729d3837d4f42" /><Relationship Type="http://schemas.openxmlformats.org/officeDocument/2006/relationships/chart" Target="/ppt/slides/charts/chart2.xml" Id="Rd2c27af40fa64c05" /><Relationship Type="http://schemas.openxmlformats.org/officeDocument/2006/relationships/notesSlide" Target="/ppt/notesSlides/notesSlide10.xml" Id="R421181476bc74f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1b2a9b4e164d20" /><Relationship Type="http://schemas.openxmlformats.org/officeDocument/2006/relationships/image" Target="/ppt/media/image21.png" Id="R1a6d12ec68464e3d" /><Relationship Type="http://schemas.openxmlformats.org/officeDocument/2006/relationships/notesSlide" Target="/ppt/notesSlides/notesSlide11.xml" Id="Rb193b45c9c1e425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f5811456b142d1" /><Relationship Type="http://schemas.openxmlformats.org/officeDocument/2006/relationships/image" Target="/ppt/media/image22.png" Id="R0bdefe792cf145a3" /><Relationship Type="http://schemas.openxmlformats.org/officeDocument/2006/relationships/notesSlide" Target="/ppt/notesSlides/notesSlide12.xml" Id="R717cce883bfe465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2bac54aa1a04c11" /><Relationship Type="http://schemas.openxmlformats.org/officeDocument/2006/relationships/notesSlide" Target="/ppt/notesSlides/notesSlide13.xml" Id="Ref7ecf01e61f481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f405dabe97d4858" /><Relationship Type="http://schemas.openxmlformats.org/officeDocument/2006/relationships/image" Target="/ppt/media/image23.png" Id="Rc70695400c4f4ec0" /><Relationship Type="http://schemas.openxmlformats.org/officeDocument/2006/relationships/notesSlide" Target="/ppt/notesSlides/notesSlide14.xml" Id="R15a6b2b4cf7d4e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d4daa3267e4f61" /><Relationship Type="http://schemas.openxmlformats.org/officeDocument/2006/relationships/image" Target="/ppt/media/image24.png" Id="Rca4c26092383444a" /><Relationship Type="http://schemas.openxmlformats.org/officeDocument/2006/relationships/notesSlide" Target="/ppt/notesSlides/notesSlide15.xml" Id="Rd2ac7e5c7d184b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647811b6554094" /><Relationship Type="http://schemas.openxmlformats.org/officeDocument/2006/relationships/image" Target="/ppt/media/image25.png" Id="Rb4cd6d903c4a45a5" /><Relationship Type="http://schemas.openxmlformats.org/officeDocument/2006/relationships/notesSlide" Target="/ppt/notesSlides/notesSlide16.xml" Id="R86d116516d1c455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e4d6140281463d" /><Relationship Type="http://schemas.openxmlformats.org/officeDocument/2006/relationships/image" Target="/ppt/media/image26.png" Id="R7cd9f51b3cc94953" /><Relationship Type="http://schemas.openxmlformats.org/officeDocument/2006/relationships/chart" Target="/ppt/slides/charts/chart3.xml" Id="R5f010956643b462f" /><Relationship Type="http://schemas.openxmlformats.org/officeDocument/2006/relationships/notesSlide" Target="/ppt/notesSlides/notesSlide17.xml" Id="Rdfb4253caa9348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c814c11e3334f91" /><Relationship Type="http://schemas.openxmlformats.org/officeDocument/2006/relationships/image" Target="/ppt/media/image27.png" Id="R29223c9c1dfc49fb" /><Relationship Type="http://schemas.openxmlformats.org/officeDocument/2006/relationships/notesSlide" Target="/ppt/notesSlides/notesSlide18.xml" Id="R140b224a848e42e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71b1d6e68c34215" /><Relationship Type="http://schemas.openxmlformats.org/officeDocument/2006/relationships/image" Target="/ppt/media/image28.png" Id="Rb34237e220284128" /><Relationship Type="http://schemas.openxmlformats.org/officeDocument/2006/relationships/notesSlide" Target="/ppt/notesSlides/notesSlide19.xml" Id="R03de1eb5047f436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274ddc26cc4ea4" /><Relationship Type="http://schemas.openxmlformats.org/officeDocument/2006/relationships/image" Target="/ppt/media/image29.png" Id="R721842afadbf44f3" /><Relationship Type="http://schemas.openxmlformats.org/officeDocument/2006/relationships/notesSlide" Target="/ppt/notesSlides/notesSlide20.xml" Id="Rc60f5edbba93406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0e6829898e47d6" /><Relationship Type="http://schemas.openxmlformats.org/officeDocument/2006/relationships/image" Target="/ppt/media/image30.png" Id="R3f341d1339e3426d" /><Relationship Type="http://schemas.openxmlformats.org/officeDocument/2006/relationships/notesSlide" Target="/ppt/notesSlides/notesSlide21.xml" Id="Rbdef1ee494f647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75ffefafdb4c6c" /><Relationship Type="http://schemas.openxmlformats.org/officeDocument/2006/relationships/chart" Target="/ppt/slides/charts/chart4.xml" Id="R6a4c640096074524" /><Relationship Type="http://schemas.openxmlformats.org/officeDocument/2006/relationships/notesSlide" Target="/ppt/notesSlides/notesSlide22.xml" Id="R8f23e65aa520412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be633c6b37f40ed" /><Relationship Type="http://schemas.openxmlformats.org/officeDocument/2006/relationships/image" Target="/ppt/media/image31.png" Id="Rd376add324834c55" /><Relationship Type="http://schemas.openxmlformats.org/officeDocument/2006/relationships/notesSlide" Target="/ppt/notesSlides/notesSlide23.xml" Id="R710ee8da101e4a2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ce06d7b21e4140" /><Relationship Type="http://schemas.openxmlformats.org/officeDocument/2006/relationships/chart" Target="/ppt/slides/charts/chart5.xml" Id="R9b744bbcb71b43c4" /><Relationship Type="http://schemas.openxmlformats.org/officeDocument/2006/relationships/notesSlide" Target="/ppt/notesSlides/notesSlide24.xml" Id="R11f7e263517a480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9b1751de7f4b2a" /><Relationship Type="http://schemas.openxmlformats.org/officeDocument/2006/relationships/image" Target="/ppt/media/image32.png" Id="Rc8c136143f0b42c9" /><Relationship Type="http://schemas.openxmlformats.org/officeDocument/2006/relationships/chart" Target="/ppt/slides/charts/chart6.xml" Id="R0a55b443bd8b4afd" /><Relationship Type="http://schemas.openxmlformats.org/officeDocument/2006/relationships/notesSlide" Target="/ppt/notesSlides/notesSlide25.xml" Id="R3a80de6945c94ca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a22a0157de3461a" /><Relationship Type="http://schemas.openxmlformats.org/officeDocument/2006/relationships/image" Target="/ppt/media/image33.png" Id="Ra3dcd52c8b09439a" /><Relationship Type="http://schemas.openxmlformats.org/officeDocument/2006/relationships/notesSlide" Target="/ppt/notesSlides/notesSlide26.xml" Id="R2164c0b12ca343b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1829e91c54840b6" /><Relationship Type="http://schemas.openxmlformats.org/officeDocument/2006/relationships/image" Target="/ppt/media/image34.png" Id="R2410c7f795e24cee" /><Relationship Type="http://schemas.openxmlformats.org/officeDocument/2006/relationships/notesSlide" Target="/ppt/notesSlides/notesSlide27.xml" Id="Re355af557a19404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d6db4286fa40c0" /><Relationship Type="http://schemas.openxmlformats.org/officeDocument/2006/relationships/chart" Target="/ppt/slides/charts/chart7.xml" Id="R551dada1b0334c84" /><Relationship Type="http://schemas.openxmlformats.org/officeDocument/2006/relationships/chart" Target="/ppt/slides/charts/chart8.xml" Id="R6176b436b60b4102" /><Relationship Type="http://schemas.openxmlformats.org/officeDocument/2006/relationships/notesSlide" Target="/ppt/notesSlides/notesSlide28.xml" Id="R45b9209e3a4841b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02f3d726384932" /><Relationship Type="http://schemas.openxmlformats.org/officeDocument/2006/relationships/notesSlide" Target="/ppt/notesSlides/notesSlide29.xml" Id="Rb960d6595aab4c42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92f4581ef45463b" /><Relationship Type="http://schemas.openxmlformats.org/officeDocument/2006/relationships/image" Target="/ppt/media/image35.png" Id="R66014e3e8f0b47ec" /><Relationship Type="http://schemas.openxmlformats.org/officeDocument/2006/relationships/image" Target="/ppt/media/image36.png" Id="R7c54fb24de5c49af" /><Relationship Type="http://schemas.openxmlformats.org/officeDocument/2006/relationships/image" Target="/ppt/media/image37.png" Id="R31da2e4223324d55" /><Relationship Type="http://schemas.openxmlformats.org/officeDocument/2006/relationships/notesSlide" Target="/ppt/notesSlides/notesSlide30.xml" Id="R9f2e9fceae574384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bacf217135472f" /><Relationship Type="http://schemas.openxmlformats.org/officeDocument/2006/relationships/image" Target="/ppt/media/image38.png" Id="R9724761eb37d4135" /><Relationship Type="http://schemas.openxmlformats.org/officeDocument/2006/relationships/notesSlide" Target="/ppt/notesSlides/notesSlide31.xml" Id="R00b980d024fc41c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b7eb62561d4d83" /><Relationship Type="http://schemas.openxmlformats.org/officeDocument/2006/relationships/image" Target="/ppt/media/image39.png" Id="R455ed9faed15490c" /><Relationship Type="http://schemas.openxmlformats.org/officeDocument/2006/relationships/notesSlide" Target="/ppt/notesSlides/notesSlide32.xml" Id="Rd4e5568f699f449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7d5dab6fa1468c" /><Relationship Type="http://schemas.openxmlformats.org/officeDocument/2006/relationships/image" Target="/ppt/media/image40.png" Id="R13cd962b40f84b49" /><Relationship Type="http://schemas.openxmlformats.org/officeDocument/2006/relationships/notesSlide" Target="/ppt/notesSlides/notesSlide33.xml" Id="Re09e3e1cd5534ca9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c5eed028e14cb7" /><Relationship Type="http://schemas.openxmlformats.org/officeDocument/2006/relationships/image" Target="/ppt/media/image2.gif" Id="R889c23d2a32547a9" /><Relationship Type="http://schemas.openxmlformats.org/officeDocument/2006/relationships/image" Target="/ppt/media/image3.gif" Id="R11c272025d6a4a82" /><Relationship Type="http://schemas.openxmlformats.org/officeDocument/2006/relationships/notesSlide" Target="/ppt/notesSlides/notesSlide34.xml" Id="R5dc342461b394d3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13cbe4497e46b3" /><Relationship Type="http://schemas.openxmlformats.org/officeDocument/2006/relationships/notesSlide" Target="/ppt/notesSlides/notesSlide35.xml" Id="R2e53808478f04865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交换引起的能级分裂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三重态，3 个态</c:v>
          </c:tx>
          <c:spPr>
            <a:ln xmlns:a="http://schemas.openxmlformats.org/drawingml/2006/main" w="47625">
              <a:solidFill>
                <a:srgbClr val="246B9A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0.05</c:v>
              </c:pt>
              <c:pt idx="1">
                <c:v>0.45</c:v>
              </c:pt>
            </c:numLit>
          </c:xVal>
          <c:yVal>
            <c:numLit>
              <c:formatCode>0.0</c:formatCode>
              <c:ptCount val="2"/>
              <c:pt idx="0">
                <c:v>-1</c:v>
              </c:pt>
              <c:pt idx="1">
                <c:v>-1</c:v>
              </c:pt>
            </c:numLit>
          </c:yVal>
        </c:ser>
        <c:ser>
          <c:idx val="1"/>
          <c:order val="1"/>
          <c:tx>
            <c:v>单重态，1 个态</c:v>
          </c:tx>
          <c:spPr>
            <a:ln xmlns:a="http://schemas.openxmlformats.org/drawingml/2006/main" w="47625">
              <a:solidFill>
                <a:srgbClr val="C95F42"/>
              </a:solidFill>
            </a:ln>
          </c:spPr>
          <c:marker>
            <c:symbol val="none"/>
          </c:marker>
          <c:xVal>
            <c:numLit>
              <c:formatCode>General</c:formatCode>
              <c:ptCount val="2"/>
              <c:pt idx="0">
                <c:v>0.55</c:v>
              </c:pt>
              <c:pt idx="1">
                <c:v>0.95</c:v>
              </c:pt>
            </c:numLit>
          </c:xVal>
          <c:yVal>
            <c:numLit>
              <c:formatCode>0.0</c:formatCode>
              <c:ptCount val="2"/>
              <c:pt idx="0">
                <c:v>1</c:v>
              </c:pt>
              <c:pt idx="1">
                <c:v>1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.5"/>
          <c:min val="-1.5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(E − D) / K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1.5"/>
        <c:majorUnit val="0.5"/>
      </c:valAx>
      <c:valAx>
        <c:axId val="48650112"/>
        <c:scaling>
          <c:orientation val="minMax"/>
          <c:max val="1"/>
          <c:min val="0"/>
        </c:scaling>
        <c:delete val="1"/>
        <c:axPos val="b"/>
        <c:title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0.35 的两个方向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沿 x，qᵧ = 0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2</c:v>
              </c:pt>
              <c:pt idx="1">
                <c:v>1.996917333733128</c:v>
              </c:pt>
              <c:pt idx="2">
                <c:v>1.9876883405951378</c:v>
              </c:pt>
              <c:pt idx="3">
                <c:v>1.9723699203976766</c:v>
              </c:pt>
              <c:pt idx="4">
                <c:v>1.9510565162951536</c:v>
              </c:pt>
              <c:pt idx="5">
                <c:v>1.9238795325112867</c:v>
              </c:pt>
              <c:pt idx="6">
                <c:v>1.8910065241883678</c:v>
              </c:pt>
              <c:pt idx="7">
                <c:v>1.8526401643540922</c:v>
              </c:pt>
              <c:pt idx="8">
                <c:v>1.8090169943749475</c:v>
              </c:pt>
              <c:pt idx="9">
                <c:v>1.760405965600031</c:v>
              </c:pt>
              <c:pt idx="10">
                <c:v>1.7071067811865475</c:v>
              </c:pt>
              <c:pt idx="11">
                <c:v>1.6494480483301834</c:v>
              </c:pt>
              <c:pt idx="12">
                <c:v>1.587785252292473</c:v>
              </c:pt>
              <c:pt idx="13">
                <c:v>1.5224985647159488</c:v>
              </c:pt>
              <c:pt idx="14">
                <c:v>1.4539904997395467</c:v>
              </c:pt>
              <c:pt idx="15">
                <c:v>1.3826834323650896</c:v>
              </c:pt>
              <c:pt idx="16">
                <c:v>1.3090169943749475</c:v>
              </c:pt>
              <c:pt idx="17">
                <c:v>1.2334453638559053</c:v>
              </c:pt>
              <c:pt idx="18">
                <c:v>1.1564344650402307</c:v>
              </c:pt>
              <c:pt idx="19">
                <c:v>1.0784590957278448</c:v>
              </c:pt>
              <c:pt idx="20">
                <c:v>0.9999999999999999</c:v>
              </c:pt>
              <c:pt idx="21">
                <c:v>0.921540904272155</c:v>
              </c:pt>
              <c:pt idx="22">
                <c:v>0.843565534959769</c:v>
              </c:pt>
              <c:pt idx="23">
                <c:v>0.7665546361440945</c:v>
              </c:pt>
              <c:pt idx="24">
                <c:v>0.6909830056250525</c:v>
              </c:pt>
              <c:pt idx="25">
                <c:v>0.6173165676349102</c:v>
              </c:pt>
              <c:pt idx="26">
                <c:v>0.5460095002604533</c:v>
              </c:pt>
              <c:pt idx="27">
                <c:v>0.4775014352840511</c:v>
              </c:pt>
              <c:pt idx="28">
                <c:v>0.41221474770752686</c:v>
              </c:pt>
              <c:pt idx="29">
                <c:v>0.35055195166981634</c:v>
              </c:pt>
              <c:pt idx="30">
                <c:v>0.2928932188134524</c:v>
              </c:pt>
              <c:pt idx="31">
                <c:v>0.23959403439996907</c:v>
              </c:pt>
              <c:pt idx="32">
                <c:v>0.19098300562505255</c:v>
              </c:pt>
              <c:pt idx="33">
                <c:v>0.1473598356459077</c:v>
              </c:pt>
              <c:pt idx="34">
                <c:v>0.1089934758116321</c:v>
              </c:pt>
              <c:pt idx="35">
                <c:v>0.07612046748871326</c:v>
              </c:pt>
              <c:pt idx="36">
                <c:v>0.04894348370484647</c:v>
              </c:pt>
              <c:pt idx="37">
                <c:v>0.027630079602323443</c:v>
              </c:pt>
              <c:pt idx="38">
                <c:v>0.01231165940486223</c:v>
              </c:pt>
              <c:pt idx="39">
                <c:v>0.003082666266872036</c:v>
              </c:pt>
              <c:pt idx="40">
                <c:v>0</c:v>
              </c:pt>
              <c:pt idx="41">
                <c:v>0.003082666266872036</c:v>
              </c:pt>
              <c:pt idx="42">
                <c:v>0.01231165940486223</c:v>
              </c:pt>
              <c:pt idx="43">
                <c:v>0.027630079602323443</c:v>
              </c:pt>
              <c:pt idx="44">
                <c:v>0.04894348370484647</c:v>
              </c:pt>
              <c:pt idx="45">
                <c:v>0.07612046748871326</c:v>
              </c:pt>
              <c:pt idx="46">
                <c:v>0.1089934758116321</c:v>
              </c:pt>
              <c:pt idx="47">
                <c:v>0.1473598356459077</c:v>
              </c:pt>
              <c:pt idx="48">
                <c:v>0.19098300562505255</c:v>
              </c:pt>
              <c:pt idx="49">
                <c:v>0.23959403439996907</c:v>
              </c:pt>
              <c:pt idx="50">
                <c:v>0.2928932188134524</c:v>
              </c:pt>
              <c:pt idx="51">
                <c:v>0.350551951669816</c:v>
              </c:pt>
              <c:pt idx="52">
                <c:v>0.41221474770752686</c:v>
              </c:pt>
              <c:pt idx="53">
                <c:v>0.47750143528405153</c:v>
              </c:pt>
              <c:pt idx="54">
                <c:v>0.5460095002604533</c:v>
              </c:pt>
              <c:pt idx="55">
                <c:v>0.6173165676349097</c:v>
              </c:pt>
              <c:pt idx="56">
                <c:v>0.6909830056250525</c:v>
              </c:pt>
              <c:pt idx="57">
                <c:v>0.7665546361440949</c:v>
              </c:pt>
              <c:pt idx="58">
                <c:v>0.843565534959769</c:v>
              </c:pt>
              <c:pt idx="59">
                <c:v>0.9215409042721545</c:v>
              </c:pt>
              <c:pt idx="60">
                <c:v>0.9999999999999999</c:v>
              </c:pt>
              <c:pt idx="61">
                <c:v>1.0784590957278453</c:v>
              </c:pt>
              <c:pt idx="62">
                <c:v>1.1564344650402307</c:v>
              </c:pt>
              <c:pt idx="63">
                <c:v>1.2334453638559049</c:v>
              </c:pt>
              <c:pt idx="64">
                <c:v>1.3090169943749475</c:v>
              </c:pt>
              <c:pt idx="65">
                <c:v>1.38268343236509</c:v>
              </c:pt>
              <c:pt idx="66">
                <c:v>1.4539904997395467</c:v>
              </c:pt>
              <c:pt idx="67">
                <c:v>1.5224985647159484</c:v>
              </c:pt>
              <c:pt idx="68">
                <c:v>1.587785252292473</c:v>
              </c:pt>
              <c:pt idx="69">
                <c:v>1.6494480483301839</c:v>
              </c:pt>
              <c:pt idx="70">
                <c:v>1.7071067811865475</c:v>
              </c:pt>
              <c:pt idx="71">
                <c:v>1.7604059656000306</c:v>
              </c:pt>
              <c:pt idx="72">
                <c:v>1.8090169943749475</c:v>
              </c:pt>
              <c:pt idx="73">
                <c:v>1.8526401643540924</c:v>
              </c:pt>
              <c:pt idx="74">
                <c:v>1.8910065241883678</c:v>
              </c:pt>
              <c:pt idx="75">
                <c:v>1.9238795325112865</c:v>
              </c:pt>
              <c:pt idx="76">
                <c:v>1.9510565162951536</c:v>
              </c:pt>
              <c:pt idx="77">
                <c:v>1.9723699203976768</c:v>
              </c:pt>
              <c:pt idx="78">
                <c:v>1.9876883405951378</c:v>
              </c:pt>
              <c:pt idx="79">
                <c:v>1.996917333733128</c:v>
              </c:pt>
              <c:pt idx="80">
                <c:v>2</c:v>
              </c:pt>
            </c:numLit>
          </c:yVal>
        </c:ser>
        <c:ser>
          <c:idx val="1"/>
          <c:order val="1"/>
          <c:tx>
            <c:v>沿 y，qₓ = 0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-3.141592653589793</c:v>
              </c:pt>
              <c:pt idx="1">
                <c:v>-3.0630528372500483</c:v>
              </c:pt>
              <c:pt idx="2">
                <c:v>-2.9845130209103035</c:v>
              </c:pt>
              <c:pt idx="3">
                <c:v>-2.9059732045705586</c:v>
              </c:pt>
              <c:pt idx="4">
                <c:v>-2.827433388230814</c:v>
              </c:pt>
              <c:pt idx="5">
                <c:v>-2.748893571891069</c:v>
              </c:pt>
              <c:pt idx="6">
                <c:v>-2.670353755551324</c:v>
              </c:pt>
              <c:pt idx="7">
                <c:v>-2.5918139392115793</c:v>
              </c:pt>
              <c:pt idx="8">
                <c:v>-2.5132741228718345</c:v>
              </c:pt>
              <c:pt idx="9">
                <c:v>-2.4347343065320897</c:v>
              </c:pt>
              <c:pt idx="10">
                <c:v>-2.356194490192345</c:v>
              </c:pt>
              <c:pt idx="11">
                <c:v>-2.2776546738526</c:v>
              </c:pt>
              <c:pt idx="12">
                <c:v>-2.199114857512855</c:v>
              </c:pt>
              <c:pt idx="13">
                <c:v>-2.1205750411731104</c:v>
              </c:pt>
              <c:pt idx="14">
                <c:v>-2.0420352248333655</c:v>
              </c:pt>
              <c:pt idx="15">
                <c:v>-1.9634954084936207</c:v>
              </c:pt>
              <c:pt idx="16">
                <c:v>-1.8849555921538759</c:v>
              </c:pt>
              <c:pt idx="17">
                <c:v>-1.806415775814131</c:v>
              </c:pt>
              <c:pt idx="18">
                <c:v>-1.7278759594743862</c:v>
              </c:pt>
              <c:pt idx="19">
                <c:v>-1.6493361431346414</c:v>
              </c:pt>
              <c:pt idx="20">
                <c:v>-1.5707963267948966</c:v>
              </c:pt>
              <c:pt idx="21">
                <c:v>-1.4922565104551517</c:v>
              </c:pt>
              <c:pt idx="22">
                <c:v>-1.413716694115407</c:v>
              </c:pt>
              <c:pt idx="23">
                <c:v>-1.335176877775662</c:v>
              </c:pt>
              <c:pt idx="24">
                <c:v>-1.2566370614359172</c:v>
              </c:pt>
              <c:pt idx="25">
                <c:v>-1.1780972450961724</c:v>
              </c:pt>
              <c:pt idx="26">
                <c:v>-1.0995574287564276</c:v>
              </c:pt>
              <c:pt idx="27">
                <c:v>-1.0210176124166828</c:v>
              </c:pt>
              <c:pt idx="28">
                <c:v>-0.9424777960769379</c:v>
              </c:pt>
              <c:pt idx="29">
                <c:v>-0.8639379797371931</c:v>
              </c:pt>
              <c:pt idx="30">
                <c:v>-0.7853981633974483</c:v>
              </c:pt>
              <c:pt idx="31">
                <c:v>-0.7068583470577035</c:v>
              </c:pt>
              <c:pt idx="32">
                <c:v>-0.6283185307179586</c:v>
              </c:pt>
              <c:pt idx="33">
                <c:v>-0.5497787143782138</c:v>
              </c:pt>
              <c:pt idx="34">
                <c:v>-0.47123889803846897</c:v>
              </c:pt>
              <c:pt idx="35">
                <c:v>-0.39269908169872414</c:v>
              </c:pt>
              <c:pt idx="36">
                <c:v>-0.3141592653589793</c:v>
              </c:pt>
              <c:pt idx="37">
                <c:v>-0.23561944901923448</c:v>
              </c:pt>
              <c:pt idx="38">
                <c:v>-0.15707963267948966</c:v>
              </c:pt>
              <c:pt idx="39">
                <c:v>-0.07853981633974483</c:v>
              </c:pt>
              <c:pt idx="40">
                <c:v>0</c:v>
              </c:pt>
              <c:pt idx="41">
                <c:v>0.07853981633974483</c:v>
              </c:pt>
              <c:pt idx="42">
                <c:v>0.15707963267948966</c:v>
              </c:pt>
              <c:pt idx="43">
                <c:v>0.23561944901923448</c:v>
              </c:pt>
              <c:pt idx="44">
                <c:v>0.3141592653589793</c:v>
              </c:pt>
              <c:pt idx="45">
                <c:v>0.39269908169872414</c:v>
              </c:pt>
              <c:pt idx="46">
                <c:v>0.47123889803846897</c:v>
              </c:pt>
              <c:pt idx="47">
                <c:v>0.5497787143782138</c:v>
              </c:pt>
              <c:pt idx="48">
                <c:v>0.6283185307179586</c:v>
              </c:pt>
              <c:pt idx="49">
                <c:v>0.7068583470577035</c:v>
              </c:pt>
              <c:pt idx="50">
                <c:v>0.7853981633974483</c:v>
              </c:pt>
              <c:pt idx="51">
                <c:v>0.8639379797371927</c:v>
              </c:pt>
              <c:pt idx="52">
                <c:v>0.9424777960769379</c:v>
              </c:pt>
              <c:pt idx="53">
                <c:v>1.0210176124166832</c:v>
              </c:pt>
              <c:pt idx="54">
                <c:v>1.0995574287564276</c:v>
              </c:pt>
              <c:pt idx="55">
                <c:v>1.178097245096172</c:v>
              </c:pt>
              <c:pt idx="56">
                <c:v>1.2566370614359172</c:v>
              </c:pt>
              <c:pt idx="57">
                <c:v>1.3351768777756625</c:v>
              </c:pt>
              <c:pt idx="58">
                <c:v>1.413716694115407</c:v>
              </c:pt>
              <c:pt idx="59">
                <c:v>1.4922565104551513</c:v>
              </c:pt>
              <c:pt idx="60">
                <c:v>1.5707963267948966</c:v>
              </c:pt>
              <c:pt idx="61">
                <c:v>1.6493361431346418</c:v>
              </c:pt>
              <c:pt idx="62">
                <c:v>1.7278759594743862</c:v>
              </c:pt>
              <c:pt idx="63">
                <c:v>1.8064157758141306</c:v>
              </c:pt>
              <c:pt idx="64">
                <c:v>1.8849555921538759</c:v>
              </c:pt>
              <c:pt idx="65">
                <c:v>1.9634954084936211</c:v>
              </c:pt>
              <c:pt idx="66">
                <c:v>2.0420352248333655</c:v>
              </c:pt>
              <c:pt idx="67">
                <c:v>2.12057504117311</c:v>
              </c:pt>
              <c:pt idx="68">
                <c:v>2.199114857512855</c:v>
              </c:pt>
              <c:pt idx="69">
                <c:v>2.2776546738526005</c:v>
              </c:pt>
              <c:pt idx="70">
                <c:v>2.356194490192345</c:v>
              </c:pt>
              <c:pt idx="71">
                <c:v>2.434734306532089</c:v>
              </c:pt>
              <c:pt idx="72">
                <c:v>2.5132741228718345</c:v>
              </c:pt>
              <c:pt idx="73">
                <c:v>2.5918139392115798</c:v>
              </c:pt>
              <c:pt idx="74">
                <c:v>2.670353755551324</c:v>
              </c:pt>
              <c:pt idx="75">
                <c:v>2.7488935718910685</c:v>
              </c:pt>
              <c:pt idx="76">
                <c:v>2.827433388230814</c:v>
              </c:pt>
              <c:pt idx="77">
                <c:v>2.905973204570559</c:v>
              </c:pt>
              <c:pt idx="78">
                <c:v>2.9845130209103035</c:v>
              </c:pt>
              <c:pt idx="79">
                <c:v>3.063052837250048</c:v>
              </c:pt>
              <c:pt idx="80">
                <c:v>3.141592653589793</c:v>
              </c:pt>
            </c:numLit>
          </c:xVal>
          <c:yVal>
            <c:numLit>
              <c:formatCode>0.0</c:formatCode>
              <c:ptCount val="81"/>
              <c:pt idx="0">
                <c:v>0.7</c:v>
              </c:pt>
              <c:pt idx="1">
                <c:v>0.6989210668065948</c:v>
              </c:pt>
              <c:pt idx="2">
                <c:v>0.6956909192082982</c:v>
              </c:pt>
              <c:pt idx="3">
                <c:v>0.6903294721391867</c:v>
              </c:pt>
              <c:pt idx="4">
                <c:v>0.6828697807033037</c:v>
              </c:pt>
              <c:pt idx="5">
                <c:v>0.6733578363789503</c:v>
              </c:pt>
              <c:pt idx="6">
                <c:v>0.6618522834659287</c:v>
              </c:pt>
              <c:pt idx="7">
                <c:v>0.6484240575239322</c:v>
              </c:pt>
              <c:pt idx="8">
                <c:v>0.6331559480312315</c:v>
              </c:pt>
              <c:pt idx="9">
                <c:v>0.6161420879600108</c:v>
              </c:pt>
              <c:pt idx="10">
                <c:v>0.5974873734152916</c:v>
              </c:pt>
              <c:pt idx="11">
                <c:v>0.5773068169155642</c:v>
              </c:pt>
              <c:pt idx="12">
                <c:v>0.5557248383023655</c:v>
              </c:pt>
              <c:pt idx="13">
                <c:v>0.532874497650582</c:v>
              </c:pt>
              <c:pt idx="14">
                <c:v>0.5088966749088414</c:v>
              </c:pt>
              <c:pt idx="15">
                <c:v>0.48393920132778134</c:v>
              </c:pt>
              <c:pt idx="16">
                <c:v>0.45815594803123155</c:v>
              </c:pt>
              <c:pt idx="17">
                <c:v>0.43170587734956684</c:v>
              </c:pt>
              <c:pt idx="18">
                <c:v>0.4047520627640807</c:v>
              </c:pt>
              <c:pt idx="19">
                <c:v>0.37746068350474565</c:v>
              </c:pt>
              <c:pt idx="20">
                <c:v>0.3499999999999999</c:v>
              </c:pt>
              <c:pt idx="21">
                <c:v>0.3225393164952542</c:v>
              </c:pt>
              <c:pt idx="22">
                <c:v>0.29524793723591913</c:v>
              </c:pt>
              <c:pt idx="23">
                <c:v>0.26829412265043306</c:v>
              </c:pt>
              <c:pt idx="24">
                <c:v>0.24184405196876838</c:v>
              </c:pt>
              <c:pt idx="25">
                <c:v>0.21606079867221856</c:v>
              </c:pt>
              <c:pt idx="26">
                <c:v>0.19110332509115863</c:v>
              </c:pt>
              <c:pt idx="27">
                <c:v>0.16712550234941786</c:v>
              </c:pt>
              <c:pt idx="28">
                <c:v>0.14427516169763438</c:v>
              </c:pt>
              <c:pt idx="29">
                <c:v>0.1226931830844357</c:v>
              </c:pt>
              <c:pt idx="30">
                <c:v>0.10251262658470835</c:v>
              </c:pt>
              <c:pt idx="31">
                <c:v>0.08385791203998917</c:v>
              </c:pt>
              <c:pt idx="32">
                <c:v>0.06684405196876839</c:v>
              </c:pt>
              <c:pt idx="33">
                <c:v>0.0515759424760677</c:v>
              </c:pt>
              <c:pt idx="34">
                <c:v>0.03814771653407123</c:v>
              </c:pt>
              <c:pt idx="35">
                <c:v>0.02664216362104964</c:v>
              </c:pt>
              <c:pt idx="36">
                <c:v>0.017130219296696263</c:v>
              </c:pt>
              <c:pt idx="37">
                <c:v>0.009670527860813204</c:v>
              </c:pt>
              <c:pt idx="38">
                <c:v>0.00430908079170178</c:v>
              </c:pt>
              <c:pt idx="39">
                <c:v>0.0010789331934052127</c:v>
              </c:pt>
              <c:pt idx="40">
                <c:v>0</c:v>
              </c:pt>
              <c:pt idx="41">
                <c:v>0.0010789331934052127</c:v>
              </c:pt>
              <c:pt idx="42">
                <c:v>0.00430908079170178</c:v>
              </c:pt>
              <c:pt idx="43">
                <c:v>0.009670527860813204</c:v>
              </c:pt>
              <c:pt idx="44">
                <c:v>0.017130219296696263</c:v>
              </c:pt>
              <c:pt idx="45">
                <c:v>0.02664216362104964</c:v>
              </c:pt>
              <c:pt idx="46">
                <c:v>0.03814771653407123</c:v>
              </c:pt>
              <c:pt idx="47">
                <c:v>0.0515759424760677</c:v>
              </c:pt>
              <c:pt idx="48">
                <c:v>0.06684405196876839</c:v>
              </c:pt>
              <c:pt idx="49">
                <c:v>0.08385791203998917</c:v>
              </c:pt>
              <c:pt idx="50">
                <c:v>0.10251262658470835</c:v>
              </c:pt>
              <c:pt idx="51">
                <c:v>0.1226931830844356</c:v>
              </c:pt>
              <c:pt idx="52">
                <c:v>0.14427516169763438</c:v>
              </c:pt>
              <c:pt idx="53">
                <c:v>0.16712550234941803</c:v>
              </c:pt>
              <c:pt idx="54">
                <c:v>0.19110332509115863</c:v>
              </c:pt>
              <c:pt idx="55">
                <c:v>0.2160607986722184</c:v>
              </c:pt>
              <c:pt idx="56">
                <c:v>0.24184405196876838</c:v>
              </c:pt>
              <c:pt idx="57">
                <c:v>0.2682941226504332</c:v>
              </c:pt>
              <c:pt idx="58">
                <c:v>0.29524793723591913</c:v>
              </c:pt>
              <c:pt idx="59">
                <c:v>0.3225393164952541</c:v>
              </c:pt>
              <c:pt idx="60">
                <c:v>0.3499999999999999</c:v>
              </c:pt>
              <c:pt idx="61">
                <c:v>0.3774606835047458</c:v>
              </c:pt>
              <c:pt idx="62">
                <c:v>0.4047520627640807</c:v>
              </c:pt>
              <c:pt idx="63">
                <c:v>0.43170587734956667</c:v>
              </c:pt>
              <c:pt idx="64">
                <c:v>0.45815594803123155</c:v>
              </c:pt>
              <c:pt idx="65">
                <c:v>0.4839392013277815</c:v>
              </c:pt>
              <c:pt idx="66">
                <c:v>0.5088966749088414</c:v>
              </c:pt>
              <c:pt idx="67">
                <c:v>0.5328744976505819</c:v>
              </c:pt>
              <c:pt idx="68">
                <c:v>0.5557248383023655</c:v>
              </c:pt>
              <c:pt idx="69">
                <c:v>0.5773068169155643</c:v>
              </c:pt>
              <c:pt idx="70">
                <c:v>0.5974873734152916</c:v>
              </c:pt>
              <c:pt idx="71">
                <c:v>0.6161420879600107</c:v>
              </c:pt>
              <c:pt idx="72">
                <c:v>0.6331559480312315</c:v>
              </c:pt>
              <c:pt idx="73">
                <c:v>0.6484240575239323</c:v>
              </c:pt>
              <c:pt idx="74">
                <c:v>0.6618522834659287</c:v>
              </c:pt>
              <c:pt idx="75">
                <c:v>0.6733578363789502</c:v>
              </c:pt>
              <c:pt idx="76">
                <c:v>0.6828697807033037</c:v>
              </c:pt>
              <c:pt idx="77">
                <c:v>0.6903294721391868</c:v>
              </c:pt>
              <c:pt idx="78">
                <c:v>0.6956909192082982</c:v>
              </c:pt>
              <c:pt idx="79">
                <c:v>0.6989210668065948</c:v>
              </c:pt>
              <c:pt idx="80">
                <c:v>0.7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2.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ε / Jₓ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</c:valAx>
      <c:val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q = ka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-3.141592653589793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RMS 宽度的弹道增长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η = 1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0.3535533905932738</c:v>
              </c:pt>
              <c:pt idx="2">
                <c:v>0.7071067811865476</c:v>
              </c:pt>
              <c:pt idx="3">
                <c:v>1.0606601717798212</c:v>
              </c:pt>
              <c:pt idx="4">
                <c:v>1.4142135623730951</c:v>
              </c:pt>
              <c:pt idx="5">
                <c:v>1.7677669529663689</c:v>
              </c:pt>
              <c:pt idx="6">
                <c:v>2.1213203435596424</c:v>
              </c:pt>
              <c:pt idx="7">
                <c:v>2.4748737341529163</c:v>
              </c:pt>
              <c:pt idx="8">
                <c:v>2.8284271247461903</c:v>
              </c:pt>
              <c:pt idx="9">
                <c:v>3.181980515339464</c:v>
              </c:pt>
              <c:pt idx="10">
                <c:v>3.5355339059327378</c:v>
              </c:pt>
              <c:pt idx="11">
                <c:v>3.8890872965260113</c:v>
              </c:pt>
              <c:pt idx="12">
                <c:v>4.242640687119285</c:v>
              </c:pt>
              <c:pt idx="13">
                <c:v>4.596194077712559</c:v>
              </c:pt>
              <c:pt idx="14">
                <c:v>4.949747468305833</c:v>
              </c:pt>
              <c:pt idx="15">
                <c:v>5.303300858899106</c:v>
              </c:pt>
              <c:pt idx="16">
                <c:v>5.656854249492381</c:v>
              </c:pt>
              <c:pt idx="17">
                <c:v>6.010407640085654</c:v>
              </c:pt>
              <c:pt idx="18">
                <c:v>6.363961030678928</c:v>
              </c:pt>
              <c:pt idx="19">
                <c:v>6.7175144212722016</c:v>
              </c:pt>
              <c:pt idx="20">
                <c:v>7.0710678118654755</c:v>
              </c:pt>
              <c:pt idx="21">
                <c:v>7.424621202458749</c:v>
              </c:pt>
              <c:pt idx="22">
                <c:v>7.7781745930520225</c:v>
              </c:pt>
              <c:pt idx="23">
                <c:v>8.131727983645296</c:v>
              </c:pt>
              <c:pt idx="24">
                <c:v>8.48528137423857</c:v>
              </c:pt>
              <c:pt idx="25">
                <c:v>8.838834764831843</c:v>
              </c:pt>
              <c:pt idx="26">
                <c:v>9.192388155425117</c:v>
              </c:pt>
              <c:pt idx="27">
                <c:v>9.54594154601839</c:v>
              </c:pt>
              <c:pt idx="28">
                <c:v>9.899494936611664</c:v>
              </c:pt>
              <c:pt idx="29">
                <c:v>10.253048327204938</c:v>
              </c:pt>
              <c:pt idx="30">
                <c:v>10.606601717798213</c:v>
              </c:pt>
              <c:pt idx="31">
                <c:v>10.960155108391486</c:v>
              </c:pt>
              <c:pt idx="32">
                <c:v>11.313708498984761</c:v>
              </c:pt>
              <c:pt idx="33">
                <c:v>11.667261889578034</c:v>
              </c:pt>
              <c:pt idx="34">
                <c:v>12.020815280171307</c:v>
              </c:pt>
              <c:pt idx="35">
                <c:v>12.374368670764582</c:v>
              </c:pt>
              <c:pt idx="36">
                <c:v>12.727922061357855</c:v>
              </c:pt>
              <c:pt idx="37">
                <c:v>13.08147545195113</c:v>
              </c:pt>
              <c:pt idx="38">
                <c:v>13.435028842544403</c:v>
              </c:pt>
              <c:pt idx="39">
                <c:v>13.788582233137676</c:v>
              </c:pt>
              <c:pt idx="40">
                <c:v>14.142135623730951</c:v>
              </c:pt>
              <c:pt idx="41">
                <c:v>14.495689014324224</c:v>
              </c:pt>
              <c:pt idx="42">
                <c:v>14.849242404917497</c:v>
              </c:pt>
              <c:pt idx="43">
                <c:v>15.202795795510774</c:v>
              </c:pt>
              <c:pt idx="44">
                <c:v>15.556349186104047</c:v>
              </c:pt>
              <c:pt idx="45">
                <c:v>15.909902576697322</c:v>
              </c:pt>
              <c:pt idx="46">
                <c:v>16.263455967290593</c:v>
              </c:pt>
              <c:pt idx="47">
                <c:v>16.617009357883866</c:v>
              </c:pt>
              <c:pt idx="48">
                <c:v>16.970562748477143</c:v>
              </c:pt>
              <c:pt idx="49">
                <c:v>17.324116139070416</c:v>
              </c:pt>
              <c:pt idx="50">
                <c:v>17.67766952966369</c:v>
              </c:pt>
              <c:pt idx="51">
                <c:v>18.031222920256962</c:v>
              </c:pt>
              <c:pt idx="52">
                <c:v>18.38477631085024</c:v>
              </c:pt>
              <c:pt idx="53">
                <c:v>18.73832970144351</c:v>
              </c:pt>
              <c:pt idx="54">
                <c:v>19.091883092036785</c:v>
              </c:pt>
              <c:pt idx="55">
                <c:v>19.445436482630058</c:v>
              </c:pt>
              <c:pt idx="56">
                <c:v>19.79898987322333</c:v>
              </c:pt>
              <c:pt idx="57">
                <c:v>20.1525432638166</c:v>
              </c:pt>
              <c:pt idx="58">
                <c:v>20.506096654409877</c:v>
              </c:pt>
              <c:pt idx="59">
                <c:v>20.859650045003153</c:v>
              </c:pt>
              <c:pt idx="60">
                <c:v>21.213203435596427</c:v>
              </c:pt>
              <c:pt idx="61">
                <c:v>21.566756826189696</c:v>
              </c:pt>
              <c:pt idx="62">
                <c:v>21.92031021678297</c:v>
              </c:pt>
              <c:pt idx="63">
                <c:v>22.273863607376246</c:v>
              </c:pt>
              <c:pt idx="64">
                <c:v>22.627416997969522</c:v>
              </c:pt>
              <c:pt idx="65">
                <c:v>22.980970388562795</c:v>
              </c:pt>
              <c:pt idx="66">
                <c:v>23.334523779156065</c:v>
              </c:pt>
              <c:pt idx="67">
                <c:v>23.688077169749338</c:v>
              </c:pt>
              <c:pt idx="68">
                <c:v>24.041630560342615</c:v>
              </c:pt>
              <c:pt idx="69">
                <c:v>24.39518395093589</c:v>
              </c:pt>
              <c:pt idx="70">
                <c:v>24.748737341529164</c:v>
              </c:pt>
              <c:pt idx="71">
                <c:v>25.102290732122437</c:v>
              </c:pt>
              <c:pt idx="72">
                <c:v>25.45584412271571</c:v>
              </c:pt>
              <c:pt idx="73">
                <c:v>25.809397513308983</c:v>
              </c:pt>
              <c:pt idx="74">
                <c:v>26.162950903902257</c:v>
              </c:pt>
              <c:pt idx="75">
                <c:v>26.516504294495533</c:v>
              </c:pt>
              <c:pt idx="76">
                <c:v>26.870057685088806</c:v>
              </c:pt>
              <c:pt idx="77">
                <c:v>27.22361107568208</c:v>
              </c:pt>
              <c:pt idx="78">
                <c:v>27.577164466275352</c:v>
              </c:pt>
              <c:pt idx="79">
                <c:v>27.930717856868622</c:v>
              </c:pt>
              <c:pt idx="80">
                <c:v>28.2842712474619</c:v>
              </c:pt>
            </c:numLit>
          </c:yVal>
        </c:ser>
        <c:ser>
          <c:idx val="1"/>
          <c:order val="1"/>
          <c:tx>
            <c:v>η = 0.3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0.10606601717798214</c:v>
              </c:pt>
              <c:pt idx="2">
                <c:v>0.21213203435596428</c:v>
              </c:pt>
              <c:pt idx="3">
                <c:v>0.31819805153394637</c:v>
              </c:pt>
              <c:pt idx="4">
                <c:v>0.42426406871192845</c:v>
              </c:pt>
              <c:pt idx="5">
                <c:v>0.5303300858899105</c:v>
              </c:pt>
              <c:pt idx="6">
                <c:v>0.6363961030678927</c:v>
              </c:pt>
              <c:pt idx="7">
                <c:v>0.742462120245875</c:v>
              </c:pt>
              <c:pt idx="8">
                <c:v>0.848528137423857</c:v>
              </c:pt>
              <c:pt idx="9">
                <c:v>0.954594154601839</c:v>
              </c:pt>
              <c:pt idx="10">
                <c:v>1.0606601717798212</c:v>
              </c:pt>
              <c:pt idx="11">
                <c:v>1.1667261889578031</c:v>
              </c:pt>
              <c:pt idx="12">
                <c:v>1.2727922061357855</c:v>
              </c:pt>
              <c:pt idx="13">
                <c:v>1.3788582233137674</c:v>
              </c:pt>
              <c:pt idx="14">
                <c:v>1.4849242404917498</c:v>
              </c:pt>
              <c:pt idx="15">
                <c:v>1.590990257669732</c:v>
              </c:pt>
              <c:pt idx="16">
                <c:v>1.697056274847714</c:v>
              </c:pt>
              <c:pt idx="17">
                <c:v>1.8031222920256962</c:v>
              </c:pt>
              <c:pt idx="18">
                <c:v>1.9091883092036785</c:v>
              </c:pt>
              <c:pt idx="19">
                <c:v>2.0152543263816605</c:v>
              </c:pt>
              <c:pt idx="20">
                <c:v>2.121320343559643</c:v>
              </c:pt>
              <c:pt idx="21">
                <c:v>2.2273863607376247</c:v>
              </c:pt>
              <c:pt idx="22">
                <c:v>2.333452377915607</c:v>
              </c:pt>
              <c:pt idx="23">
                <c:v>2.439518395093589</c:v>
              </c:pt>
              <c:pt idx="24">
                <c:v>2.545584412271571</c:v>
              </c:pt>
              <c:pt idx="25">
                <c:v>2.651650429449553</c:v>
              </c:pt>
              <c:pt idx="26">
                <c:v>2.7577164466275352</c:v>
              </c:pt>
              <c:pt idx="27">
                <c:v>2.8637824638055176</c:v>
              </c:pt>
              <c:pt idx="28">
                <c:v>2.9698484809834995</c:v>
              </c:pt>
              <c:pt idx="29">
                <c:v>3.0759144981614814</c:v>
              </c:pt>
              <c:pt idx="30">
                <c:v>3.181980515339464</c:v>
              </c:pt>
              <c:pt idx="31">
                <c:v>3.2880465325174457</c:v>
              </c:pt>
              <c:pt idx="32">
                <c:v>3.394112549695428</c:v>
              </c:pt>
              <c:pt idx="33">
                <c:v>3.50017856687341</c:v>
              </c:pt>
              <c:pt idx="34">
                <c:v>3.6062445840513924</c:v>
              </c:pt>
              <c:pt idx="35">
                <c:v>3.7123106012293743</c:v>
              </c:pt>
              <c:pt idx="36">
                <c:v>3.818376618407356</c:v>
              </c:pt>
              <c:pt idx="37">
                <c:v>3.924442635585339</c:v>
              </c:pt>
              <c:pt idx="38">
                <c:v>4.030508652763321</c:v>
              </c:pt>
              <c:pt idx="39">
                <c:v>4.136574669941303</c:v>
              </c:pt>
              <c:pt idx="40">
                <c:v>4.242640687119285</c:v>
              </c:pt>
              <c:pt idx="41">
                <c:v>4.348706704297268</c:v>
              </c:pt>
              <c:pt idx="42">
                <c:v>4.4547727214752495</c:v>
              </c:pt>
              <c:pt idx="43">
                <c:v>4.5608387386532305</c:v>
              </c:pt>
              <c:pt idx="44">
                <c:v>4.666904755831214</c:v>
              </c:pt>
              <c:pt idx="45">
                <c:v>4.772970773009196</c:v>
              </c:pt>
              <c:pt idx="46">
                <c:v>4.879036790187177</c:v>
              </c:pt>
              <c:pt idx="47">
                <c:v>4.98510280736516</c:v>
              </c:pt>
              <c:pt idx="48">
                <c:v>5.091168824543142</c:v>
              </c:pt>
              <c:pt idx="49">
                <c:v>5.197234841721124</c:v>
              </c:pt>
              <c:pt idx="50">
                <c:v>5.303300858899106</c:v>
              </c:pt>
              <c:pt idx="51">
                <c:v>5.409366876077088</c:v>
              </c:pt>
              <c:pt idx="52">
                <c:v>5.5154328932550705</c:v>
              </c:pt>
              <c:pt idx="53">
                <c:v>5.621498910433052</c:v>
              </c:pt>
              <c:pt idx="54">
                <c:v>5.727564927611035</c:v>
              </c:pt>
              <c:pt idx="55">
                <c:v>5.833630944789016</c:v>
              </c:pt>
              <c:pt idx="56">
                <c:v>5.939696961966999</c:v>
              </c:pt>
              <c:pt idx="57">
                <c:v>6.04576297914498</c:v>
              </c:pt>
              <c:pt idx="58">
                <c:v>6.151828996322964</c:v>
              </c:pt>
              <c:pt idx="59">
                <c:v>6.257895013500945</c:v>
              </c:pt>
              <c:pt idx="60">
                <c:v>6.363961030678928</c:v>
              </c:pt>
              <c:pt idx="61">
                <c:v>6.4700270478569095</c:v>
              </c:pt>
              <c:pt idx="62">
                <c:v>6.576093065034891</c:v>
              </c:pt>
              <c:pt idx="63">
                <c:v>6.6821590822128725</c:v>
              </c:pt>
              <c:pt idx="64">
                <c:v>6.788225099390856</c:v>
              </c:pt>
              <c:pt idx="65">
                <c:v>6.894291116568839</c:v>
              </c:pt>
              <c:pt idx="66">
                <c:v>7.00035713374682</c:v>
              </c:pt>
              <c:pt idx="67">
                <c:v>7.106423150924802</c:v>
              </c:pt>
              <c:pt idx="68">
                <c:v>7.212489168102784</c:v>
              </c:pt>
              <c:pt idx="69">
                <c:v>7.318555185280766</c:v>
              </c:pt>
              <c:pt idx="70">
                <c:v>7.424621202458749</c:v>
              </c:pt>
              <c:pt idx="71">
                <c:v>7.530687219636731</c:v>
              </c:pt>
              <c:pt idx="72">
                <c:v>7.6367532368147115</c:v>
              </c:pt>
              <c:pt idx="73">
                <c:v>7.742819253992695</c:v>
              </c:pt>
              <c:pt idx="74">
                <c:v>7.848885271170678</c:v>
              </c:pt>
              <c:pt idx="75">
                <c:v>7.95495128834866</c:v>
              </c:pt>
              <c:pt idx="76">
                <c:v>8.061017305526642</c:v>
              </c:pt>
              <c:pt idx="77">
                <c:v>8.167083322704624</c:v>
              </c:pt>
              <c:pt idx="78">
                <c:v>8.273149339882606</c:v>
              </c:pt>
              <c:pt idx="79">
                <c:v>8.37921535706059</c:v>
              </c:pt>
              <c:pt idx="80">
                <c:v>8.48528137423857</c:v>
              </c:pt>
            </c:numLit>
          </c:yVal>
        </c:ser>
        <c:ser>
          <c:idx val="2"/>
          <c:order val="2"/>
          <c:tx>
            <c:v>η = 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81"/>
              <c:pt idx="0">
                <c:v>0</c:v>
              </c:pt>
              <c:pt idx="1">
                <c:v>0.5</c:v>
              </c:pt>
              <c:pt idx="2">
                <c:v>1</c:v>
              </c:pt>
              <c:pt idx="3">
                <c:v>1.5</c:v>
              </c:pt>
              <c:pt idx="4">
                <c:v>2</c:v>
              </c:pt>
              <c:pt idx="5">
                <c:v>2.5</c:v>
              </c:pt>
              <c:pt idx="6">
                <c:v>3</c:v>
              </c:pt>
              <c:pt idx="7">
                <c:v>3.5</c:v>
              </c:pt>
              <c:pt idx="8">
                <c:v>4</c:v>
              </c:pt>
              <c:pt idx="9">
                <c:v>4.5</c:v>
              </c:pt>
              <c:pt idx="10">
                <c:v>5</c:v>
              </c:pt>
              <c:pt idx="11">
                <c:v>5.5</c:v>
              </c:pt>
              <c:pt idx="12">
                <c:v>6</c:v>
              </c:pt>
              <c:pt idx="13">
                <c:v>6.5</c:v>
              </c:pt>
              <c:pt idx="14">
                <c:v>7</c:v>
              </c:pt>
              <c:pt idx="15">
                <c:v>7.5</c:v>
              </c:pt>
              <c:pt idx="16">
                <c:v>8</c:v>
              </c:pt>
              <c:pt idx="17">
                <c:v>8.5</c:v>
              </c:pt>
              <c:pt idx="18">
                <c:v>9</c:v>
              </c:pt>
              <c:pt idx="19">
                <c:v>9.5</c:v>
              </c:pt>
              <c:pt idx="20">
                <c:v>10</c:v>
              </c:pt>
              <c:pt idx="21">
                <c:v>10.5</c:v>
              </c:pt>
              <c:pt idx="22">
                <c:v>11</c:v>
              </c:pt>
              <c:pt idx="23">
                <c:v>11.5</c:v>
              </c:pt>
              <c:pt idx="24">
                <c:v>12</c:v>
              </c:pt>
              <c:pt idx="25">
                <c:v>12.5</c:v>
              </c:pt>
              <c:pt idx="26">
                <c:v>13</c:v>
              </c:pt>
              <c:pt idx="27">
                <c:v>13.5</c:v>
              </c:pt>
              <c:pt idx="28">
                <c:v>14</c:v>
              </c:pt>
              <c:pt idx="29">
                <c:v>14.5</c:v>
              </c:pt>
              <c:pt idx="30">
                <c:v>15</c:v>
              </c:pt>
              <c:pt idx="31">
                <c:v>15.5</c:v>
              </c:pt>
              <c:pt idx="32">
                <c:v>16</c:v>
              </c:pt>
              <c:pt idx="33">
                <c:v>16.5</c:v>
              </c:pt>
              <c:pt idx="34">
                <c:v>17</c:v>
              </c:pt>
              <c:pt idx="35">
                <c:v>17.5</c:v>
              </c:pt>
              <c:pt idx="36">
                <c:v>18</c:v>
              </c:pt>
              <c:pt idx="37">
                <c:v>18.5</c:v>
              </c:pt>
              <c:pt idx="38">
                <c:v>19</c:v>
              </c:pt>
              <c:pt idx="39">
                <c:v>19.5</c:v>
              </c:pt>
              <c:pt idx="40">
                <c:v>20</c:v>
              </c:pt>
              <c:pt idx="41">
                <c:v>20.5</c:v>
              </c:pt>
              <c:pt idx="42">
                <c:v>21</c:v>
              </c:pt>
              <c:pt idx="43">
                <c:v>21.5</c:v>
              </c:pt>
              <c:pt idx="44">
                <c:v>22</c:v>
              </c:pt>
              <c:pt idx="45">
                <c:v>22.5</c:v>
              </c:pt>
              <c:pt idx="46">
                <c:v>23</c:v>
              </c:pt>
              <c:pt idx="47">
                <c:v>23.5</c:v>
              </c:pt>
              <c:pt idx="48">
                <c:v>24</c:v>
              </c:pt>
              <c:pt idx="49">
                <c:v>24.5</c:v>
              </c:pt>
              <c:pt idx="50">
                <c:v>25</c:v>
              </c:pt>
              <c:pt idx="51">
                <c:v>25.5</c:v>
              </c:pt>
              <c:pt idx="52">
                <c:v>26</c:v>
              </c:pt>
              <c:pt idx="53">
                <c:v>26.5</c:v>
              </c:pt>
              <c:pt idx="54">
                <c:v>27</c:v>
              </c:pt>
              <c:pt idx="55">
                <c:v>27.5</c:v>
              </c:pt>
              <c:pt idx="56">
                <c:v>28</c:v>
              </c:pt>
              <c:pt idx="57">
                <c:v>28.5</c:v>
              </c:pt>
              <c:pt idx="58">
                <c:v>29</c:v>
              </c:pt>
              <c:pt idx="59">
                <c:v>29.5</c:v>
              </c:pt>
              <c:pt idx="60">
                <c:v>30</c:v>
              </c:pt>
              <c:pt idx="61">
                <c:v>30.5</c:v>
              </c:pt>
              <c:pt idx="62">
                <c:v>31</c:v>
              </c:pt>
              <c:pt idx="63">
                <c:v>31.5</c:v>
              </c:pt>
              <c:pt idx="64">
                <c:v>32</c:v>
              </c:pt>
              <c:pt idx="65">
                <c:v>32.5</c:v>
              </c:pt>
              <c:pt idx="66">
                <c:v>33</c:v>
              </c:pt>
              <c:pt idx="67">
                <c:v>33.5</c:v>
              </c:pt>
              <c:pt idx="68">
                <c:v>34</c:v>
              </c:pt>
              <c:pt idx="69">
                <c:v>34.5</c:v>
              </c:pt>
              <c:pt idx="70">
                <c:v>35</c:v>
              </c:pt>
              <c:pt idx="71">
                <c:v>35.5</c:v>
              </c:pt>
              <c:pt idx="72">
                <c:v>36</c:v>
              </c:pt>
              <c:pt idx="73">
                <c:v>36.5</c:v>
              </c:pt>
              <c:pt idx="74">
                <c:v>37</c:v>
              </c:pt>
              <c:pt idx="75">
                <c:v>37.5</c:v>
              </c:pt>
              <c:pt idx="76">
                <c:v>38</c:v>
              </c:pt>
              <c:pt idx="77">
                <c:v>38.5</c:v>
              </c:pt>
              <c:pt idx="78">
                <c:v>39</c:v>
              </c:pt>
              <c:pt idx="79">
                <c:v>39.5</c:v>
              </c:pt>
              <c:pt idx="80">
                <c:v>40</c:v>
              </c:pt>
            </c:numLit>
          </c:xVal>
          <c:yVal>
            <c:numLit>
              <c:formatCode>0.0</c:formatCode>
              <c:ptCount val="81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  <c:pt idx="25">
                <c:v>0</c:v>
              </c:pt>
              <c:pt idx="26">
                <c:v>0</c:v>
              </c:pt>
              <c:pt idx="27">
                <c:v>0</c:v>
              </c:pt>
              <c:pt idx="28">
                <c:v>0</c:v>
              </c:pt>
              <c:pt idx="29">
                <c:v>0</c:v>
              </c:pt>
              <c:pt idx="30">
                <c:v>0</c:v>
              </c:pt>
              <c:pt idx="31">
                <c:v>0</c:v>
              </c:pt>
              <c:pt idx="32">
                <c:v>0</c:v>
              </c:pt>
              <c:pt idx="33">
                <c:v>0</c:v>
              </c:pt>
              <c:pt idx="34">
                <c:v>0</c:v>
              </c:pt>
              <c:pt idx="35">
                <c:v>0</c:v>
              </c:pt>
              <c:pt idx="36">
                <c:v>0</c:v>
              </c:pt>
              <c:pt idx="37">
                <c:v>0</c:v>
              </c:pt>
              <c:pt idx="38">
                <c:v>0</c:v>
              </c:pt>
              <c:pt idx="39">
                <c:v>0</c:v>
              </c:pt>
              <c:pt idx="40">
                <c:v>0</c:v>
              </c:pt>
              <c:pt idx="41">
                <c:v>0</c:v>
              </c:pt>
              <c:pt idx="42">
                <c:v>0</c:v>
              </c:pt>
              <c:pt idx="43">
                <c:v>0</c:v>
              </c:pt>
              <c:pt idx="44">
                <c:v>0</c:v>
              </c:pt>
              <c:pt idx="45">
                <c:v>0</c:v>
              </c:pt>
              <c:pt idx="46">
                <c:v>0</c:v>
              </c:pt>
              <c:pt idx="47">
                <c:v>0</c:v>
              </c:pt>
              <c:pt idx="48">
                <c:v>0</c:v>
              </c:pt>
              <c:pt idx="49">
                <c:v>0</c:v>
              </c:pt>
              <c:pt idx="50">
                <c:v>0</c:v>
              </c:pt>
              <c:pt idx="51">
                <c:v>0</c:v>
              </c:pt>
              <c:pt idx="52">
                <c:v>0</c:v>
              </c:pt>
              <c:pt idx="53">
                <c:v>0</c:v>
              </c:pt>
              <c:pt idx="54">
                <c:v>0</c:v>
              </c:pt>
              <c:pt idx="55">
                <c:v>0</c:v>
              </c:pt>
              <c:pt idx="56">
                <c:v>0</c:v>
              </c:pt>
              <c:pt idx="57">
                <c:v>0</c:v>
              </c:pt>
              <c:pt idx="58">
                <c:v>0</c:v>
              </c:pt>
              <c:pt idx="59">
                <c:v>0</c:v>
              </c:pt>
              <c:pt idx="60">
                <c:v>0</c:v>
              </c:pt>
              <c:pt idx="61">
                <c:v>0</c:v>
              </c:pt>
              <c:pt idx="62">
                <c:v>0</c:v>
              </c:pt>
              <c:pt idx="63">
                <c:v>0</c:v>
              </c:pt>
              <c:pt idx="64">
                <c:v>0</c:v>
              </c:pt>
              <c:pt idx="65">
                <c:v>0</c:v>
              </c:pt>
              <c:pt idx="66">
                <c:v>0</c:v>
              </c:pt>
              <c:pt idx="67">
                <c:v>0</c:v>
              </c:pt>
              <c:pt idx="68">
                <c:v>0</c:v>
              </c:pt>
              <c:pt idx="69">
                <c:v>0</c:v>
              </c:pt>
              <c:pt idx="70">
                <c:v>0</c:v>
              </c:pt>
              <c:pt idx="71">
                <c:v>0</c:v>
              </c:pt>
              <c:pt idx="72">
                <c:v>0</c:v>
              </c:pt>
              <c:pt idx="73">
                <c:v>0</c:v>
              </c:pt>
              <c:pt idx="74">
                <c:v>0</c:v>
              </c:pt>
              <c:pt idx="75">
                <c:v>0</c:v>
              </c:pt>
              <c:pt idx="76">
                <c:v>0</c:v>
              </c:pt>
              <c:pt idx="77">
                <c:v>0</c:v>
              </c:pt>
              <c:pt idx="78">
                <c:v>0</c:v>
              </c:pt>
              <c:pt idx="79">
                <c:v>0</c:v>
              </c:pt>
              <c:pt idx="80">
                <c:v>0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0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σᵧ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10"/>
      </c:valAx>
      <c:valAx>
        <c:axId val="48650112"/>
        <c:scaling>
          <c:orientation val="minMax"/>
          <c:max val="4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1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4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不同载波的质心轨迹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-2.0661168548719898E-17</c:v>
              </c:pt>
              <c:pt idx="1">
                <c:v>2.831755825032994E-17</c:v>
              </c:pt>
              <c:pt idx="2">
                <c:v>-8.043652786130308E-17</c:v>
              </c:pt>
              <c:pt idx="3">
                <c:v>-5.402682727522836E-17</c:v>
              </c:pt>
              <c:pt idx="4">
                <c:v>-8.347986275347437E-17</c:v>
              </c:pt>
              <c:pt idx="5">
                <c:v>-7.416063970258935E-17</c:v>
              </c:pt>
              <c:pt idx="6">
                <c:v>-4.265694020657431E-17</c:v>
              </c:pt>
              <c:pt idx="7">
                <c:v>-9.492489347250293E-17</c:v>
              </c:pt>
              <c:pt idx="8">
                <c:v>-1.0491414745056732E-16</c:v>
              </c:pt>
              <c:pt idx="9">
                <c:v>-5.231985014533567E-17</c:v>
              </c:pt>
              <c:pt idx="10">
                <c:v>-1.4923204897607406E-16</c:v>
              </c:pt>
              <c:pt idx="11">
                <c:v>-2.010611678050171E-16</c:v>
              </c:pt>
              <c:pt idx="12">
                <c:v>-4.187173696096064E-17</c:v>
              </c:pt>
              <c:pt idx="13">
                <c:v>-2.8921921034396445E-16</c:v>
              </c:pt>
              <c:pt idx="14">
                <c:v>-1.2805406600937044E-16</c:v>
              </c:pt>
              <c:pt idx="15">
                <c:v>-1.1172675739448148E-16</c:v>
              </c:pt>
              <c:pt idx="16">
                <c:v>-2.2133222818455642E-16</c:v>
              </c:pt>
              <c:pt idx="17">
                <c:v>-2.245134802987985E-16</c:v>
              </c:pt>
              <c:pt idx="18">
                <c:v>-1.7441380605286062E-16</c:v>
              </c:pt>
              <c:pt idx="19">
                <c:v>-4.765556697698448E-16</c:v>
              </c:pt>
              <c:pt idx="20">
                <c:v>-3.612126029891771E-16</c:v>
              </c:pt>
              <c:pt idx="21">
                <c:v>-1.8065134905461464E-16</c:v>
              </c:pt>
              <c:pt idx="22">
                <c:v>-2.728379877527252E-16</c:v>
              </c:pt>
              <c:pt idx="23">
                <c:v>-3.1718911392400895E-16</c:v>
              </c:pt>
              <c:pt idx="24">
                <c:v>-2.8118492527521214E-16</c:v>
              </c:pt>
              <c:pt idx="25">
                <c:v>-9.377951707801542E-17</c:v>
              </c:pt>
              <c:pt idx="26">
                <c:v>-1.1137127796070403E-16</c:v>
              </c:pt>
              <c:pt idx="27">
                <c:v>-2.1704211013844202E-16</c:v>
              </c:pt>
              <c:pt idx="28">
                <c:v>-1.7606692752831045E-16</c:v>
              </c:pt>
              <c:pt idx="29">
                <c:v>-3.341799308041925E-16</c:v>
              </c:pt>
              <c:pt idx="30">
                <c:v>-4.575299363471412E-16</c:v>
              </c:pt>
            </c:numLit>
          </c:yVal>
        </c:ser>
        <c:ser>
          <c:idx val="1"/>
          <c:order val="1"/>
          <c:tx>
            <c:v>q₀ = (0.7,0)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-1.4945406938737424E-16</c:v>
              </c:pt>
              <c:pt idx="1">
                <c:v>1.2784086908435277</c:v>
              </c:pt>
              <c:pt idx="2">
                <c:v>2.5568173816870554</c:v>
              </c:pt>
              <c:pt idx="3">
                <c:v>3.8352260725305847</c:v>
              </c:pt>
              <c:pt idx="4">
                <c:v>5.113634763374113</c:v>
              </c:pt>
              <c:pt idx="5">
                <c:v>6.392043454217642</c:v>
              </c:pt>
              <c:pt idx="6">
                <c:v>7.670452145061169</c:v>
              </c:pt>
              <c:pt idx="7">
                <c:v>8.948860835904698</c:v>
              </c:pt>
              <c:pt idx="8">
                <c:v>10.227269526748222</c:v>
              </c:pt>
              <c:pt idx="9">
                <c:v>11.505678217591754</c:v>
              </c:pt>
              <c:pt idx="10">
                <c:v>12.784086908435283</c:v>
              </c:pt>
              <c:pt idx="11">
                <c:v>14.062495599278808</c:v>
              </c:pt>
              <c:pt idx="12">
                <c:v>15.340904290122337</c:v>
              </c:pt>
              <c:pt idx="13">
                <c:v>16.619312980965873</c:v>
              </c:pt>
              <c:pt idx="14">
                <c:v>17.897721671809396</c:v>
              </c:pt>
              <c:pt idx="15">
                <c:v>19.17613036265292</c:v>
              </c:pt>
              <c:pt idx="16">
                <c:v>20.454539053496443</c:v>
              </c:pt>
              <c:pt idx="17">
                <c:v>21.732947744339985</c:v>
              </c:pt>
              <c:pt idx="18">
                <c:v>23.01135643518351</c:v>
              </c:pt>
              <c:pt idx="19">
                <c:v>24.28976512602703</c:v>
              </c:pt>
              <c:pt idx="20">
                <c:v>25.568173816870566</c:v>
              </c:pt>
              <c:pt idx="21">
                <c:v>26.846582507714093</c:v>
              </c:pt>
              <c:pt idx="22">
                <c:v>28.124991198557616</c:v>
              </c:pt>
              <c:pt idx="23">
                <c:v>29.403399889401143</c:v>
              </c:pt>
              <c:pt idx="24">
                <c:v>30.681808580244677</c:v>
              </c:pt>
              <c:pt idx="25">
                <c:v>31.960217271088204</c:v>
              </c:pt>
              <c:pt idx="26">
                <c:v>33.23862596193174</c:v>
              </c:pt>
              <c:pt idx="27">
                <c:v>34.517034652775266</c:v>
              </c:pt>
              <c:pt idx="28">
                <c:v>35.795443343618786</c:v>
              </c:pt>
              <c:pt idx="29">
                <c:v>37.07385203446232</c:v>
              </c:pt>
              <c:pt idx="30">
                <c:v>38.352260725305854</c:v>
              </c:pt>
            </c:numLit>
          </c:yVal>
        </c:ser>
        <c:ser>
          <c:idx val="2"/>
          <c:order val="2"/>
          <c:tx>
            <c:v>q₀ = (−0.7,0)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-1.464972719015002E-16</c:v>
              </c:pt>
              <c:pt idx="1">
                <c:v>-1.2784086908435282</c:v>
              </c:pt>
              <c:pt idx="2">
                <c:v>-2.5568173816870563</c:v>
              </c:pt>
              <c:pt idx="3">
                <c:v>-3.8352260725305847</c:v>
              </c:pt>
              <c:pt idx="4">
                <c:v>-5.113634763374113</c:v>
              </c:pt>
              <c:pt idx="5">
                <c:v>-6.392043454217643</c:v>
              </c:pt>
              <c:pt idx="6">
                <c:v>-7.670452145061168</c:v>
              </c:pt>
              <c:pt idx="7">
                <c:v>-8.948860835904698</c:v>
              </c:pt>
              <c:pt idx="8">
                <c:v>-10.227269526748225</c:v>
              </c:pt>
              <c:pt idx="9">
                <c:v>-11.505678217591752</c:v>
              </c:pt>
              <c:pt idx="10">
                <c:v>-12.784086908435283</c:v>
              </c:pt>
              <c:pt idx="11">
                <c:v>-14.062495599278808</c:v>
              </c:pt>
              <c:pt idx="12">
                <c:v>-15.340904290122339</c:v>
              </c:pt>
              <c:pt idx="13">
                <c:v>-16.61931298096587</c:v>
              </c:pt>
              <c:pt idx="14">
                <c:v>-17.897721671809396</c:v>
              </c:pt>
              <c:pt idx="15">
                <c:v>-19.176130362652927</c:v>
              </c:pt>
              <c:pt idx="16">
                <c:v>-20.45453905349645</c:v>
              </c:pt>
              <c:pt idx="17">
                <c:v>-21.732947744339977</c:v>
              </c:pt>
              <c:pt idx="18">
                <c:v>-23.01135643518351</c:v>
              </c:pt>
              <c:pt idx="19">
                <c:v>-24.28976512602704</c:v>
              </c:pt>
              <c:pt idx="20">
                <c:v>-25.568173816870566</c:v>
              </c:pt>
              <c:pt idx="21">
                <c:v>-26.846582507714096</c:v>
              </c:pt>
              <c:pt idx="22">
                <c:v>-28.124991198557616</c:v>
              </c:pt>
              <c:pt idx="23">
                <c:v>-29.403399889401147</c:v>
              </c:pt>
              <c:pt idx="24">
                <c:v>-30.681808580244677</c:v>
              </c:pt>
              <c:pt idx="25">
                <c:v>-31.960217271088204</c:v>
              </c:pt>
              <c:pt idx="26">
                <c:v>-33.23862596193174</c:v>
              </c:pt>
              <c:pt idx="27">
                <c:v>-34.517034652775266</c:v>
              </c:pt>
              <c:pt idx="28">
                <c:v>-35.795443343618786</c:v>
              </c:pt>
              <c:pt idx="29">
                <c:v>-37.07385203446232</c:v>
              </c:pt>
              <c:pt idx="30">
                <c:v>-38.352260725305854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40"/>
          <c:min val="-4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〈x〉/a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-40"/>
        <c:majorUnit val="20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5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 RMS 宽度随时间变化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(0,0)，σₓ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4.1878799261897175</c:v>
              </c:pt>
              <c:pt idx="6">
                <c:v>4.2679277310778385</c:v>
              </c:pt>
              <c:pt idx="7">
                <c:v>4.360635621250448</c:v>
              </c:pt>
              <c:pt idx="8">
                <c:v>4.465215110946835</c:v>
              </c:pt>
              <c:pt idx="9">
                <c:v>4.5808531972583735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5.138011945003214</c:v>
              </c:pt>
              <c:pt idx="14">
                <c:v>5.297223054136302</c:v>
              </c:pt>
              <c:pt idx="15">
                <c:v>5.463061823340935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6.18171535320736</c:v>
              </c:pt>
              <c:pt idx="20">
                <c:v>6.372865322515827</c:v>
              </c:pt>
              <c:pt idx="21">
                <c:v>6.567822104157858</c:v>
              </c:pt>
              <c:pt idx="22">
                <c:v>6.766256648021781</c:v>
              </c:pt>
              <c:pt idx="23">
                <c:v>6.967871836079364</c:v>
              </c:pt>
              <c:pt idx="24">
                <c:v>7.172399450898678</c:v>
              </c:pt>
              <c:pt idx="25">
                <c:v>7.37959734027338</c:v>
              </c:pt>
              <c:pt idx="26">
                <c:v>7.589246799780783</c:v>
              </c:pt>
              <c:pt idx="27">
                <c:v>7.801150180165127</c:v>
              </c:pt>
              <c:pt idx="28">
                <c:v>8.015128716439465</c:v>
              </c:pt>
              <c:pt idx="29">
                <c:v>8.231020569211895</c:v>
              </c:pt>
              <c:pt idx="30">
                <c:v>8.448679064953334</c:v>
              </c:pt>
            </c:numLit>
          </c:yVal>
        </c:ser>
        <c:ser>
          <c:idx val="1"/>
          <c:order val="1"/>
          <c:tx>
            <c:v>q₀ = (0.7,0)，σₓ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4.004521895537584</c:v>
              </c:pt>
              <c:pt idx="2">
                <c:v>4.0180570487935725</c:v>
              </c:pt>
              <c:pt idx="3">
                <c:v>4.040514881368383</c:v>
              </c:pt>
              <c:pt idx="4">
                <c:v>4.071747756116391</c:v>
              </c:pt>
              <c:pt idx="5">
                <c:v>4.111555702650546</c:v>
              </c:pt>
              <c:pt idx="6">
                <c:v>4.159692539868474</c:v>
              </c:pt>
              <c:pt idx="7">
                <c:v>4.215872979604167</c:v>
              </c:pt>
              <c:pt idx="8">
                <c:v>4.2797802697983744</c:v>
              </c:pt>
              <c:pt idx="9">
                <c:v>4.351073954673057</c:v>
              </c:pt>
              <c:pt idx="10">
                <c:v>4.429397383842737</c:v>
              </c:pt>
              <c:pt idx="11">
                <c:v>4.514384679292558</c:v>
              </c:pt>
              <c:pt idx="12">
                <c:v>4.605666955496211</c:v>
              </c:pt>
              <c:pt idx="13">
                <c:v>4.702877672335097</c:v>
              </c:pt>
              <c:pt idx="14">
                <c:v>4.80565707480528</c:v>
              </c:pt>
              <c:pt idx="15">
                <c:v>4.913655733156728</c:v>
              </c:pt>
              <c:pt idx="16">
                <c:v>5.026537240588372</c:v>
              </c:pt>
              <c:pt idx="17">
                <c:v>5.143980153707771</c:v>
              </c:pt>
              <c:pt idx="18">
                <c:v>5.26567927585197</c:v>
              </c:pt>
              <c:pt idx="19">
                <c:v>5.391346387889976</c:v>
              </c:pt>
              <c:pt idx="20">
                <c:v>5.5207105281812705</c:v>
              </c:pt>
              <c:pt idx="21">
                <c:v>5.6535179155467965</c:v>
              </c:pt>
              <c:pt idx="22">
                <c:v>5.7895315985427995</c:v>
              </c:pt>
              <c:pt idx="23">
                <c:v>5.92853090262017</c:v>
              </c:pt>
              <c:pt idx="24">
                <c:v>6.070310735028232</c:v>
              </c:pt>
              <c:pt idx="25">
                <c:v>6.2146807963044655</c:v>
              </c:pt>
              <c:pt idx="26">
                <c:v>6.361464737290608</c:v>
              </c:pt>
              <c:pt idx="27">
                <c:v>6.510499292013485</c:v>
              </c:pt>
              <c:pt idx="28">
                <c:v>6.661633409495314</c:v>
              </c:pt>
              <c:pt idx="29">
                <c:v>6.814727401545869</c:v>
              </c:pt>
              <c:pt idx="30">
                <c:v>6.969652118716968</c:v>
              </c:pt>
            </c:numLit>
          </c:yVal>
        </c:ser>
        <c:ser>
          <c:idx val="2"/>
          <c:order val="2"/>
          <c:tx>
            <c:v>q₀ = (0.7,0)，σᵧ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3.9999999999999996</c:v>
              </c:pt>
              <c:pt idx="1">
                <c:v>4.00768431030281</c:v>
              </c:pt>
              <c:pt idx="2">
                <c:v>4.0306493427473</c:v>
              </c:pt>
              <c:pt idx="3">
                <c:v>4.068636353795434</c:v>
              </c:pt>
              <c:pt idx="4">
                <c:v>4.121229973776881</c:v>
              </c:pt>
              <c:pt idx="5">
                <c:v>4.187879926189718</c:v>
              </c:pt>
              <c:pt idx="6">
                <c:v>4.267927731077839</c:v>
              </c:pt>
              <c:pt idx="7">
                <c:v>4.360635621250449</c:v>
              </c:pt>
              <c:pt idx="8">
                <c:v>4.465215110946835</c:v>
              </c:pt>
              <c:pt idx="9">
                <c:v>4.580853197258374</c:v>
              </c:pt>
              <c:pt idx="10">
                <c:v>4.706734866627946</c:v>
              </c:pt>
              <c:pt idx="11">
                <c:v>4.842061261149505</c:v>
              </c:pt>
              <c:pt idx="12">
                <c:v>4.986063424266975</c:v>
              </c:pt>
              <c:pt idx="13">
                <c:v>5.138011945003215</c:v>
              </c:pt>
              <c:pt idx="14">
                <c:v>5.297223054136302</c:v>
              </c:pt>
              <c:pt idx="15">
                <c:v>5.463061823340934</c:v>
              </c:pt>
              <c:pt idx="16">
                <c:v>5.634943118445105</c:v>
              </c:pt>
              <c:pt idx="17">
                <c:v>5.812330898415294</c:v>
              </c:pt>
              <c:pt idx="18">
                <c:v>5.994736362787696</c:v>
              </c:pt>
              <c:pt idx="19">
                <c:v>6.181715353207359</c:v>
              </c:pt>
              <c:pt idx="20">
                <c:v>6.372865322515828</c:v>
              </c:pt>
              <c:pt idx="21">
                <c:v>6.567822104157857</c:v>
              </c:pt>
              <c:pt idx="22">
                <c:v>6.766256648021781</c:v>
              </c:pt>
              <c:pt idx="23">
                <c:v>6.967871836079363</c:v>
              </c:pt>
              <c:pt idx="24">
                <c:v>7.172399450898678</c:v>
              </c:pt>
              <c:pt idx="25">
                <c:v>7.3795973402733805</c:v>
              </c:pt>
              <c:pt idx="26">
                <c:v>7.589246799780783</c:v>
              </c:pt>
              <c:pt idx="27">
                <c:v>7.801150180165125</c:v>
              </c:pt>
              <c:pt idx="28">
                <c:v>8.015128716439465</c:v>
              </c:pt>
              <c:pt idx="29">
                <c:v>8.231020569211896</c:v>
              </c:pt>
              <c:pt idx="30">
                <c:v>8.448679064953332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RMS 宽度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6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相对初始宽度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σ = 3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1.0035408754119461</c:v>
              </c:pt>
              <c:pt idx="2">
                <c:v>1.0140893227375487</c:v>
              </c:pt>
              <c:pt idx="3">
                <c:v>1.031430364883241</c:v>
              </c:pt>
              <c:pt idx="4">
                <c:v>1.0552291779330216</c:v>
              </c:pt>
              <c:pt idx="5">
                <c:v>1.0850609271208584</c:v>
              </c:pt>
              <c:pt idx="6">
                <c:v>1.1204438363491065</c:v>
              </c:pt>
              <c:pt idx="7">
                <c:v>1.160870424511788</c:v>
              </c:pt>
              <c:pt idx="8">
                <c:v>1.2058335174661574</c:v>
              </c:pt>
              <c:pt idx="9">
                <c:v>1.2548455595923278</c:v>
              </c:pt>
              <c:pt idx="10">
                <c:v>1.3074512848506092</c:v>
              </c:pt>
              <c:pt idx="11">
                <c:v>1.3632347278922972</c:v>
              </c:pt>
              <c:pt idx="12">
                <c:v>1.4218219162928996</c:v>
              </c:pt>
              <c:pt idx="13">
                <c:v>1.4828805674143786</c:v>
              </c:pt>
              <c:pt idx="14">
                <c:v>1.5461179030153935</c:v>
              </c:pt>
              <c:pt idx="15">
                <c:v>1.6112774249270032</c:v>
              </c:pt>
              <c:pt idx="16">
                <c:v>1.6781352410873274</c:v>
              </c:pt>
              <c:pt idx="17">
                <c:v>1.7464963246237308</c:v>
              </c:pt>
              <c:pt idx="18">
                <c:v>1.8161909353683958</c:v>
              </c:pt>
              <c:pt idx="19">
                <c:v>1.8870713268844943</c:v>
              </c:pt>
              <c:pt idx="20">
                <c:v>1.9590087924841058</c:v>
              </c:pt>
              <c:pt idx="21">
                <c:v>2.0318910607007483</c:v>
              </c:pt>
              <c:pt idx="22">
                <c:v>2.1056200258656212</c:v>
              </c:pt>
              <c:pt idx="23">
                <c:v>2.180109786534206</c:v>
              </c:pt>
              <c:pt idx="24">
                <c:v>2.2552849590690864</c:v>
              </c:pt>
              <c:pt idx="25">
                <c:v>2.331079232696613</c:v>
              </c:pt>
              <c:pt idx="26">
                <c:v>2.4074341338571985</c:v>
              </c:pt>
              <c:pt idx="27">
                <c:v>2.4842979704248918</c:v>
              </c:pt>
              <c:pt idx="28">
                <c:v>2.561624929629408</c:v>
              </c:pt>
              <c:pt idx="29">
                <c:v>2.6393743068359306</c:v>
              </c:pt>
              <c:pt idx="30">
                <c:v>2.7175098454867794</c:v>
              </c:pt>
            </c:numLit>
          </c:yVal>
        </c:ser>
        <c:ser>
          <c:idx val="1"/>
          <c:order val="1"/>
          <c:tx>
            <c:v>σ = 6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1.000224654931089</c:v>
              </c:pt>
              <c:pt idx="2">
                <c:v>1.000898317177157</c:v>
              </c:pt>
              <c:pt idx="3">
                <c:v>1.0020200811301871</c:v>
              </c:pt>
              <c:pt idx="4">
                <c:v>1.0035884441902772</c:v>
              </c:pt>
              <c:pt idx="5">
                <c:v>1.0056013167753945</c:v>
              </c:pt>
              <c:pt idx="6">
                <c:v>1.0080560361173319</c:v>
              </c:pt>
              <c:pt idx="7">
                <c:v>1.0109493836334236</c:v>
              </c:pt>
              <c:pt idx="8">
                <c:v>1.0142776056134948</c:v>
              </c:pt>
              <c:pt idx="9">
                <c:v>1.0180364369183066</c:v>
              </c:pt>
              <c:pt idx="10">
                <c:v>1.0222211273504531</c:v>
              </c:pt>
              <c:pt idx="11">
                <c:v>1.0268264703317567</c:v>
              </c:pt>
              <c:pt idx="12">
                <c:v>1.031846833503088</c:v>
              </c:pt>
              <c:pt idx="13">
                <c:v>1.0372761908531194</c:v>
              </c:pt>
              <c:pt idx="14">
                <c:v>1.0431081559815345</c:v>
              </c:pt>
              <c:pt idx="15">
                <c:v>1.0493360161090777</c:v>
              </c:pt>
              <c:pt idx="16">
                <c:v>1.0559527664607806</c:v>
              </c:pt>
              <c:pt idx="17">
                <c:v>1.062951144668801</c:v>
              </c:pt>
              <c:pt idx="18">
                <c:v>1.0703236648665138</c:v>
              </c:pt>
              <c:pt idx="19">
                <c:v>1.0780626511747307</c:v>
              </c:pt>
              <c:pt idx="20">
                <c:v>1.0861602703130533</c:v>
              </c:pt>
              <c:pt idx="21">
                <c:v>1.0946085631033562</c:v>
              </c:pt>
              <c:pt idx="22">
                <c:v>1.103399474667219</c:v>
              </c:pt>
              <c:pt idx="23">
                <c:v>1.1125248831539138</c:v>
              </c:pt>
              <c:pt idx="24">
                <c:v>1.1219766268694713</c:v>
              </c:pt>
              <c:pt idx="25">
                <c:v>1.1317465297098088</c:v>
              </c:pt>
              <c:pt idx="26">
                <c:v>1.1418264248312997</c:v>
              </c:pt>
              <c:pt idx="27">
                <c:v>1.1522081765201513</c:v>
              </c:pt>
              <c:pt idx="28">
                <c:v>1.1628837002472732</c:v>
              </c:pt>
              <c:pt idx="29">
                <c:v>1.1738449809177187</c:v>
              </c:pt>
              <c:pt idx="30">
                <c:v>1.1850840893433185</c:v>
              </c:pt>
            </c:numLit>
          </c:yVal>
        </c:ser>
        <c:ser>
          <c:idx val="2"/>
          <c:order val="2"/>
          <c:tx>
            <c:v>σ = 10</c:v>
          </c:tx>
          <c:spPr>
            <a:ln xmlns:a="http://schemas.openxmlformats.org/drawingml/2006/main" w="25718">
              <a:solidFill>
                <a:srgbClr val="27816E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1</c:v>
              </c:pt>
              <c:pt idx="1">
                <c:v>1.000029201624753</c:v>
              </c:pt>
              <c:pt idx="2">
                <c:v>1.0001168013832</c:v>
              </c:pt>
              <c:pt idx="3">
                <c:v>1.000262783932386</c:v>
              </c:pt>
              <c:pt idx="4">
                <c:v>1.0004671237156435</c:v>
              </c:pt>
              <c:pt idx="5">
                <c:v>1.000729784984948</c:v>
              </c:pt>
              <c:pt idx="6">
                <c:v>1.0010507218321503</c:v>
              </c:pt>
              <c:pt idx="7">
                <c:v>1.0014298782290247</c:v>
              </c:pt>
              <c:pt idx="8">
                <c:v>1.00186718807605</c:v>
              </c:pt>
              <c:pt idx="9">
                <c:v>1.002362575259823</c:v>
              </c:pt>
              <c:pt idx="10">
                <c:v>1.0029159537189942</c:v>
              </c:pt>
              <c:pt idx="11">
                <c:v>1.0035272275185845</c:v>
              </c:pt>
              <c:pt idx="12">
                <c:v>1.0041962909325421</c:v>
              </c:pt>
              <c:pt idx="13">
                <c:v>1.0049230285343724</c:v>
              </c:pt>
              <c:pt idx="14">
                <c:v>1.0057073152956562</c:v>
              </c:pt>
              <c:pt idx="15">
                <c:v>1.006549016692272</c:v>
              </c:pt>
              <c:pt idx="16">
                <c:v>1.007447988818105</c:v>
              </c:pt>
              <c:pt idx="17">
                <c:v>1.0084040785060275</c:v>
              </c:pt>
              <c:pt idx="18">
                <c:v>1.0094171234559173</c:v>
              </c:pt>
              <c:pt idx="19">
                <c:v>1.010486952369464</c:v>
              </c:pt>
              <c:pt idx="20">
                <c:v>1.0116133850915174</c:v>
              </c:pt>
              <c:pt idx="21">
                <c:v>1.0127962327577014</c:v>
              </c:pt>
              <c:pt idx="22">
                <c:v>1.014035297948028</c:v>
              </c:pt>
              <c:pt idx="23">
                <c:v>1.015330374846228</c:v>
              </c:pt>
              <c:pt idx="24">
                <c:v>1.016681249404502</c:v>
              </c:pt>
              <c:pt idx="25">
                <c:v>1.0180876995134056</c:v>
              </c:pt>
              <c:pt idx="26">
                <c:v>1.0195494951765602</c:v>
              </c:pt>
              <c:pt idx="27">
                <c:v>1.0210663986898898</c:v>
              </c:pt>
              <c:pt idx="28">
                <c:v>1.022638164825069</c:v>
              </c:pt>
              <c:pt idx="29">
                <c:v>1.0242645410168758</c:v>
              </c:pt>
              <c:pt idx="30">
                <c:v>1.0259452675541316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3"/>
          <c:min val="1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σₓ(τ) / σ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1"/>
        <c:majorUnit val="0.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7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相同初始宽度的传播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3.0106226262358384</c:v>
              </c:pt>
              <c:pt idx="2">
                <c:v>3.042267968212647</c:v>
              </c:pt>
              <c:pt idx="3">
                <c:v>3.0942910946497233</c:v>
              </c:pt>
              <c:pt idx="4">
                <c:v>3.165687533799066</c:v>
              </c:pt>
              <c:pt idx="5">
                <c:v>3.2551827813625756</c:v>
              </c:pt>
              <c:pt idx="6">
                <c:v>3.3613315090473193</c:v>
              </c:pt>
              <c:pt idx="7">
                <c:v>3.482611273535364</c:v>
              </c:pt>
              <c:pt idx="8">
                <c:v>3.617500552398472</c:v>
              </c:pt>
              <c:pt idx="9">
                <c:v>3.7645366787769827</c:v>
              </c:pt>
              <c:pt idx="10">
                <c:v>3.9223538545518273</c:v>
              </c:pt>
              <c:pt idx="11">
                <c:v>4.089704183676892</c:v>
              </c:pt>
              <c:pt idx="12">
                <c:v>4.265465748878698</c:v>
              </c:pt>
              <c:pt idx="13">
                <c:v>4.448641702243136</c:v>
              </c:pt>
              <c:pt idx="14">
                <c:v>4.6383537090461795</c:v>
              </c:pt>
              <c:pt idx="15">
                <c:v>4.8338322747810105</c:v>
              </c:pt>
              <c:pt idx="16">
                <c:v>5.034405723261982</c:v>
              </c:pt>
              <c:pt idx="17">
                <c:v>5.239488973871192</c:v>
              </c:pt>
              <c:pt idx="18">
                <c:v>5.448572806105187</c:v>
              </c:pt>
              <c:pt idx="19">
                <c:v>5.661213980653483</c:v>
              </c:pt>
              <c:pt idx="20">
                <c:v>5.877026377452318</c:v>
              </c:pt>
              <c:pt idx="21">
                <c:v>6.095673182102247</c:v>
              </c:pt>
              <c:pt idx="22">
                <c:v>6.316860077596866</c:v>
              </c:pt>
              <c:pt idx="23">
                <c:v>6.540329359602618</c:v>
              </c:pt>
              <c:pt idx="24">
                <c:v>6.765854877207259</c:v>
              </c:pt>
              <c:pt idx="25">
                <c:v>6.993237698089839</c:v>
              </c:pt>
              <c:pt idx="26">
                <c:v>7.2223024015715955</c:v>
              </c:pt>
              <c:pt idx="27">
                <c:v>7.452893911274677</c:v>
              </c:pt>
              <c:pt idx="28">
                <c:v>7.684874788888224</c:v>
              </c:pt>
              <c:pt idx="29">
                <c:v>7.918122920507792</c:v>
              </c:pt>
              <c:pt idx="30">
                <c:v>8.152529536460335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</c:formatCode>
              <c:ptCount val="31"/>
              <c:pt idx="0">
                <c:v>3</c:v>
              </c:pt>
              <c:pt idx="1">
                <c:v>3.000250161127925</c:v>
              </c:pt>
              <c:pt idx="2">
                <c:v>3.001000519392249</c:v>
              </c:pt>
              <c:pt idx="3">
                <c:v>3.0022506997473144</c:v>
              </c:pt>
              <c:pt idx="4">
                <c:v>3.004000078157489</c:v>
              </c:pt>
              <c:pt idx="5">
                <c:v>3.0062477831515206</c:v>
              </c:pt>
              <c:pt idx="6">
                <c:v>3.00899269798598</c:v>
              </c:pt>
              <c:pt idx="7">
                <c:v>3.0122334634053067</c:v>
              </c:pt>
              <c:pt idx="8">
                <c:v>3.01596848098265</c:v>
              </c:pt>
              <c:pt idx="9">
                <c:v>3.020195917022458</c:v>
              </c:pt>
              <c:pt idx="10">
                <c:v>3.024913707002852</c:v>
              </c:pt>
              <c:pt idx="11">
                <c:v>3.0301195605329867</c:v>
              </c:pt>
              <c:pt idx="12">
                <c:v>3.0358109667981275</c:v>
              </c:pt>
              <c:pt idx="13">
                <c:v>3.041985200462885</c:v>
              </c:pt>
              <c:pt idx="14">
                <c:v>3.0486393280010886</c:v>
              </c:pt>
              <c:pt idx="15">
                <c:v>3.055770214419093</c:v>
              </c:pt>
              <c:pt idx="16">
                <c:v>3.063374530337936</c:v>
              </c:pt>
              <c:pt idx="17">
                <c:v>3.071448759398681</c:v>
              </c:pt>
              <c:pt idx="18">
                <c:v>3.0799892059545444</c:v>
              </c:pt>
              <c:pt idx="19">
                <c:v>3.088992003012891</c:v>
              </c:pt>
              <c:pt idx="20">
                <c:v>3.0984531203900674</c:v>
              </c:pt>
              <c:pt idx="21">
                <c:v>3.10836837304213</c:v>
              </c:pt>
              <c:pt idx="22">
                <c:v>3.1187334295348945</c:v>
              </c:pt>
              <c:pt idx="23">
                <c:v>3.129543820617418</c:v>
              </c:pt>
              <c:pt idx="24">
                <c:v>3.140794947863858</c:v>
              </c:pt>
              <c:pt idx="25">
                <c:v>3.1524820923497505</c:v>
              </c:pt>
              <c:pt idx="26">
                <c:v>3.1646004233300706</c:v>
              </c:pt>
              <c:pt idx="27">
                <c:v>3.1771450068878093</c:v>
              </c:pt>
              <c:pt idx="28">
                <c:v>3.190110814523486</c:v>
              </c:pt>
              <c:pt idx="29">
                <c:v>3.2034927316576716</c:v>
              </c:pt>
              <c:pt idx="30">
                <c:v>3.217285566020467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9"/>
          <c:min val="3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σₓ / a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3"/>
        <c:majorUnit val="2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charts/chart8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相对平移初态的复态重合度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 b="0">
              <a:solidFill>
                <a:srgbClr val="203648"/>
              </a:solidFill>
              <a:latin typeface="Microsoft YaHei"/>
              <a:ea typeface="Microsoft YaHei"/>
              <a:cs typeface="Microsoft YaHei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q₀ = (0.7,0.7)</c:v>
          </c:tx>
          <c:spPr>
            <a:ln xmlns:a="http://schemas.openxmlformats.org/drawingml/2006/main" w="25718">
              <a:solidFill>
                <a:srgbClr val="246B9A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0.9982354691177964</c:v>
              </c:pt>
              <c:pt idx="2">
                <c:v>0.9929795089846105</c:v>
              </c:pt>
              <c:pt idx="3">
                <c:v>0.984342901991505</c:v>
              </c:pt>
              <c:pt idx="4">
                <c:v>0.9725034726382834</c:v>
              </c:pt>
              <c:pt idx="5">
                <c:v>0.9576966548540987</c:v>
              </c:pt>
              <c:pt idx="6">
                <c:v>0.9402037092003988</c:v>
              </c:pt>
              <c:pt idx="7">
                <c:v>0.9203387051834784</c:v>
              </c:pt>
              <c:pt idx="8">
                <c:v>0.8984353559104562</c:v>
              </c:pt>
              <c:pt idx="9">
                <c:v>0.8748346298177185</c:v>
              </c:pt>
              <c:pt idx="10">
                <c:v>0.8498738210894335</c:v>
              </c:pt>
              <c:pt idx="11">
                <c:v>0.8238774928755461</c:v>
              </c:pt>
              <c:pt idx="12">
                <c:v>0.7971504606496349</c:v>
              </c:pt>
              <c:pt idx="13">
                <c:v>0.7699727848006849</c:v>
              </c:pt>
              <c:pt idx="14">
                <c:v>0.7425966024662298</c:v>
              </c:pt>
              <c:pt idx="15">
                <c:v>0.7152445463578185</c:v>
              </c:pt>
              <c:pt idx="16">
                <c:v>0.6881094630359244</c:v>
              </c:pt>
              <c:pt idx="17">
                <c:v>0.6613551421203839</c:v>
              </c:pt>
              <c:pt idx="18">
                <c:v>0.6351177891113288</c:v>
              </c:pt>
              <c:pt idx="19">
                <c:v>0.6095080078506941</c:v>
              </c:pt>
              <c:pt idx="20">
                <c:v>0.5846130968629312</c:v>
              </c:pt>
              <c:pt idx="21">
                <c:v>0.5604995020493331</c:v>
              </c:pt>
              <c:pt idx="22">
                <c:v>0.5372153036265493</c:v>
              </c:pt>
              <c:pt idx="23">
                <c:v>0.5147926463650534</c:v>
              </c:pt>
              <c:pt idx="24">
                <c:v>0.4932500485924479</c:v>
              </c:pt>
              <c:pt idx="25">
                <c:v>0.47259454713078164</c:v>
              </c:pt>
              <c:pt idx="26">
                <c:v>0.4528236526903018</c:v>
              </c:pt>
              <c:pt idx="27">
                <c:v>0.4339271037396145</c:v>
              </c:pt>
              <c:pt idx="28">
                <c:v>0.41588841705512086</c:v>
              </c:pt>
              <c:pt idx="29">
                <c:v>0.39868624055448487</c:v>
              </c:pt>
              <c:pt idx="30">
                <c:v>0.38229551913806026</c:v>
              </c:pt>
            </c:numLit>
          </c:yVal>
        </c:ser>
        <c:ser>
          <c:idx val="1"/>
          <c:order val="1"/>
          <c:tx>
            <c:v>q₀ = (π/2,π/2)</c:v>
          </c:tx>
          <c:spPr>
            <a:ln xmlns:a="http://schemas.openxmlformats.org/drawingml/2006/main" w="25718">
              <a:solidFill>
                <a:srgbClr val="C95F42"/>
              </a:solidFill>
              <a:prstDash val="solid"/>
            </a:ln>
          </c:spPr>
          <c:marker>
            <c:symbol val="none"/>
            <c:size val="4"/>
          </c:marker>
          <c:xVal>
            <c:numLit>
              <c:formatCode>General</c:formatCode>
              <c:ptCount val="31"/>
              <c:pt idx="0">
                <c:v>0</c:v>
              </c:pt>
              <c:pt idx="1">
                <c:v>2</c:v>
              </c:pt>
              <c:pt idx="2">
                <c:v>4</c:v>
              </c:pt>
              <c:pt idx="3">
                <c:v>6</c:v>
              </c:pt>
              <c:pt idx="4">
                <c:v>8</c:v>
              </c:pt>
              <c:pt idx="5">
                <c:v>10</c:v>
              </c:pt>
              <c:pt idx="6">
                <c:v>12</c:v>
              </c:pt>
              <c:pt idx="7">
                <c:v>14</c:v>
              </c:pt>
              <c:pt idx="8">
                <c:v>16</c:v>
              </c:pt>
              <c:pt idx="9">
                <c:v>18</c:v>
              </c:pt>
              <c:pt idx="10">
                <c:v>20</c:v>
              </c:pt>
              <c:pt idx="11">
                <c:v>22</c:v>
              </c:pt>
              <c:pt idx="12">
                <c:v>24</c:v>
              </c:pt>
              <c:pt idx="13">
                <c:v>26</c:v>
              </c:pt>
              <c:pt idx="14">
                <c:v>28</c:v>
              </c:pt>
              <c:pt idx="15">
                <c:v>30</c:v>
              </c:pt>
              <c:pt idx="16">
                <c:v>32</c:v>
              </c:pt>
              <c:pt idx="17">
                <c:v>34</c:v>
              </c:pt>
              <c:pt idx="18">
                <c:v>36</c:v>
              </c:pt>
              <c:pt idx="19">
                <c:v>38</c:v>
              </c:pt>
              <c:pt idx="20">
                <c:v>40</c:v>
              </c:pt>
              <c:pt idx="21">
                <c:v>42</c:v>
              </c:pt>
              <c:pt idx="22">
                <c:v>44</c:v>
              </c:pt>
              <c:pt idx="23">
                <c:v>46</c:v>
              </c:pt>
              <c:pt idx="24">
                <c:v>48</c:v>
              </c:pt>
              <c:pt idx="25">
                <c:v>50</c:v>
              </c:pt>
              <c:pt idx="26">
                <c:v>52</c:v>
              </c:pt>
              <c:pt idx="27">
                <c:v>54</c:v>
              </c:pt>
              <c:pt idx="28">
                <c:v>56</c:v>
              </c:pt>
              <c:pt idx="29">
                <c:v>58</c:v>
              </c:pt>
              <c:pt idx="30">
                <c:v>60</c:v>
              </c:pt>
            </c:numLit>
          </c:xVal>
          <c:yVal>
            <c:numLit>
              <c:formatCode>0.00</c:formatCode>
              <c:ptCount val="31"/>
              <c:pt idx="0">
                <c:v>1.0000000000000009</c:v>
              </c:pt>
              <c:pt idx="1">
                <c:v>0.9999722070324634</c:v>
              </c:pt>
              <c:pt idx="2">
                <c:v>0.9998888659805631</c:v>
              </c:pt>
              <c:pt idx="3">
                <c:v>0.9997500901184786</c:v>
              </c:pt>
              <c:pt idx="4">
                <c:v>0.9995560673153508</c:v>
              </c:pt>
              <c:pt idx="5">
                <c:v>0.9993070586720312</c:v>
              </c:pt>
              <c:pt idx="6">
                <c:v>0.9990033966487626</c:v>
              </c:pt>
              <c:pt idx="7">
                <c:v>0.9986454827183631</c:v>
              </c:pt>
              <c:pt idx="8">
                <c:v>0.9982337845871062</c:v>
              </c:pt>
              <c:pt idx="9">
                <c:v>0.9977688330316007</c:v>
              </c:pt>
              <c:pt idx="10">
                <c:v>0.997251218404518</c:v>
              </c:pt>
              <c:pt idx="11">
                <c:v>0.9966815868648301</c:v>
              </c:pt>
              <c:pt idx="12">
                <c:v>0.9960606363894896</c:v>
              </c:pt>
              <c:pt idx="13">
                <c:v>0.9953891126231782</c:v>
              </c:pt>
              <c:pt idx="14">
                <c:v>0.9946678046211436</c:v>
              </c:pt>
              <c:pt idx="15">
                <c:v>0.9938975405373932</c:v>
              </c:pt>
              <c:pt idx="16">
                <c:v>0.9930791833068303</c:v>
              </c:pt>
              <c:pt idx="17">
                <c:v>0.9922136263655656</c:v>
              </c:pt>
              <c:pt idx="18">
                <c:v>0.9913017894488224</c:v>
              </c:pt>
              <c:pt idx="19">
                <c:v>0.9903446145007699</c:v>
              </c:pt>
              <c:pt idx="20">
                <c:v>0.9893430617254668</c:v>
              </c:pt>
              <c:pt idx="21">
                <c:v>0.988298105803014</c:v>
              </c:pt>
              <c:pt idx="22">
                <c:v>0.9872107322901481</c:v>
              </c:pt>
              <c:pt idx="23">
                <c:v>0.9860819342199059</c:v>
              </c:pt>
              <c:pt idx="24">
                <c:v>0.9849127089107712</c:v>
              </c:pt>
              <c:pt idx="25">
                <c:v>0.9837040549919001</c:v>
              </c:pt>
              <c:pt idx="26">
                <c:v>0.9824569696476104</c:v>
              </c:pt>
              <c:pt idx="27">
                <c:v>0.9811724460813898</c:v>
              </c:pt>
              <c:pt idx="28">
                <c:v>0.9798514711971014</c:v>
              </c:pt>
              <c:pt idx="29">
                <c:v>0.978495023492977</c:v>
              </c:pt>
              <c:pt idx="30">
                <c:v>0.9771040711622112</c:v>
              </c:pt>
            </c:numLit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6668">
              <a:solidFill>
                <a:srgbClr val="E3E9ED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F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esAt val="0"/>
        <c:majorUnit val="0.25"/>
      </c:valAx>
      <c:valAx>
        <c:axId val="48650112"/>
        <c:scaling>
          <c:orientation val="minMax"/>
          <c:max val="6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solidFill>
                      <a:srgbClr val="203648"/>
                    </a:solidFill>
                    <a:latin typeface="Microsoft YaHei"/>
                    <a:ea typeface="Microsoft YaHei"/>
                    <a:cs typeface="Microsoft YaHei"/>
                  </a:rPr>
                  <a:t>时间 τ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solidFill>
                    <a:srgbClr val="203648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1E7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  <c:crossesAt val="0"/>
        <c:majorUnit val="20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86C7B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96554-45E8-4C46-9862-DE2BE4FF9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二维铁磁体中的单磁子传播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8E955C-08D5-4011-A98C-58CFD794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3A04A0-5B8C-4D26-B00B-D44DAA2F8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中期报告　理论来源：单磁子推导 PDF　模拟：均匀最近邻交换模型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9E7B41-06B7-4F98-8605-988EB182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2B75A6-6566-4522-982C-F9C922C7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59055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525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库仑交换与线性波包动力学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6CAFD6-8FE7-4DE8-A56C-BD82CE68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800350"/>
            <a:ext cx="561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基本物理图像与数值模拟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ADE977-C9E8-479F-8D0C-AD4C06D01D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ea451f3335435a"/>
          <a:stretch xmlns:a="http://schemas.openxmlformats.org/drawingml/2006/main"/>
        </p:blipFill>
        <p:spPr>
          <a:xfrm xmlns:a="http://schemas.openxmlformats.org/drawingml/2006/main">
            <a:off x="6619875" y="1756416"/>
            <a:ext cx="5238750" cy="2935594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40392-CE5B-4BAA-A76D-CBCE182E1D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f9346f22b14416"/>
          <a:stretch xmlns:a="http://schemas.openxmlformats.org/drawingml/2006/main"/>
        </p:blipFill>
        <p:spPr>
          <a:xfrm xmlns:a="http://schemas.openxmlformats.org/drawingml/2006/main">
            <a:off x="552450" y="4050148"/>
            <a:ext cx="5829300" cy="567454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20599-9A90-4543-AC32-3C1E4CD4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57800"/>
            <a:ext cx="1085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由微观交换确定传播算符，再用局域激发与波包解释它的动力学。</a:t>
            </a:r>
          </a:p>
        </p:txBody>
      </p:sp>
    </p:spTree>
    <p:extLst>
      <p:ext uri="{BB962C8B-B14F-4D97-AF65-F5344CB8AC3E}">
        <p14:creationId xmlns:p14="http://schemas.microsoft.com/office/powerpoint/2010/main" val="4801477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8BC83B-6443-41AA-954C-E22977FC2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研究对象与报告问题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508D14-8828-42BE-B4C5-F1179CFA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5600A8-4D19-442A-AACD-BF407C0D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3–5 页　动画 B14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453B3F-C92B-4844-9041-C979A9BED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94F3DA-AFE4-4E8C-89A7-953C83903CC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f065c80d804673"/>
          <a:stretch xmlns:a="http://schemas.openxmlformats.org/drawingml/2006/main"/>
        </p:blipFill>
        <p:spPr>
          <a:xfrm xmlns:a="http://schemas.openxmlformats.org/drawingml/2006/main">
            <a:off x="640556" y="1257300"/>
            <a:ext cx="6243638" cy="41624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04004-37F7-49BB-A728-CDC7C4F3B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38112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物理对象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EB1697-E077-4F9E-88BC-A63C3B91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二维正方晶格，每格点自旋 1/2。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最近邻交换 Jₓ、Jᵧ，零外场。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AA6FD7-7101-4C3B-A8F4-DFD50AA9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765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需要回答的问题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0198D4-A46A-4506-A9EF-FC1F276D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486150"/>
            <a:ext cx="4095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局域翻转怎样向外传播？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载波怎样决定传播方向？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有限宽度波包为什么会展宽？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4863D-185F-47FC-8AB0-AB3C796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9A9E0B-38DA-4BB5-96BC-374D97A5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本报告把原理推导与可观测的概率分布逐一对应。</a:t>
            </a:r>
          </a:p>
        </p:txBody>
      </p:sp>
    </p:spTree>
    <p:extLst>
      <p:ext uri="{BB962C8B-B14F-4D97-AF65-F5344CB8AC3E}">
        <p14:creationId xmlns:p14="http://schemas.microsoft.com/office/powerpoint/2010/main" val="15700369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8E36FC-0BA4-4BAA-B173-A67F2BC4F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两电子的直接积分与交换积分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2C69EB-202F-48A1-B0D7-F69BB60FA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0A8FAA-F37E-4904-8640-FFF9A10A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1–2 页，式 (1)–(9)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00F3F-0D33-45CE-9DA1-A846B372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6555A6-59CF-4A90-9BC2-3A2F0D3C1F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71f4dc1aed4cd4"/>
          <a:stretch xmlns:a="http://schemas.openxmlformats.org/drawingml/2006/main"/>
        </p:blipFill>
        <p:spPr>
          <a:xfrm xmlns:a="http://schemas.openxmlformats.org/drawingml/2006/main">
            <a:off x="581025" y="1566568"/>
            <a:ext cx="7524750" cy="1772238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505991-C7F6-4CEA-A89C-89A66C60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381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固定占据的出发点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4742B-0FF0-4888-A3CB-330D6E84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90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轨道 a、b 正交归一，各有一个电子。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库仑核作用在两电子坐标上。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BD39E1-E378-4F1F-8B74-40337584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286125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两种矩阵元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DDB71C-BF7E-45A2-AF0A-97A2A0F9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3048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对应保持轨道配对的直接项。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K 对应交换轨道配对的交换项。</a:t>
            </a:r>
          </a:p>
        </p:txBody>
      </p:sp>
      <p:graphicFrame>
        <p:nvGraphicFrame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2405D-57C7-436A-AB01-F6B9A81E1EAB}"/>
              </a:ext>
            </a:extLst>
          </p:cNvPr>
          <p:cNvGraphicFramePr/>
          <p:nvPr/>
        </p:nvGraphicFramePr>
        <p:xfrm>
          <a:off xmlns:a="http://schemas.openxmlformats.org/drawingml/2006/main" x="581025" y="3743325"/>
          <a:ext xmlns:a="http://schemas.openxmlformats.org/drawingml/2006/main" cx="7477125" cy="17907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3143250"/>
                <a:gridCol w="3381375"/>
              </a:tblGrid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积分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依赖的空间结构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在自旋模型中的作用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两轨道的密度分布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贡献共同能量常数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690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两轨道的交叉乘积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决定自旋交换耦合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A382C-4F28-4492-B096-1B2239D9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BFE44-95A8-4A09-AB1A-2EE348F31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在固定轨道模型中，交换积分把电子的空间结构带入自旋动力学。</a:t>
            </a:r>
          </a:p>
        </p:txBody>
      </p:sp>
    </p:spTree>
    <p:extLst>
      <p:ext uri="{BB962C8B-B14F-4D97-AF65-F5344CB8AC3E}">
        <p14:creationId xmlns:p14="http://schemas.microsoft.com/office/powerpoint/2010/main" val="1091546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20123-6546-4491-B14C-8265F898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库仑矩阵与单重态、三重态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8F4999-CF4C-474A-A6DC-34EB0954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EBCEE4-5AF0-4DAE-957E-5F9375F9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 页，式 (10)–(14)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D2454-B53C-4239-B9CB-1FFB5AFF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AF3E17-2623-4A16-837C-2085E309964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7b34bda2314090"/>
          <a:stretch xmlns:a="http://schemas.openxmlformats.org/drawingml/2006/main"/>
        </p:blipFill>
        <p:spPr>
          <a:xfrm xmlns:a="http://schemas.openxmlformats.org/drawingml/2006/main">
            <a:off x="548717" y="1476375"/>
            <a:ext cx="5465291" cy="20955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35557A-7AEF-431B-96DA-703DFE313A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03f182aae843ec"/>
          <a:stretch xmlns:a="http://schemas.openxmlformats.org/drawingml/2006/main"/>
        </p:blipFill>
        <p:spPr>
          <a:xfrm xmlns:a="http://schemas.openxmlformats.org/drawingml/2006/main">
            <a:off x="1295995" y="3838575"/>
            <a:ext cx="3942159" cy="1638300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D7C509B0-3AB1-4B2B-BCA7-041290B5A0EF}"/>
              </a:ext>
            </a:extLst>
          </p:cNvPr>
          <p:cNvGraphicFramePr/>
          <p:nvPr/>
        </p:nvGraphicFramePr>
        <p:xfrm>
          <a:off xmlns:a="http://schemas.openxmlformats.org/drawingml/2006/main" x="6334125" y="14097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6ae47e8616541e3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17C106-1BAC-4804-AAB4-FBF74962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5300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K &gt; 0 时，三重态能量更低。</a:t>
            </a:r>
          </a:p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能级间隔为 2K。</a:t>
            </a:r>
          </a:p>
        </p:txBody>
      </p:sp>
    </p:spTree>
    <p:extLst>
      <p:ext uri="{BB962C8B-B14F-4D97-AF65-F5344CB8AC3E}">
        <p14:creationId xmlns:p14="http://schemas.microsoft.com/office/powerpoint/2010/main" val="15137629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EB95C3-8362-432D-B6CD-90A8B876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矩阵匹配给出 Heisenberg 交换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915AD2-73D6-48C7-91FB-EEC014AF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DE809E-82A5-41C1-B730-E64077E2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(17)–(21)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4F65F7-233B-4CD0-B8CC-AF29FC38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ADB06-7E88-4122-8F84-C9DFAD39AE5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2f1b7af324208"/>
          <a:stretch xmlns:a="http://schemas.openxmlformats.org/drawingml/2006/main"/>
        </p:blipFill>
        <p:spPr>
          <a:xfrm xmlns:a="http://schemas.openxmlformats.org/drawingml/2006/main">
            <a:off x="1547325" y="1438275"/>
            <a:ext cx="3858599" cy="221932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95FED1-93C3-4E55-A946-A2601C0D849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b95d9ffbd44b26"/>
          <a:stretch xmlns:a="http://schemas.openxmlformats.org/drawingml/2006/main"/>
        </p:blipFill>
        <p:spPr>
          <a:xfrm xmlns:a="http://schemas.openxmlformats.org/drawingml/2006/main">
            <a:off x="1306727" y="4171950"/>
            <a:ext cx="4587446" cy="10287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03DFAE-DC40-41F1-91D9-C0D428764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43050"/>
            <a:ext cx="4286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6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6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−J / 2 = −K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C6D2A-31E0-4A9D-9643-03F6256C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62200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32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32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J = 2K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8D564-C5BB-4327-BF93-2EA376E5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19475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共同的能量常数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BED54A-0A44-4F26-9498-31378BE6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29050"/>
            <a:ext cx="4191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D − K/2 不改变自旋态之间的能量差。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对所有最近邻键求和得到晶格模型。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2B09A-40F2-4ADD-8878-1CACE1B8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AD6CCB-5061-4E20-9EE4-896AE9CE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自旋点积形式与两电子矩阵等价，交换系数由矩阵元确定。</a:t>
            </a:r>
          </a:p>
        </p:txBody>
      </p:sp>
    </p:spTree>
    <p:extLst>
      <p:ext uri="{BB962C8B-B14F-4D97-AF65-F5344CB8AC3E}">
        <p14:creationId xmlns:p14="http://schemas.microsoft.com/office/powerpoint/2010/main" val="1236219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ECD952-18BE-4C30-8F47-E510117A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二维交换模型与全极化基态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CD5BCC-965C-4515-A0DC-67D86E92A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2A2A5-359F-49A3-A00C-53B3E38A8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3 页，式 (22)–(25)　图 A01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8F8DDB-2918-49FA-87FA-2A3C6A0C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FBCDE4-EFB3-483A-8E3F-FDCF9B6B8FA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a995dd89947bf"/>
          <a:stretch xmlns:a="http://schemas.openxmlformats.org/drawingml/2006/main"/>
        </p:blipFill>
        <p:spPr>
          <a:xfrm xmlns:a="http://schemas.openxmlformats.org/drawingml/2006/main">
            <a:off x="361950" y="1477089"/>
            <a:ext cx="6905625" cy="3751422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B1449-4978-40D0-A696-2F1CEFB400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fa0f720796435f"/>
          <a:stretch xmlns:a="http://schemas.openxmlformats.org/drawingml/2006/main"/>
        </p:blipFill>
        <p:spPr>
          <a:xfrm xmlns:a="http://schemas.openxmlformats.org/drawingml/2006/main">
            <a:off x="7429500" y="1736624"/>
            <a:ext cx="4191000" cy="584402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410C24-CCF1-41E9-A76B-802259363D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e9576c1cd4324"/>
          <a:stretch xmlns:a="http://schemas.openxmlformats.org/drawingml/2006/main"/>
        </p:blipFill>
        <p:spPr>
          <a:xfrm xmlns:a="http://schemas.openxmlformats.org/drawingml/2006/main">
            <a:off x="8250051" y="3000375"/>
            <a:ext cx="2635624" cy="8001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9375CC-DA7F-4165-9140-F58F1FE4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10050"/>
            <a:ext cx="389572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每条键只计一次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Jₓ、Jᵧ &gt; 0，零外场</a:t>
            </a:r>
          </a:p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背景自旋沿 +x 极化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FFF4C6-4FE2-4903-B44F-C58C412A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11F229-8846-440F-BA92-3E9372A0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Jₓ ≠ Jᵧ 改变空间方向的耦合强度，单磁子仍在同一条能带上运动。</a:t>
            </a:r>
          </a:p>
        </p:txBody>
      </p:sp>
    </p:spTree>
    <p:extLst>
      <p:ext uri="{BB962C8B-B14F-4D97-AF65-F5344CB8AC3E}">
        <p14:creationId xmlns:p14="http://schemas.microsoft.com/office/powerpoint/2010/main" val="5434928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4275F-2854-4AED-99BF-576159874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单翻转子空间中的精确动力学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EC6F3-B9A8-439C-9BF4-92848178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96672-5C23-44CA-8825-FBE30EE2A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 页，式 (26)–(31)　图 B01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02469C-47CD-45C7-B22F-B89AB4BC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FAE210-84DF-47E3-9D3C-91C1ACE2765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789ba720634dd4"/>
          <a:stretch xmlns:a="http://schemas.openxmlformats.org/drawingml/2006/main"/>
        </p:blipFill>
        <p:spPr>
          <a:xfrm xmlns:a="http://schemas.openxmlformats.org/drawingml/2006/main">
            <a:off x="3139490" y="1362075"/>
            <a:ext cx="5303420" cy="6762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1E934C-4A55-4836-B745-DBBD0F7064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f8a2427ab541f0"/>
          <a:stretch xmlns:a="http://schemas.openxmlformats.org/drawingml/2006/main"/>
        </p:blipFill>
        <p:spPr>
          <a:xfrm xmlns:a="http://schemas.openxmlformats.org/drawingml/2006/main">
            <a:off x="514350" y="2633214"/>
            <a:ext cx="5810250" cy="1172472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A1B07-3D66-4324-9ED4-C5DF1C50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43350"/>
            <a:ext cx="5810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H 作用后仍是单翻转基矢的叠加。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303AC1-2A74-4639-986E-6A79CF8982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1a4eed90c4d02"/>
          <a:stretch xmlns:a="http://schemas.openxmlformats.org/drawingml/2006/main"/>
        </p:blipFill>
        <p:spPr>
          <a:xfrm xmlns:a="http://schemas.openxmlformats.org/drawingml/2006/main">
            <a:off x="514350" y="4441540"/>
            <a:ext cx="5810250" cy="718121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B9956-DD37-469C-8E3E-223AB697C8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29e8f5fa7c452e"/>
          <a:stretch xmlns:a="http://schemas.openxmlformats.org/drawingml/2006/main"/>
        </p:blipFill>
        <p:spPr>
          <a:xfrm xmlns:a="http://schemas.openxmlformats.org/drawingml/2006/main">
            <a:off x="7572211" y="2266950"/>
            <a:ext cx="3429328" cy="3286125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A51698-6F6D-4D96-A955-1B773EA7F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5CC12-FDA1-4A7D-8722-A4E1E6F0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Pᵢ = |cᵢ|²，ΣPᵢ = 1。沿极化轴的局域自旋满足 〈Sᵢˣ〉 = 1/2 − Pᵢ。</a:t>
            </a:r>
          </a:p>
        </p:txBody>
      </p:sp>
    </p:spTree>
    <p:extLst>
      <p:ext uri="{BB962C8B-B14F-4D97-AF65-F5344CB8AC3E}">
        <p14:creationId xmlns:p14="http://schemas.microsoft.com/office/powerpoint/2010/main" val="751597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200FC-1DFD-48C9-AC58-C7689A0A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交换耦合把翻转振幅传给相邻格点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2F5190-5881-423A-8DF0-F833D7EA2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A3CA2-0AD8-4021-8160-29D2CB6DA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4–5 页，式 (28)、(34)、(35)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714B5-CA1A-4216-9EE2-CE4056B84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9C0AF0-FEC2-4CDE-92FD-417EFF6A20B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f23dbdd3104851"/>
          <a:stretch xmlns:a="http://schemas.openxmlformats.org/drawingml/2006/main"/>
        </p:blipFill>
        <p:spPr>
          <a:xfrm xmlns:a="http://schemas.openxmlformats.org/drawingml/2006/main">
            <a:off x="2071688" y="1333500"/>
            <a:ext cx="4000500" cy="8572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E679BB-E6BE-4908-9F22-F423CEB9D9C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dbd8bfd58549b5"/>
          <a:stretch xmlns:a="http://schemas.openxmlformats.org/drawingml/2006/main"/>
        </p:blipFill>
        <p:spPr>
          <a:xfrm xmlns:a="http://schemas.openxmlformats.org/drawingml/2006/main">
            <a:off x="2437861" y="2686050"/>
            <a:ext cx="7316278" cy="1685925"/>
          </a:xfrm>
          <a:prstGeom xmlns:a="http://schemas.openxmlformats.org/drawingml/2006/main" prst="rect">
            <a:avLst/>
          </a:prstGeom>
        </p:spPr>
      </p:pic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6464B3-B46B-47BF-A066-C0F3CB06031B}"/>
              </a:ext>
            </a:extLst>
          </p:cNvPr>
          <p:cNvGraphicFramePr/>
          <p:nvPr/>
        </p:nvGraphicFramePr>
        <p:xfrm>
          <a:off xmlns:a="http://schemas.openxmlformats.org/drawingml/2006/main" x="619125" y="4638675"/>
          <a:ext xmlns:a="http://schemas.openxmlformats.org/drawingml/2006/main" cx="10906125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143125"/>
                <a:gridCol w="3143250"/>
                <a:gridCol w="5619750"/>
              </a:tblGrid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物理含义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基态能量 + Jₓ + Jᵧ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共同相位与交换对角能量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相邻格点振幅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−Jₓ/2、−Jᵧ/2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连接相邻翻转位置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497D2-9411-44EF-8D5A-B01BF126B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573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单条交换键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6E5F6-A6F4-4C17-B552-227579E39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14525"/>
            <a:ext cx="28479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保留原位置，也产生相邻位置的振幅。</a:t>
            </a:r>
          </a:p>
        </p:txBody>
      </p:sp>
    </p:spTree>
    <p:extLst>
      <p:ext uri="{BB962C8B-B14F-4D97-AF65-F5344CB8AC3E}">
        <p14:creationId xmlns:p14="http://schemas.microsoft.com/office/powerpoint/2010/main" val="11765029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4E12C6-2361-4FBB-B5ED-9EC6DBF5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平面波代入运动方程得到色散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627F7C-13D0-44E1-B4B0-FAB03D3D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59C26-0E99-47E5-94D3-45C42E55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页，式 (36)–(39)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647CB-A310-4E40-8241-2FC3A022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24E3B-9097-4CAB-9010-739A654221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f5b6c8ae9349fe"/>
          <a:stretch xmlns:a="http://schemas.openxmlformats.org/drawingml/2006/main"/>
        </p:blipFill>
        <p:spPr>
          <a:xfrm xmlns:a="http://schemas.openxmlformats.org/drawingml/2006/main">
            <a:off x="1335881" y="1352550"/>
            <a:ext cx="4767263" cy="8667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B72721-A12B-4A43-8E01-5F2EB4FEAB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36a8424a3049c5"/>
          <a:stretch xmlns:a="http://schemas.openxmlformats.org/drawingml/2006/main"/>
        </p:blipFill>
        <p:spPr>
          <a:xfrm xmlns:a="http://schemas.openxmlformats.org/drawingml/2006/main">
            <a:off x="1562514" y="2628900"/>
            <a:ext cx="9009822" cy="80010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797CA2-2EE4-4008-A995-3CF1DCEAAB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f0b688e0f24004"/>
          <a:stretch xmlns:a="http://schemas.openxmlformats.org/drawingml/2006/main"/>
        </p:blipFill>
        <p:spPr>
          <a:xfrm xmlns:a="http://schemas.openxmlformats.org/drawingml/2006/main">
            <a:off x="2151970" y="3819525"/>
            <a:ext cx="7678511" cy="12668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8564B-D68F-4789-8180-7220D3BC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419225"/>
            <a:ext cx="3505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平移本征模式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EF0633-81EC-4ADC-A31C-5B6F16994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1885950"/>
            <a:ext cx="35052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相邻格点的振幅大小相同，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空间移动只改变相位。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FCCDB-5DBD-49CD-B990-284139F90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462855-A615-4553-941B-956F5FE2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余弦项来自正、反两个最近邻方向的相位之和。</a:t>
            </a:r>
          </a:p>
        </p:txBody>
      </p:sp>
    </p:spTree>
    <p:extLst>
      <p:ext uri="{BB962C8B-B14F-4D97-AF65-F5344CB8AC3E}">
        <p14:creationId xmlns:p14="http://schemas.microsoft.com/office/powerpoint/2010/main" val="67971981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EAB40-E9FE-431C-964D-99117F14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色散曲面与方向带宽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DC01C-5E41-4B4D-9F73-2DEE3216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0E6493-1081-4B0F-A0BB-238217673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式 (39)　模拟 A02、A03 轴向截面数据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BFDA15-9C1C-411F-AE2A-3E7E64B71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6E8FBB-3A4B-401F-A83A-ECC53A175A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729d3837d4f42"/>
          <a:stretch xmlns:a="http://schemas.openxmlformats.org/drawingml/2006/main"/>
        </p:blipFill>
        <p:spPr>
          <a:xfrm xmlns:a="http://schemas.openxmlformats.org/drawingml/2006/main">
            <a:off x="381000" y="1580117"/>
            <a:ext cx="5715000" cy="320246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9C9A2FE-9CFF-4C31-870C-C98679059EB4}"/>
              </a:ext>
            </a:extLst>
          </p:cNvPr>
          <p:cNvGraphicFramePr/>
          <p:nvPr/>
        </p:nvGraphicFramePr>
        <p:xfrm>
          <a:off xmlns:a="http://schemas.openxmlformats.org/drawingml/2006/main" x="6238875" y="1381125"/>
          <a:ext xmlns:a="http://schemas.openxmlformats.org/drawingml/2006/main" cx="5391150" cy="36480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2c27af40fa64c05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25867-0A67-48A0-B8D8-0E2573A7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5210175"/>
            <a:ext cx="4714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η = 1：能带宽度 4Jₓ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234954-8C5F-4BB4-99BC-E2BE0384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210175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 Jₓ，减小 η 会降低 y 方向带宽。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422031-03E8-4FD4-BA4C-0B12574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334C3-5D50-49E5-87A5-5208DD5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正方晶格在大波矢处保留晶格对称性，长波区域才近似抛物面。</a:t>
            </a:r>
          </a:p>
        </p:txBody>
      </p:sp>
    </p:spTree>
    <p:extLst>
      <p:ext uri="{BB962C8B-B14F-4D97-AF65-F5344CB8AC3E}">
        <p14:creationId xmlns:p14="http://schemas.microsoft.com/office/powerpoint/2010/main" val="35856613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8B206-502E-4DDB-9E56-1C18FB3F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等频线与能量传播方向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C06BB-35A3-4924-A034-3A8C4DC85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2F3D18-010E-46F7-84F8-79C79EE6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A05、A06，η = 1 与 0.35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D0B314-0E8C-4308-96A6-C3787DA1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2C516-01EA-4833-B8B8-B812E4D2071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6d12ec68464e3d"/>
          <a:stretch xmlns:a="http://schemas.openxmlformats.org/drawingml/2006/main"/>
        </p:blipFill>
        <p:spPr>
          <a:xfrm xmlns:a="http://schemas.openxmlformats.org/drawingml/2006/main">
            <a:off x="2589883" y="1190625"/>
            <a:ext cx="7012235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E9B53-1BA0-4453-A6F8-7CACF8C70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同一条等频线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9289A2-CB1E-4D26-975C-E08B2757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线上各模式的频率相同。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群速度指向色散曲面的梯度方向。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F2514-3CA9-48E8-B104-D3978F26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空间各向异性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646C84-C62E-49F9-8912-388D6F89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减小 Jᵧ 会降低群速度的 y 分量。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波矢方向与传播方向需分别判断。</a:t>
            </a:r>
          </a:p>
        </p:txBody>
      </p:sp>
    </p:spTree>
    <p:extLst>
      <p:ext uri="{BB962C8B-B14F-4D97-AF65-F5344CB8AC3E}">
        <p14:creationId xmlns:p14="http://schemas.microsoft.com/office/powerpoint/2010/main" val="28313813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618384-D2FD-44FE-8E81-0702D1313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群速度由色散斜率决定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6A3808-3236-409E-944E-B76955252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554E50-A7CC-4654-9676-FA15A30A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A07　ω = ε / 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EEED1F-8832-4ED2-A082-03E1CFAC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53BA3-E087-412F-A516-E7845E377DC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efe792cf145a3"/>
          <a:stretch xmlns:a="http://schemas.openxmlformats.org/drawingml/2006/main"/>
        </p:blipFill>
        <p:spPr>
          <a:xfrm xmlns:a="http://schemas.openxmlformats.org/drawingml/2006/main">
            <a:off x="2652337" y="1190625"/>
            <a:ext cx="688732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556AAE-ECF5-4D55-8FF3-264A6FA2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群速度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607377-BE25-4244-A70C-A90746A4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v = (1/ℏ)∇ₖε。沿 x 方向，vₓ = (Jₓa/ℏ) sin qₓ。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790F20-BC62-4D72-8471-954584F8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方向与速度上限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37A4D7-BDF1-4BDA-BF46-716771585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近原点，qₓ 的符号决定方向。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最大 |vₓ| 对应 qₓ = ±π/2。</a:t>
            </a:r>
          </a:p>
        </p:txBody>
      </p:sp>
    </p:spTree>
    <p:extLst>
      <p:ext uri="{BB962C8B-B14F-4D97-AF65-F5344CB8AC3E}">
        <p14:creationId xmlns:p14="http://schemas.microsoft.com/office/powerpoint/2010/main" val="112300635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1C4E62-2501-4066-B3E8-1B3875BC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原理公式与传播模拟的对应关系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DB773-4E8A-4494-A034-981DA943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C9B9A2-1807-4F89-9031-E881278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5 页　模拟 common.py 与 THEORY.md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85DBFA-5617-425B-A601-857086D07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45F8D3-C888-426D-BE6D-B16ED3AFB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95400"/>
            <a:ext cx="1762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 = exp(i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C1327B-9780-414F-A561-92299C3E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95400"/>
            <a:ext cx="285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C0B48B-E1AD-4528-A1E4-511664B0C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438275"/>
            <a:ext cx="2286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5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4910E-D75F-4BEE-B620-4C5BC9475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295400"/>
            <a:ext cx="1524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t/ℏ)c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52A050-8FC5-4906-8901-12EE6C635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295400"/>
            <a:ext cx="5953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32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|ψ|² = |c|²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72C15-A22C-407E-B4A0-0B3B84B5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09775"/>
            <a:ext cx="1666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n = r/a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2191F-80E1-4F13-9576-73CFA8E9C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009775"/>
            <a:ext cx="1571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3FE25D-BE36-437B-8A5D-9ECFFE7F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9775"/>
            <a:ext cx="190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τ = Jₓt/ℏ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8F5591-EC37-409A-837A-C6FA27E64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09775"/>
            <a:ext cx="219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η = Jᵧ/Jₓ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B4F3A9-BD08-421F-93DC-54DB558F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00977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u = ℏv/(Jₓa)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35755A-2188-419D-B8F3-11A44BE3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e(q) = ε/Jₓ = 1 − cos qₓ + η(1 − cos qᵧ)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DC64A9-A105-4098-AEB7-B0CDAA097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0906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4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4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A(q,τ) = A(q,0) exp[−i e(q)τ]</a:t>
            </a:r>
          </a:p>
        </p:txBody>
      </p:sp>
      <p:graphicFrame>
        <p:nvGraphicFrame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9D48BE-1647-4642-8E5E-232887D9A5F3}"/>
              </a:ext>
            </a:extLst>
          </p:cNvPr>
          <p:cNvGraphicFramePr/>
          <p:nvPr/>
        </p:nvGraphicFramePr>
        <p:xfrm>
          <a:off xmlns:a="http://schemas.openxmlformats.org/drawingml/2006/main" x="600075" y="4229100"/>
          <a:ext xmlns:a="http://schemas.openxmlformats.org/drawingml/2006/main" cx="11001375" cy="14573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3952875"/>
                <a:gridCol w="3667125"/>
              </a:tblGrid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波矢空间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可观测量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初态 ψ(n,0)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FFT 得到 A(q,0)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P(n,0) = |ψ(n,0)|²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577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逆 FFT 得到 ψ(n,τ)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各模式独立积累时间相位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P(n,τ)、质心、RMS 宽度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8574E5-7D5F-4A9F-94F7-1CABED87A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ED11CF-F266-4E7E-8138-5AD9B0AD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完整余弦色散直接决定时间演化，有限周期盒的影响另用扩大晶格对照检查。</a:t>
            </a:r>
          </a:p>
        </p:txBody>
      </p:sp>
    </p:spTree>
    <p:extLst>
      <p:ext uri="{BB962C8B-B14F-4D97-AF65-F5344CB8AC3E}">
        <p14:creationId xmlns:p14="http://schemas.microsoft.com/office/powerpoint/2010/main" val="64221002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8244BA-EBA1-496E-A999-9FF5FCFC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一个格点的局域翻转包含整个能带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78E6D0-0D99-428A-9F1F-DD930ECBC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12E730-6FBD-47FC-8EF7-ABD041AE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B02　N = 256 表示 256 × 256 格点，Σ|A|²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1CF791-E893-4A79-8D8A-CEAB5319A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6A74B-19D1-4BCA-A8C3-25428A1822A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0695400c4f4ec0"/>
          <a:stretch xmlns:a="http://schemas.openxmlformats.org/drawingml/2006/main"/>
        </p:blipFill>
        <p:spPr>
          <a:xfrm xmlns:a="http://schemas.openxmlformats.org/drawingml/2006/main">
            <a:off x="2523468" y="1190625"/>
            <a:ext cx="7145064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99B930-9DA7-4A48-A9EE-B50DEDE8D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位置越局域，频谱越宽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D8620F-1F15-4AE4-B83E-D4637061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单点初态 ψₘₙ = δₘ₀δₙ₀。每个离散波矢的概率都为 1/N²。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D9AE8-F47C-476A-8AC2-1B42A24ED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传播的直接后果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94C7BE-6B31-4D9E-8355-547C1B208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许多方向和速度的分量同时参与演化，局域激发自然向周围展开。</a:t>
            </a:r>
          </a:p>
        </p:txBody>
      </p:sp>
    </p:spTree>
    <p:extLst>
      <p:ext uri="{BB962C8B-B14F-4D97-AF65-F5344CB8AC3E}">
        <p14:creationId xmlns:p14="http://schemas.microsoft.com/office/powerpoint/2010/main" val="174281600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CDD70-F53E-4224-B28B-A480F1657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局域激发的后期传播与干涉图样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3E01AE-CFB8-4236-A1E8-E108CE03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C39A9-1C2B-4C5E-BBB7-9E8D8532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B04　η = 1，四个时刻使用共同对数色标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95B184-CAB4-4562-B144-863E9EE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3ABA75-717A-439A-8449-DF6B916BAD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4c26092383444a"/>
          <a:stretch xmlns:a="http://schemas.openxmlformats.org/drawingml/2006/main"/>
        </p:blipFill>
        <p:spPr>
          <a:xfrm xmlns:a="http://schemas.openxmlformats.org/drawingml/2006/main">
            <a:off x="419100" y="1289508"/>
            <a:ext cx="11353800" cy="3278859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7DDB4B4-375E-44E5-AEE6-D573318F4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由近邻传递到空间展开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FC293-D55C-40CE-99F2-740D4589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6、12、24、36 时，概率逐步向外展开，图中保留完整余弦能带的贡献。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9ECCD-91B5-4F2A-BE67-14188F0F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晶格与相干干涉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A6D65F-A66E-4A37-B6B1-B51C8B643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方格晶格留下四重对称图样。不同传播路径叠加形成条纹和旁瓣。</a:t>
            </a:r>
          </a:p>
        </p:txBody>
      </p:sp>
    </p:spTree>
    <p:extLst>
      <p:ext uri="{BB962C8B-B14F-4D97-AF65-F5344CB8AC3E}">
        <p14:creationId xmlns:p14="http://schemas.microsoft.com/office/powerpoint/2010/main" val="195261092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ABF62E-A0A9-4F33-A3B7-2CB041AD4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交换各向异性控制概率展开的方向尺度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BFEB73-94BD-4213-A677-BDFF889F3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FAC54D-D559-4104-BE4C-D70B8E25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B05、B11、B16　Jₓ 固定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3A713C-D12A-49DB-BD71-99017388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341479-E752-4F73-AB86-A1FE5CA33A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cd6d903c4a45a5"/>
          <a:stretch xmlns:a="http://schemas.openxmlformats.org/drawingml/2006/main"/>
        </p:blipFill>
        <p:spPr>
          <a:xfrm xmlns:a="http://schemas.openxmlformats.org/drawingml/2006/main">
            <a:off x="400050" y="2116989"/>
            <a:ext cx="7639050" cy="2452572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57ED51-1BCE-4B29-85F3-3A87C3A0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4382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相同初态，相同时间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ACD9A1-D862-4140-97E4-6B117B82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18478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24 时，x 方向 RMS 宽度均为 16.971a。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9FD69E-942A-4056-AAE3-67F4439C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23850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改变 η = Jᵧ/Jₓ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4CD6BA-7548-4114-8B88-4AFA27C1A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364807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1：σᵧ = 16.971a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0.3：σᵧ = 5.091a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0：严格停留在原链。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2C0F43-1EE4-4BC9-AA27-8FE27FE6A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08F1D-67B6-4F64-BF13-A93C1580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单点初态的 RMS 长宽比 σᵧ/σₓ = η，给出可直接检查的各向异性规律。</a:t>
            </a:r>
          </a:p>
        </p:txBody>
      </p:sp>
    </p:spTree>
    <p:extLst>
      <p:ext uri="{BB962C8B-B14F-4D97-AF65-F5344CB8AC3E}">
        <p14:creationId xmlns:p14="http://schemas.microsoft.com/office/powerpoint/2010/main" val="83340799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B1120-E706-4872-955B-BEF410FB1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传播前沿与均方根宽度描述不同尺度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6F14EE-7B47-4923-89F8-83C125907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3D8024-F871-4540-BBB0-3BC9105B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B07、B09　左图 η = 1，右图 η = 1、0.3、0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32513-7993-4096-8DD4-BC5C6423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B2EA9F-23EE-4700-B961-158A7548CF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d9f51b3cc94953"/>
          <a:stretch xmlns:a="http://schemas.openxmlformats.org/drawingml/2006/main"/>
        </p:blipFill>
        <p:spPr>
          <a:xfrm xmlns:a="http://schemas.openxmlformats.org/drawingml/2006/main">
            <a:off x="361950" y="1931352"/>
            <a:ext cx="6238875" cy="2785746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25DA7F6-F4C5-4445-86B0-73166DA5F3D9}"/>
              </a:ext>
            </a:extLst>
          </p:cNvPr>
          <p:cNvGraphicFramePr/>
          <p:nvPr/>
        </p:nvGraphicFramePr>
        <p:xfrm>
          <a:off xmlns:a="http://schemas.openxmlformats.org/drawingml/2006/main" x="6781800" y="1390650"/>
          <a:ext xmlns:a="http://schemas.openxmlformats.org/drawingml/2006/main" cx="4914900" cy="3705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f010956643b462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2708B-FBCE-4CEC-B044-30C01C4AB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72100"/>
            <a:ext cx="5238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主要前沿：|x|/a ≈ 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E00DEC-A9B6-4629-9097-B965D1AF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5372100"/>
            <a:ext cx="46196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1875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等方情形：σₓ/a = σᵧ/a = τ/√2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A446B-1E6F-4985-A438-0A2CCA42B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7B715-DCAA-4627-A4A1-FE3105D9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宽度与时间成正比，对应相干弹道展开。图示前沿之外仍存在小尾部。</a:t>
            </a:r>
          </a:p>
        </p:txBody>
      </p:sp>
    </p:spTree>
    <p:extLst>
      <p:ext uri="{BB962C8B-B14F-4D97-AF65-F5344CB8AC3E}">
        <p14:creationId xmlns:p14="http://schemas.microsoft.com/office/powerpoint/2010/main" val="96490219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5F221D-CA17-4336-861A-5C43D201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局域返回概率的相干振荡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D9D4A-D721-403B-91ED-A3632660D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8A6B2-46BD-4860-B370-D32E9045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B10　固定单磁子数态，η = 1 与 0.3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01BD55-5DF8-433A-A716-73D5102A0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B550E5-842F-4B0E-98EC-91B922D91A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23c9c1dfc49fb"/>
          <a:stretch xmlns:a="http://schemas.openxmlformats.org/drawingml/2006/main"/>
        </p:blipFill>
        <p:spPr>
          <a:xfrm xmlns:a="http://schemas.openxmlformats.org/drawingml/2006/main">
            <a:off x="2305028" y="1295400"/>
            <a:ext cx="7562894" cy="35909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87A7AC-6F35-4582-B8EF-D6836DF3C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143500"/>
            <a:ext cx="1085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P₀₀ 随时间降低并出现振荡，ΣP 始终为 1。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8D90E7-F9F0-414D-9EF1-AC430257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017194-311D-4F2B-8A44-236F4800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局部概率减少表示激发向外传播，当前模型没有引入阻尼或磁子损失。</a:t>
            </a:r>
          </a:p>
        </p:txBody>
      </p:sp>
    </p:spTree>
    <p:extLst>
      <p:ext uri="{BB962C8B-B14F-4D97-AF65-F5344CB8AC3E}">
        <p14:creationId xmlns:p14="http://schemas.microsoft.com/office/powerpoint/2010/main" val="202037167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AC3AD-C4C1-4CA7-A719-E9075812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翻转概率对应纵向自旋亏损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A0C209-BC14-4767-A620-BF4CD6484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B0680E-57A5-4E04-84EA-9F2DD17C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B12　η = 1，τ = 8，背景沿 +x 极化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A4471-99E6-431B-A78A-DFA14A93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DC1A56-AE58-4CE1-A2E7-ED72AF73E1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4237e220284128"/>
          <a:stretch xmlns:a="http://schemas.openxmlformats.org/drawingml/2006/main"/>
        </p:blipFill>
        <p:spPr>
          <a:xfrm xmlns:a="http://schemas.openxmlformats.org/drawingml/2006/main">
            <a:off x="2368150" y="1190625"/>
            <a:ext cx="7455699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E1D29-EAAF-4F15-A228-E3554728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局域观测量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6F3FE-2DE5-4532-A381-DF5635458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〈Sᵢˣ〉 = 1/2 − Pᵢ。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概率峰对应自旋亏损。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全部格点的亏损之和为 1。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108D66-BB75-45BD-B640-94455B9D0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量子态的解释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63F4A-2E8C-4D4B-A78A-CD51E160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固定单磁子数态满足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〈Sᵢʸ〉 = 〈Sᵢᶻ〉 = 0。</a:t>
            </a:r>
          </a:p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概率振幅描述翻转位置的量子叠加。</a:t>
            </a:r>
          </a:p>
        </p:txBody>
      </p:sp>
    </p:spTree>
    <p:extLst>
      <p:ext uri="{BB962C8B-B14F-4D97-AF65-F5344CB8AC3E}">
        <p14:creationId xmlns:p14="http://schemas.microsoft.com/office/powerpoint/2010/main" val="182335189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E881C2-5816-480F-BB19-EE7614856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载波、包络与初始频谱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F74727-C2CC-4C7B-BEE6-DAFB1FE4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9889FA-090C-4B1B-A9CB-BF2115A8D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C01　n = r/a，σ 以格点数计，σ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F03CC3-75F3-4995-8B5B-B3536B91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274D66-2B34-4311-B68D-7F579631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219200"/>
            <a:ext cx="10934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ψ₀(n) ∝ exp[−(nₓ²+nᵧ²)/(4σ²)] exp(i q₀·n)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7A1043-C7DF-4D64-BF2D-CF3CD671FE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1842afadbf44f3"/>
          <a:stretch xmlns:a="http://schemas.openxmlformats.org/drawingml/2006/main"/>
        </p:blipFill>
        <p:spPr>
          <a:xfrm xmlns:a="http://schemas.openxmlformats.org/drawingml/2006/main">
            <a:off x="1762612" y="1905000"/>
            <a:ext cx="8647726" cy="2762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111E5C-AAFD-4EBB-B0D8-442202B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σ 是初始概率 RMS 宽度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F5587-F29F-4F6E-BA1C-9F1411D5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乘上载波 exp(iq₀·n) 后，初始位置概率包络保持不变。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6A4FB-75A8-4638-867A-CD7BEA2B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577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相位决定频谱位置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268527-D764-45A3-83F6-F2F41B51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6732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载波把频谱中心移到 q₀，决定平均速度与传播方向。</a:t>
            </a:r>
          </a:p>
        </p:txBody>
      </p:sp>
    </p:spTree>
    <p:extLst>
      <p:ext uri="{BB962C8B-B14F-4D97-AF65-F5344CB8AC3E}">
        <p14:creationId xmlns:p14="http://schemas.microsoft.com/office/powerpoint/2010/main" val="170818633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B473DE-CAAA-47CA-A15A-919685119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载波选择静止、左行、右行与斜向传播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31229E-EE56-449E-A6A3-8C413D88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65FB1-3B1C-4F36-9785-6EFAB696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C05　静态快照 τ = 60，σ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754F4-6ADB-44D0-8164-48FD00C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AF87BE-14AB-46F5-B11C-9D84B1D6E30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341d1339e3426d"/>
          <a:stretch xmlns:a="http://schemas.openxmlformats.org/drawingml/2006/main"/>
        </p:blipFill>
        <p:spPr>
          <a:xfrm xmlns:a="http://schemas.openxmlformats.org/drawingml/2006/main">
            <a:off x="400050" y="1652696"/>
            <a:ext cx="11315700" cy="2676307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E1A365-BEB7-4B7E-98E1-D64859E85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29175"/>
            <a:ext cx="5200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零中心波矢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796100-977E-405E-8A32-F85D96FC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52006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= (0,0) 时，平均速度为零。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向两侧运动的分量仍使包络展宽。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EEE16-35DE-4DC9-A789-655CF4CAE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829175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非零中心波矢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3BAA0A-CF8B-4F4F-9D47-BE6D92B4A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238750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相位梯度改变频谱权重，让概率质心产生净位移。</a:t>
            </a:r>
          </a:p>
        </p:txBody>
      </p:sp>
    </p:spTree>
    <p:extLst>
      <p:ext uri="{BB962C8B-B14F-4D97-AF65-F5344CB8AC3E}">
        <p14:creationId xmlns:p14="http://schemas.microsoft.com/office/powerpoint/2010/main" val="15580558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52FFAC-35E2-4735-95A0-9C4AC311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质心速度是整个频谱的加权平均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F1D75F-480C-4509-81E7-9FEC7228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E55549-4A28-4E26-9EF4-BE4563EC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C06　σ = 4，η = 1，τ ≤ 60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33CFBA-6BB6-4D74-A99E-9813537FE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C9D036B-C2D5-4D0F-ADB4-84FE59A569A6}"/>
              </a:ext>
            </a:extLst>
          </p:cNvPr>
          <p:cNvGraphicFramePr/>
          <p:nvPr/>
        </p:nvGraphicFramePr>
        <p:xfrm>
          <a:off xmlns:a="http://schemas.openxmlformats.org/drawingml/2006/main" x="428625" y="1362075"/>
          <a:ext xmlns:a="http://schemas.openxmlformats.org/drawingml/2006/main" cx="76390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a4c64009607452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8D47D0-899F-4B8A-AB93-224011F1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精确谱平均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3EE6CF-3C24-4F60-900D-21303D1A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838325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Σ |A(q)|² sin qₓ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相同初态的谱权重保持不变。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978D2-14C2-43ED-A292-2A7AEE914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8137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有限频宽的差别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9A80AD-94B4-47D2-8FF2-A1E13E66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790950"/>
            <a:ext cx="309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ūₓ = 0.639204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sin(0.7) = 0.644218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60：〈x〉 = 38.3523a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AED118-369B-4218-8420-ABA9CEE3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2E5A04-775C-446D-9CEC-835138AE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中心波矢处群速度适用于窄带近似，实际质心轨迹由谱平均给出。</a:t>
            </a:r>
          </a:p>
        </p:txBody>
      </p:sp>
    </p:spTree>
    <p:extLst>
      <p:ext uri="{BB962C8B-B14F-4D97-AF65-F5344CB8AC3E}">
        <p14:creationId xmlns:p14="http://schemas.microsoft.com/office/powerpoint/2010/main" val="4123531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19A6D-79A8-4D94-9ECF-49A95D29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共动坐标把展宽从整体移动中分离出来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5D9904-4FC9-48AE-A2DA-48EE11C0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A847F4-92E7-4C67-96D9-3BDC267A4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C07　q₀ = (0.7,0)，σ = 4，η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06075-7465-4797-9764-349A2E71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8B120E-E5BC-4CDE-AF8E-F8B9E995A6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76add324834c55"/>
          <a:stretch xmlns:a="http://schemas.openxmlformats.org/drawingml/2006/main"/>
        </p:blipFill>
        <p:spPr>
          <a:xfrm xmlns:a="http://schemas.openxmlformats.org/drawingml/2006/main">
            <a:off x="1309520" y="1190625"/>
            <a:ext cx="9572960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C8ABCC-E3FB-4283-8FF4-1AFF4278E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只减去质心位移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CBCFB-0F3F-47FD-8E5E-56A05627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每条曲线都在各自的共动坐标中显示，峰值与宽度没有重新归一化。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31C6C-8610-4853-BAAB-106484DE1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两个方向分别展宽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BAC7E5-DC57-4A63-92A6-75026B256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τ = 60 时 σₓ = 6.970a，σᵧ = 8.449a。不同方向的曲率导致不同速度方差。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88188437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C6066-2875-4DFA-AB2D-A7D6F1CE9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速度方差决定无啁啾 Gaussian 的展宽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20EF12-4544-4DF0-ABD4-301A8FF2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C87597-649D-41C1-B83B-345BD57B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C09　完整色散下的数值宽度与谱矩关系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9A337-8716-4894-83D4-B5D698B46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E237282E-BFED-4FE4-B4DB-69EF9629A3D9}"/>
              </a:ext>
            </a:extLst>
          </p:cNvPr>
          <p:cNvGraphicFramePr/>
          <p:nvPr/>
        </p:nvGraphicFramePr>
        <p:xfrm>
          <a:off xmlns:a="http://schemas.openxmlformats.org/drawingml/2006/main" x="419100" y="1400175"/>
          <a:ext xmlns:a="http://schemas.openxmlformats.org/drawingml/2006/main" cx="7553325" cy="3971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b744bbcb71b43c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EC3FC9-82A8-4339-948F-96D62229B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571625"/>
            <a:ext cx="3333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Var[n(τ)] = Var[n(0)]</a:t>
            </a:r>
          </a:p>
          <a:p xmlns:a="http://schemas.openxmlformats.org/drawingml/2006/main">
            <a:pPr algn="l">
              <a:defRPr sz="210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10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                 + τ² Var(u)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47C3B-8603-4299-B6A1-273AA7086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1908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物理解释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9A5A42-22B1-4FC1-A08E-FD7186C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004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不同波矢的群速度不同。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速度差随传播时间积累，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形成包络宽度的增长。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9A1484-E7CD-43D0-8D81-ADADFE1A5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82B451-68C6-4536-8875-574A4A8B9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这里使用完整余弦色散的谱矩，不把结果限制为二阶抛物线近似。</a:t>
            </a:r>
          </a:p>
        </p:txBody>
      </p:sp>
    </p:spTree>
    <p:extLst>
      <p:ext uri="{BB962C8B-B14F-4D97-AF65-F5344CB8AC3E}">
        <p14:creationId xmlns:p14="http://schemas.microsoft.com/office/powerpoint/2010/main" val="129635787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976C6-D4D9-418C-9A39-5D285C3C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初始空间宽度与相对展宽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7BDFF-D195-4094-B24B-266710A9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362686-E777-4799-9971-8FA0CCC53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C02、C08　q₀ = (0.7,0)，η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A8B53E-38EC-4CC1-A3F0-8A6DDD01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2D6982-F0A6-4CBF-8089-D4E9B2DC9D3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c136143f0b42c9"/>
          <a:stretch xmlns:a="http://schemas.openxmlformats.org/drawingml/2006/main"/>
        </p:blipFill>
        <p:spPr>
          <a:xfrm xmlns:a="http://schemas.openxmlformats.org/drawingml/2006/main">
            <a:off x="409575" y="1797541"/>
            <a:ext cx="6924675" cy="2453293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8D0DB3C-7545-4ADE-88B5-E39FE5D1E3E8}"/>
              </a:ext>
            </a:extLst>
          </p:cNvPr>
          <p:cNvGraphicFramePr/>
          <p:nvPr/>
        </p:nvGraphicFramePr>
        <p:xfrm>
          <a:off xmlns:a="http://schemas.openxmlformats.org/drawingml/2006/main" x="7524750" y="1438275"/>
          <a:ext xmlns:a="http://schemas.openxmlformats.org/drawingml/2006/main" cx="415290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55b443bd8b4afd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3678A-D6E4-44C6-8B1A-98F3A126CB83}"/>
              </a:ext>
            </a:extLst>
          </p:cNvPr>
          <p:cNvGraphicFramePr/>
          <p:nvPr/>
        </p:nvGraphicFramePr>
        <p:xfrm>
          <a:off xmlns:a="http://schemas.openxmlformats.org/drawingml/2006/main" x="581025" y="5010150"/>
          <a:ext xmlns:a="http://schemas.openxmlformats.org/drawingml/2006/main" cx="11001375" cy="7810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00375"/>
                <a:gridCol w="2667000"/>
                <a:gridCol w="2667000"/>
                <a:gridCol w="2667000"/>
              </a:tblGrid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初始 RMS 宽度 / a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390525"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σₓ(60) / σₓ(0)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2.718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1.185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6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1.026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44D2E-8C5E-4D72-8864-97EAB5C9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21A1CE-9393-495E-8B24-AF5872134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更窄频谱减小速度分散，同时需要更大的初始空间范围。</a:t>
            </a:r>
          </a:p>
        </p:txBody>
      </p:sp>
    </p:spTree>
    <p:extLst>
      <p:ext uri="{BB962C8B-B14F-4D97-AF65-F5344CB8AC3E}">
        <p14:creationId xmlns:p14="http://schemas.microsoft.com/office/powerpoint/2010/main" val="19794048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2F74B4-08FA-4CB7-832E-443D7F630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各向异性同时改变方向与包络尺度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DB191-4B73-4AA1-966A-9B0573590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6D28E1-49ED-4DF4-BE16-F38B937A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C10、C11　q₀ = (0.7,0.7)，σ = 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9345E5-91B9-4FD8-9797-F11DA2BD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731663-B9CF-4DCC-81ED-0692E6CF4A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cd52c8b09439a"/>
          <a:stretch xmlns:a="http://schemas.openxmlformats.org/drawingml/2006/main"/>
        </p:blipFill>
        <p:spPr>
          <a:xfrm xmlns:a="http://schemas.openxmlformats.org/drawingml/2006/main">
            <a:off x="428625" y="2008013"/>
            <a:ext cx="7534275" cy="24133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76F4A-F28F-405B-8F81-1F4CE51D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相同的波矢方向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3B4D3-38D2-449B-930A-8953ECA2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38325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q₀ 的方向均为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1：传播方向 45°。</a:t>
            </a:r>
          </a:p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0.3：传播方向 16.70°。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4EB7FF-0A54-4CF0-ABE1-E1A4743A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57575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 的宽度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5EF948-ABA7-4464-9431-B1041ADE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67150"/>
            <a:ext cx="32004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η = 0.3 时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σₓ = 6.970a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σᵧ = 4.351a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80468C-B1D4-41D6-B434-2CD745953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E63AB8-1A25-48B0-BF2B-EA602E14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减弱 y 方向交换会同时降低 y 向质心速度和速度方差。</a:t>
            </a:r>
          </a:p>
        </p:txBody>
      </p:sp>
    </p:spTree>
    <p:extLst>
      <p:ext uri="{BB962C8B-B14F-4D97-AF65-F5344CB8AC3E}">
        <p14:creationId xmlns:p14="http://schemas.microsoft.com/office/powerpoint/2010/main" val="24764017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B349CB-E8E5-4FB0-9665-351ADE99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频谱概率守恒，实空间形状仍会改变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BA10A2-3DFE-4FCA-BE5D-96E15BD7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778FAA-231B-4720-9DDA-D2CBA338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C12　e = ε/Jₓ，τ = Jₓt/ℏ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30F9BE-A340-470C-9955-04B5FB79F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103D35-7089-4701-8411-010BAF52B9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0c7f795e24cee"/>
          <a:stretch xmlns:a="http://schemas.openxmlformats.org/drawingml/2006/main"/>
        </p:blipFill>
        <p:spPr>
          <a:xfrm xmlns:a="http://schemas.openxmlformats.org/drawingml/2006/main">
            <a:off x="1299726" y="1190625"/>
            <a:ext cx="9592547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DA2D9-F71A-41E9-8986-09D81145D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时间演化保持谱权重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88B4C-688E-4726-9A65-1DACDC0E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A(q,τ) = A(q,0) exp[−ie(q)τ]。每个模式的概率保持不变。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5F448-C2B8-4331-9E62-466AEE4A8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相对相位产生形变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86A15E-6E64-4A1C-BA29-95640CED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去掉整体与平移相位后，残余相位继续积累。相位依赖波矢的高阶项，动力学仍为线性。</a:t>
            </a:r>
          </a:p>
        </p:txBody>
      </p:sp>
    </p:spTree>
    <p:extLst>
      <p:ext uri="{BB962C8B-B14F-4D97-AF65-F5344CB8AC3E}">
        <p14:creationId xmlns:p14="http://schemas.microsoft.com/office/powerpoint/2010/main" val="199290037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377A4C-7579-43CF-A1FA-C563BE71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零二阶曲率是后续保形研究的入口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3061DE-0B61-4982-B058-8AA621D0F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BB044F-7BC9-4B69-BFA9-C8BA12A6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C13　同初宽 σ = 3，η =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AB6A29-F248-40CC-878D-E35D88DB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100C85D-1A1F-433D-B52A-952FAD827ABE}"/>
              </a:ext>
            </a:extLst>
          </p:cNvPr>
          <p:cNvGraphicFramePr/>
          <p:nvPr/>
        </p:nvGraphicFramePr>
        <p:xfrm>
          <a:off xmlns:a="http://schemas.openxmlformats.org/drawingml/2006/main" x="4476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1dada1b0334c84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06132C5-B4FC-4D65-ACB3-8155892187AD}"/>
              </a:ext>
            </a:extLst>
          </p:cNvPr>
          <p:cNvGraphicFramePr/>
          <p:nvPr/>
        </p:nvGraphicFramePr>
        <p:xfrm>
          <a:off xmlns:a="http://schemas.openxmlformats.org/drawingml/2006/main" x="6238875" y="1390650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176b436b60b4102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A631C6-0C65-4D5F-B908-A7A359924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29175"/>
            <a:ext cx="10668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F = |〈ψ平移参考 | ψ(τ)〉|²，包含相对相位变化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5E4F7F-7AB9-4C62-ACDB-600038EA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324475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τ = 60：普通波矢 F = 0.3823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51A8D1-B3BE-4847-9D7D-132E76EB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24475"/>
            <a:ext cx="504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C95F42"/>
                </a:solidFill>
                <a:latin typeface="Microsoft YaHei"/>
                <a:ea typeface="Microsoft YaHei"/>
                <a:cs typeface="Microsoft YaHei"/>
              </a:rPr>
              <a:t>τ = 60：零曲率点 F = 0.9771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C826AC-3DD7-43A5-B51F-A8D79D9D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4FB0C-7996-4D32-AB28-DE1D4D08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二阶项消失能减慢有限时间内的形变，三阶及更高阶色散仍然存在。</a:t>
            </a:r>
          </a:p>
        </p:txBody>
      </p:sp>
    </p:spTree>
    <p:extLst>
      <p:ext uri="{BB962C8B-B14F-4D97-AF65-F5344CB8AC3E}">
        <p14:creationId xmlns:p14="http://schemas.microsoft.com/office/powerpoint/2010/main" val="121890620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F580C9-806D-4208-BA52-C553A370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当前结果与下一阶段问题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2812EC-67BA-4B25-8428-443C8C3AB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A1C86E-01B8-4DBE-B6E6-CAAC50957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理论 PDF 第 1–5 页　模拟 A、B、C 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F410EB-4C91-4CF7-B21F-9E90D169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92EDAD-461B-4A85-88D0-F52F5C882088}"/>
              </a:ext>
            </a:extLst>
          </p:cNvPr>
          <p:cNvGraphicFramePr/>
          <p:nvPr/>
        </p:nvGraphicFramePr>
        <p:xfrm>
          <a:off xmlns:a="http://schemas.openxmlformats.org/drawingml/2006/main" x="523875" y="1371600"/>
          <a:ext xmlns:a="http://schemas.openxmlformats.org/drawingml/2006/main" cx="1114425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143250"/>
                <a:gridCol w="3952875"/>
                <a:gridCol w="4048125"/>
              </a:tblGrid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理论或模拟结果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已建立的物理认识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下一步需要回答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两电子矩阵与 J = 2K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交换作用连接不同翻转位置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具体材料的有效交换参数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色散曲面与群速度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斜率控制运动，曲率影响展宽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给定波包尺寸下的参数选择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单点与 Gaussian 传播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质心、宽度和干涉可分别度量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完整二维波包的保形指标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4365"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零二阶曲率点对照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有限时间内形变受到抑制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72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高阶残差与可用传播距离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380381-CF47-4491-9775-91799CA7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339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模型范围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816E2-6AA9-4AA7-ABB3-58FBF224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953000"/>
            <a:ext cx="8810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均匀晶格、单磁子、零外场、无耗散。当前结论对应记录的参数与时间窗口。</a:t>
            </a:r>
          </a:p>
        </p:txBody>
      </p:sp>
    </p:spTree>
    <p:extLst>
      <p:ext uri="{BB962C8B-B14F-4D97-AF65-F5344CB8AC3E}">
        <p14:creationId xmlns:p14="http://schemas.microsoft.com/office/powerpoint/2010/main" val="40340001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FD8087-AFAD-4326-8801-A76C3B2A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附录：费米交换符号与自旋矩阵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A37251-E639-4D7A-9B86-A4869F2F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0DF7A5-79E4-44BA-B460-C1208358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原理 PDF 第 2–4 页，式 (9)、(15)、(17)、(27)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882743-A800-47BC-B330-1CB978FB6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398014-08FE-4329-9AC1-1754CB676D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014e3e8f0b47ec"/>
          <a:stretch xmlns:a="http://schemas.openxmlformats.org/drawingml/2006/main"/>
        </p:blipFill>
        <p:spPr>
          <a:xfrm xmlns:a="http://schemas.openxmlformats.org/drawingml/2006/main">
            <a:off x="3216783" y="1419225"/>
            <a:ext cx="5701284" cy="828675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CB27D7-B98D-42C7-A7DF-BB4D776168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54fb24de5c49af"/>
          <a:stretch xmlns:a="http://schemas.openxmlformats.org/drawingml/2006/main"/>
        </p:blipFill>
        <p:spPr>
          <a:xfrm xmlns:a="http://schemas.openxmlformats.org/drawingml/2006/main">
            <a:off x="2700338" y="2638425"/>
            <a:ext cx="6600825" cy="857250"/>
          </a:xfrm>
          <a:prstGeom xmlns:a="http://schemas.openxmlformats.org/drawingml/2006/main" prst="rect">
            <a:avLst/>
          </a:prstGeom>
        </p:spPr>
      </p:pic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456DD-1AB0-41A1-A066-B174578D54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da2e4223324d55"/>
          <a:stretch xmlns:a="http://schemas.openxmlformats.org/drawingml/2006/main"/>
        </p:blipFill>
        <p:spPr>
          <a:xfrm xmlns:a="http://schemas.openxmlformats.org/drawingml/2006/main">
            <a:off x="1994146" y="3962400"/>
            <a:ext cx="4279408" cy="14001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A5CF2-916D-4841-AB36-BFD776C2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348615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费米反对易关系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决定交换项的负号。</a:t>
            </a:r>
          </a:p>
          <a:p xmlns:a="http://schemas.openxmlformats.org/drawingml/2006/main">
            <a:pPr algn="l">
              <a:def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自旋矩阵沿 x 轴量子化。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78AD6C-4ACD-42D0-856C-56DD6EA6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0337C7-E877-4F13-BEF4-3B771C13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固定基底与算符顺序后，矩阵元符号和 J = 2K 的系数保持一致。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4162371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276198D-954B-4F32-BCD9-14F96AC11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附录：长波二次近似的适用范围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F3F69B-2B7F-49CC-9054-316EC882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F8EDC0-32D0-45B4-8252-A99E9C32E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A08、A09　轴向能量近似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3BA8CC-02CB-4B98-8482-1AA37865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C3F77-8F5A-4BE9-9C20-3DA7104BCB8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4761eb37d4135"/>
          <a:stretch xmlns:a="http://schemas.openxmlformats.org/drawingml/2006/main"/>
        </p:blipFill>
        <p:spPr>
          <a:xfrm xmlns:a="http://schemas.openxmlformats.org/drawingml/2006/main">
            <a:off x="579746" y="1409700"/>
            <a:ext cx="7108209" cy="357187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1F2094-20E6-44C3-9D36-559A2B5E9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581150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相对能量误差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61E0F6-7F9C-4E27-BAEF-65BE646A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1990725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1%：q ≈ 0.3454</a:t>
            </a:r>
          </a:p>
          <a:p xmlns:a="http://schemas.openxmlformats.org/drawingml/2006/main">
            <a:pPr algn="l">
              <a:def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5%：q ≈ 0.7633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05B03B-CA39-4496-886F-59C27168A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53377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传播时的限制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D955AA-F634-440B-9D4A-FE96B84A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943350"/>
            <a:ext cx="319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同样的能量误差会随时间积累为相位误差。主模拟保留完整余弦能带。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FFA9D1-8A97-4D5C-A68D-72166CEED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18941-0420-4F44-A277-0E4F38F73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长波近似便于理解局部机制，其使用范围由波矢与传播时间共同约束。</a:t>
            </a:r>
          </a:p>
        </p:txBody>
      </p:sp>
    </p:spTree>
    <p:extLst>
      <p:ext uri="{BB962C8B-B14F-4D97-AF65-F5344CB8AC3E}">
        <p14:creationId xmlns:p14="http://schemas.microsoft.com/office/powerpoint/2010/main" val="64924479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B7FCB-3D6C-4AD7-83F0-B9174DAD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附录：独立计算路径与边界检验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DD1636-CA9A-44C3-BA8B-D6604C7C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E7535-F432-458C-9919-BFDEE35E3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checks_independent.json、checks_b.json、checks_c.json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E8D4BA-2EDC-42AA-AE89-1DE4D888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54108C-0251-4132-BC22-DD188D4EF4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ed9faed15490c"/>
          <a:stretch xmlns:a="http://schemas.openxmlformats.org/drawingml/2006/main"/>
        </p:blipFill>
        <p:spPr>
          <a:xfrm xmlns:a="http://schemas.openxmlformats.org/drawingml/2006/main">
            <a:off x="390525" y="1495055"/>
            <a:ext cx="7067550" cy="3229715"/>
          </a:xfrm>
          <a:prstGeom xmlns:a="http://schemas.openxmlformats.org/drawingml/2006/main" prst="rect">
            <a:avLst/>
          </a:prstGeom>
        </p:spPr>
      </p:pic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4EE5A-5C93-40E9-93AA-A2967F013AB3}"/>
              </a:ext>
            </a:extLst>
          </p:cNvPr>
          <p:cNvGraphicFramePr/>
          <p:nvPr/>
        </p:nvGraphicFramePr>
        <p:xfrm>
          <a:off xmlns:a="http://schemas.openxmlformats.org/drawingml/2006/main" x="7715250" y="1514475"/>
          <a:ext xmlns:a="http://schemas.openxmlformats.org/drawingml/2006/main" cx="3962400" cy="3162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866900"/>
              </a:tblGrid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对照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误差量级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实空间矩阵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振幅 L² ≈ 3.4×10⁻¹⁵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Bessel 核 vs FFT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max|ΔP| ≈ 5.6×10⁻¹⁶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扩大晶格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概率 L¹ ≤ 3.8×10⁻¹⁵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边缘概率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350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≤ 5.7×10⁻¹⁴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3015CB-BC3B-4776-8245-4C4D3BC6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9C3F30-DB57-4ED6-8990-B2E28F692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解析解、独立推进与扩大晶格对照，共同约束计算误差和边界影响。</a:t>
            </a:r>
          </a:p>
        </p:txBody>
      </p:sp>
    </p:spTree>
    <p:extLst>
      <p:ext uri="{BB962C8B-B14F-4D97-AF65-F5344CB8AC3E}">
        <p14:creationId xmlns:p14="http://schemas.microsoft.com/office/powerpoint/2010/main" val="179570422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789D39-D75D-4E89-A52C-078DE0581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附录：零二阶曲率后的高阶形变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DE5C68-22CB-4CB6-A18D-0D214213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4BACA2-5C53-4758-BE90-A2DEA2291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模拟 C14　独立示例 σ = 2，q₀ = (π/2,π/2)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1D86A-C9D3-4CC7-B803-98886081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77CC6-6EF6-4F6C-BC27-6B1D67E6996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cd962b40f84b49"/>
          <a:stretch xmlns:a="http://schemas.openxmlformats.org/drawingml/2006/main"/>
        </p:blipFill>
        <p:spPr>
          <a:xfrm xmlns:a="http://schemas.openxmlformats.org/drawingml/2006/main">
            <a:off x="1167517" y="1190625"/>
            <a:ext cx="9856966" cy="347662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10221A-6CE6-49F6-BF5E-7C0543E7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4762500"/>
            <a:ext cx="52482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残余色散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5893DA-8666-4D75-802B-9F887FCF0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5172075"/>
            <a:ext cx="52482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扣除常数和线性项后，sin δq − δq 的首项为 −δq³/6。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CDF51-3844-43ED-8FA9-C7F98984A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6250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有限频宽的后果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C14A8-EB11-48DB-AC89-13532D1A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172075"/>
            <a:ext cx="5238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相位差仍会积累，产生偏斜与尾部。本页 σ = 2，与前面的 σ = 3 对照不同。</a:t>
            </a:r>
          </a:p>
        </p:txBody>
      </p:sp>
    </p:spTree>
    <p:extLst>
      <p:ext uri="{BB962C8B-B14F-4D97-AF65-F5344CB8AC3E}">
        <p14:creationId xmlns:p14="http://schemas.microsoft.com/office/powerpoint/2010/main" val="1919216766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2D590-82F3-438F-9240-32575FAEF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附录：传播动画对照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6534B-2D79-4203-8F29-42290CBEE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A4F89C-948A-4D52-B5CF-14422A59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单点翻转 B16　Gaussian 载波方向 C16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E9C4CC-AC9B-40DF-9A73-B8BAB648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9C450-94BD-494C-AC26-3A7A858E16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9c23d2a32547a9"/>
          <a:stretch xmlns:a="http://schemas.openxmlformats.org/drawingml/2006/main"/>
        </p:blipFill>
        <p:spPr>
          <a:xfrm xmlns:a="http://schemas.openxmlformats.org/drawingml/2006/main">
            <a:off x="381000" y="1739503"/>
            <a:ext cx="5715000" cy="3036094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CA2E2-A307-4EBA-BC68-8BCCC40EA3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c272025d6a4a82"/>
          <a:stretch xmlns:a="http://schemas.openxmlformats.org/drawingml/2006/main"/>
        </p:blipFill>
        <p:spPr>
          <a:xfrm xmlns:a="http://schemas.openxmlformats.org/drawingml/2006/main">
            <a:off x="6238875" y="2152650"/>
            <a:ext cx="5524500" cy="22098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39BA7-58D0-4B95-9292-30797E1E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67325"/>
            <a:ext cx="5238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单点激发：η = 1 与 0.3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08F40-F7E1-4556-844D-5787E2C7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67325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相同 Gaussian 包络，不同载波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5CED7C-0B08-4F0B-8AC1-18FAF9A0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4835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A61F7-8F7B-4F21-BD86-D9A6B6A9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991225"/>
            <a:ext cx="1110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放映时观察时间演化，静态关键帧与定量曲线用于比较传播规律。</a:t>
            </a:r>
          </a:p>
        </p:txBody>
      </p:sp>
    </p:spTree>
    <p:extLst>
      <p:ext uri="{BB962C8B-B14F-4D97-AF65-F5344CB8AC3E}">
        <p14:creationId xmlns:p14="http://schemas.microsoft.com/office/powerpoint/2010/main" val="487256584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1E21D9-619A-4352-B0E8-BB9D90BD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6225"/>
            <a:ext cx="11144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03648"/>
                </a:solidFill>
                <a:latin typeface="Microsoft YaHei"/>
                <a:ea typeface="Microsoft YaHei"/>
                <a:cs typeface="Microsoft YaHei"/>
              </a:rPr>
              <a:t>附录：原理、图组与数据来源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BBAEAB-4DA8-4137-9A09-DBCA35FF3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28700"/>
            <a:ext cx="11144250" cy="1333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BAA59-FD3E-4E84-A67D-26D23FE7E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77000"/>
            <a:ext cx="106203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项目本地材料与可复现模拟文件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1FB5E1-BA36-48E3-8205-EEF6168C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6457950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defPPr>
            <a:lvl1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1pPr>
            <a:lvl2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2pPr>
            <a:lvl3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3pPr>
            <a:lvl4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4pPr>
            <a:lvl5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5pPr>
            <a:lvl6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6pPr>
            <a:lvl7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7pPr>
            <a:lvl8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8pPr>
            <a:lvl9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r">
              <a:def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86C7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126A54-D1A7-41F0-B42A-C4A8BC39B964}"/>
              </a:ext>
            </a:extLst>
          </p:cNvPr>
          <p:cNvGraphicFramePr/>
          <p:nvPr/>
        </p:nvGraphicFramePr>
        <p:xfrm>
          <a:off xmlns:a="http://schemas.openxmlformats.org/drawingml/2006/main" x="523875" y="1362075"/>
          <a:ext xmlns:a="http://schemas.openxmlformats.org/drawingml/2006/main" cx="111442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71750"/>
                <a:gridCol w="3714750"/>
                <a:gridCol w="4857750"/>
              </a:tblGrid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材料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承担的内容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1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定位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T w="7620">
                      <a:solidFill>
                        <a:srgbClr val="D8E1E7"/>
                      </a:solidFill>
                      <a:prstDash val="solid"/>
                    </a:lnT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EDF4F7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原理 PDF，5 页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直接交换、矩阵匹配、EOM、色散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Note/single_magnon_derivation/main.pdf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组，12 图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色散、群速度、近似范围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figures/midterm-report/a-dispersion/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组，13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局域翻转与解析传播核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b-local-flip/local_flip_data.npz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组，14 图与 4 动画</a:t>
                      </a:r>
                    </a:p>
                  </a:txBody>
                  <a:tcPr marL="91440" marR="91440" marT="45720" marB="45720" anchor="ctr">
                    <a:lnL w="7620">
                      <a:solidFill>
                        <a:srgbClr val="D8E1E7"/>
                      </a:solidFill>
                      <a:prstDash val="solid"/>
                    </a:lnL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Gaussian 质心、宽度与相位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575" b="0">
                          <a:solidFill>
                            <a:srgbClr val="20364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c-gaussian/gaussian_simulation_data.npz</a:t>
                      </a:r>
                    </a:p>
                  </a:txBody>
                  <a:tcPr marL="91440" marR="91440" marT="45720" marB="45720" anchor="ctr">
                    <a:lnR w="7620">
                      <a:solidFill>
                        <a:srgbClr val="D8E1E7"/>
                      </a:solidFill>
                      <a:prstDash val="solid"/>
                    </a:lnR>
                    <a:lnB w="7620">
                      <a:solidFill>
                        <a:srgbClr val="D8E1E7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4C3347-E1E1-4047-97CA-FC24220C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5777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46B9A"/>
                </a:solidFill>
                <a:latin typeface="Microsoft YaHei"/>
                <a:ea typeface="Microsoft YaHei"/>
                <a:cs typeface="Microsoft YaHei"/>
              </a:rPr>
              <a:t>符号对照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0B29C0-34C2-4701-BD96-CBF824FB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048250"/>
            <a:ext cx="890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defPPr>
            <a:lvl1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1pPr>
            <a:lvl2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2pPr>
            <a:lvl3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3pPr>
            <a:lvl4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4pPr>
            <a:lvl5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5pPr>
            <a:lvl6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6pPr>
            <a:lvl7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7pPr>
            <a:lvl8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8pPr>
            <a:lvl9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03648"/>
                </a:solidFill>
                <a:latin typeface="Cambria"/>
                <a:ea typeface="Cambria"/>
                <a:cs typeface="Cambria"/>
              </a:defRPr>
            </a:pPr>
            <a:r>
              <a:rPr sz="2250" b="0">
                <a:solidFill>
                  <a:srgbClr val="203648"/>
                </a:solidFill>
                <a:latin typeface="Cambria"/>
                <a:ea typeface="Cambria"/>
                <a:cs typeface="Cambria"/>
              </a:rPr>
              <a:t>q = ka     τ = Jₓt/ℏ     η = Jᵧ/Jₓ     e = ε/Jₓ</a:t>
            </a:r>
          </a:p>
        </p:txBody>
      </p:sp>
    </p:spTree>
    <p:extLst>
      <p:ext uri="{BB962C8B-B14F-4D97-AF65-F5344CB8AC3E}">
        <p14:creationId xmlns:p14="http://schemas.microsoft.com/office/powerpoint/2010/main" val="118626261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2026-10-19T14:04:16.9410000Z</dcterms:created>
  <dcterms:modified xsi:type="dcterms:W3CDTF">2026-10-19T14:04:16.9410000Z</dcterms:modified>
</coreProperties>
</file>