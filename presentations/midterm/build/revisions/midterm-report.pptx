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gif" ContentType="image/gi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3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charts/chart4.xml" ContentType="application/vnd.openxmlformats-officedocument.drawingml.chart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slides/charts/chart5.xml" ContentType="application/vnd.openxmlformats-officedocument.drawingml.chart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slides/charts/chart6.xml" ContentType="application/vnd.openxmlformats-officedocument.drawingml.chart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c411cf46294bb8" /><Relationship Type="http://schemas.openxmlformats.org/officeDocument/2006/relationships/extended-properties" Target="/docProps/app.xml" Id="R939b314460924a9b" /><Relationship Type="http://schemas.openxmlformats.org/officeDocument/2006/relationships/officeDocument" Target="/ppt/presentation.xml" Id="R798bed7fb5cd41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3269086ad14e5f"/>
  </p:sldMasterIdLst>
  <p:notesMasterIdLst>
    <p:notesMasterId xmlns:r="http://schemas.openxmlformats.org/officeDocument/2006/relationships" r:id="Rc4be3eb090e7477a"/>
  </p:notesMasterIdLst>
  <p:sldIdLst>
    <p:sldId xmlns:r="http://schemas.openxmlformats.org/officeDocument/2006/relationships" id="256" r:id="R3b328d54172b428f"/>
    <p:sldId xmlns:r="http://schemas.openxmlformats.org/officeDocument/2006/relationships" id="257" r:id="R82241479f3af4122"/>
    <p:sldId xmlns:r="http://schemas.openxmlformats.org/officeDocument/2006/relationships" id="258" r:id="Rfede0b0f06f94c40"/>
    <p:sldId xmlns:r="http://schemas.openxmlformats.org/officeDocument/2006/relationships" id="259" r:id="R27eaf5bdf7d84c96"/>
    <p:sldId xmlns:r="http://schemas.openxmlformats.org/officeDocument/2006/relationships" id="260" r:id="R440b0d12d3cd4112"/>
    <p:sldId xmlns:r="http://schemas.openxmlformats.org/officeDocument/2006/relationships" id="261" r:id="R82d9256592b146cb"/>
    <p:sldId xmlns:r="http://schemas.openxmlformats.org/officeDocument/2006/relationships" id="262" r:id="R419f8947475c4615"/>
    <p:sldId xmlns:r="http://schemas.openxmlformats.org/officeDocument/2006/relationships" id="263" r:id="R07f52869657e4089"/>
    <p:sldId xmlns:r="http://schemas.openxmlformats.org/officeDocument/2006/relationships" id="264" r:id="R6bb6fd1666924869"/>
    <p:sldId xmlns:r="http://schemas.openxmlformats.org/officeDocument/2006/relationships" id="265" r:id="Rb638c726099c47b0"/>
    <p:sldId xmlns:r="http://schemas.openxmlformats.org/officeDocument/2006/relationships" id="266" r:id="Rc21c8a46dc6644a0"/>
    <p:sldId xmlns:r="http://schemas.openxmlformats.org/officeDocument/2006/relationships" id="267" r:id="R706fb0f9ad4f4a87"/>
    <p:sldId xmlns:r="http://schemas.openxmlformats.org/officeDocument/2006/relationships" id="268" r:id="Re7370c00771c4921"/>
    <p:sldId xmlns:r="http://schemas.openxmlformats.org/officeDocument/2006/relationships" id="269" r:id="R6c8fbcb71f0a4ac9"/>
    <p:sldId xmlns:r="http://schemas.openxmlformats.org/officeDocument/2006/relationships" id="270" r:id="R917259bf93fb4769"/>
    <p:sldId xmlns:r="http://schemas.openxmlformats.org/officeDocument/2006/relationships" id="271" r:id="Rb01d0cbd899c4c05"/>
    <p:sldId xmlns:r="http://schemas.openxmlformats.org/officeDocument/2006/relationships" id="272" r:id="R5a6f1cad057f4a86"/>
    <p:sldId xmlns:r="http://schemas.openxmlformats.org/officeDocument/2006/relationships" id="273" r:id="R843c5a03723648c3"/>
    <p:sldId xmlns:r="http://schemas.openxmlformats.org/officeDocument/2006/relationships" id="274" r:id="Re95f695c8e194802"/>
    <p:sldId xmlns:r="http://schemas.openxmlformats.org/officeDocument/2006/relationships" id="275" r:id="R347a51c0fae14e79"/>
    <p:sldId xmlns:r="http://schemas.openxmlformats.org/officeDocument/2006/relationships" id="276" r:id="Ra1e77edd2d7f404c"/>
    <p:sldId xmlns:r="http://schemas.openxmlformats.org/officeDocument/2006/relationships" id="277" r:id="R5cb4b6ea3b9142e1"/>
    <p:sldId xmlns:r="http://schemas.openxmlformats.org/officeDocument/2006/relationships" id="278" r:id="R2afa8f3046ae490b"/>
    <p:sldId xmlns:r="http://schemas.openxmlformats.org/officeDocument/2006/relationships" id="279" r:id="R774411fd73744473"/>
    <p:sldId xmlns:r="http://schemas.openxmlformats.org/officeDocument/2006/relationships" id="280" r:id="Rf5f59b34f42c4ded"/>
    <p:sldId xmlns:r="http://schemas.openxmlformats.org/officeDocument/2006/relationships" id="281" r:id="Reae37fe94f1b4698"/>
    <p:sldId xmlns:r="http://schemas.openxmlformats.org/officeDocument/2006/relationships" id="282" r:id="R2b0a235d7ce340c1"/>
    <p:sldId xmlns:r="http://schemas.openxmlformats.org/officeDocument/2006/relationships" id="283" r:id="R6dce233aab61433d"/>
    <p:sldId xmlns:r="http://schemas.openxmlformats.org/officeDocument/2006/relationships" id="284" r:id="Refc6d87077794970"/>
    <p:sldId xmlns:r="http://schemas.openxmlformats.org/officeDocument/2006/relationships" id="285" r:id="R559134300ef94cea"/>
    <p:sldId xmlns:r="http://schemas.openxmlformats.org/officeDocument/2006/relationships" id="286" r:id="R50a70552171541b1"/>
    <p:sldId xmlns:r="http://schemas.openxmlformats.org/officeDocument/2006/relationships" id="287" r:id="Rd62abc1f04474e3c"/>
    <p:sldId xmlns:r="http://schemas.openxmlformats.org/officeDocument/2006/relationships" id="288" r:id="Ra3c5b60cfac44f2a"/>
    <p:sldId xmlns:r="http://schemas.openxmlformats.org/officeDocument/2006/relationships" id="289" r:id="R25e9966645a44d6e"/>
    <p:sldId xmlns:r="http://schemas.openxmlformats.org/officeDocument/2006/relationships" id="290" r:id="Rdf7aa86c4ed945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9db54a97ec4e9e" /><Relationship Type="http://schemas.openxmlformats.org/officeDocument/2006/relationships/slideMaster" Target="/ppt/slideMasters/slideMaster1.xml" Id="Rce3269086ad14e5f" /><Relationship Type="http://schemas.openxmlformats.org/officeDocument/2006/relationships/notesMaster" Target="/ppt/notesMasters/notesMaster1.xml" Id="Rc4be3eb090e7477a" /><Relationship Type="http://schemas.openxmlformats.org/officeDocument/2006/relationships/presProps" Target="/ppt/presProps.xml" Id="R539a20108d1c4f55" /><Relationship Type="http://schemas.openxmlformats.org/officeDocument/2006/relationships/tableStyles" Target="/ppt/tableStyles.xml" Id="R85934627ac7e4da1" /><Relationship Type="http://schemas.openxmlformats.org/officeDocument/2006/relationships/slide" Target="/ppt/slides/slide1.xml" Id="R3b328d54172b428f" /><Relationship Type="http://schemas.openxmlformats.org/officeDocument/2006/relationships/slide" Target="/ppt/slides/slide2.xml" Id="R82241479f3af4122" /><Relationship Type="http://schemas.openxmlformats.org/officeDocument/2006/relationships/slide" Target="/ppt/slides/slide3.xml" Id="Rfede0b0f06f94c40" /><Relationship Type="http://schemas.openxmlformats.org/officeDocument/2006/relationships/slide" Target="/ppt/slides/slide4.xml" Id="R27eaf5bdf7d84c96" /><Relationship Type="http://schemas.openxmlformats.org/officeDocument/2006/relationships/slide" Target="/ppt/slides/slide5.xml" Id="R440b0d12d3cd4112" /><Relationship Type="http://schemas.openxmlformats.org/officeDocument/2006/relationships/slide" Target="/ppt/slides/slide6.xml" Id="R82d9256592b146cb" /><Relationship Type="http://schemas.openxmlformats.org/officeDocument/2006/relationships/slide" Target="/ppt/slides/slide7.xml" Id="R419f8947475c4615" /><Relationship Type="http://schemas.openxmlformats.org/officeDocument/2006/relationships/slide" Target="/ppt/slides/slide8.xml" Id="R07f52869657e4089" /><Relationship Type="http://schemas.openxmlformats.org/officeDocument/2006/relationships/slide" Target="/ppt/slides/slide9.xml" Id="R6bb6fd1666924869" /><Relationship Type="http://schemas.openxmlformats.org/officeDocument/2006/relationships/slide" Target="/ppt/slides/slide10.xml" Id="Rb638c726099c47b0" /><Relationship Type="http://schemas.openxmlformats.org/officeDocument/2006/relationships/slide" Target="/ppt/slides/slide11.xml" Id="Rc21c8a46dc6644a0" /><Relationship Type="http://schemas.openxmlformats.org/officeDocument/2006/relationships/slide" Target="/ppt/slides/slide12.xml" Id="R706fb0f9ad4f4a87" /><Relationship Type="http://schemas.openxmlformats.org/officeDocument/2006/relationships/slide" Target="/ppt/slides/slide13.xml" Id="Re7370c00771c4921" /><Relationship Type="http://schemas.openxmlformats.org/officeDocument/2006/relationships/slide" Target="/ppt/slides/slide14.xml" Id="R6c8fbcb71f0a4ac9" /><Relationship Type="http://schemas.openxmlformats.org/officeDocument/2006/relationships/slide" Target="/ppt/slides/slide15.xml" Id="R917259bf93fb4769" /><Relationship Type="http://schemas.openxmlformats.org/officeDocument/2006/relationships/slide" Target="/ppt/slides/slide16.xml" Id="Rb01d0cbd899c4c05" /><Relationship Type="http://schemas.openxmlformats.org/officeDocument/2006/relationships/slide" Target="/ppt/slides/slide17.xml" Id="R5a6f1cad057f4a86" /><Relationship Type="http://schemas.openxmlformats.org/officeDocument/2006/relationships/slide" Target="/ppt/slides/slide18.xml" Id="R843c5a03723648c3" /><Relationship Type="http://schemas.openxmlformats.org/officeDocument/2006/relationships/slide" Target="/ppt/slides/slide19.xml" Id="Re95f695c8e194802" /><Relationship Type="http://schemas.openxmlformats.org/officeDocument/2006/relationships/slide" Target="/ppt/slides/slide20.xml" Id="R347a51c0fae14e79" /><Relationship Type="http://schemas.openxmlformats.org/officeDocument/2006/relationships/slide" Target="/ppt/slides/slide21.xml" Id="Ra1e77edd2d7f404c" /><Relationship Type="http://schemas.openxmlformats.org/officeDocument/2006/relationships/slide" Target="/ppt/slides/slide22.xml" Id="R5cb4b6ea3b9142e1" /><Relationship Type="http://schemas.openxmlformats.org/officeDocument/2006/relationships/slide" Target="/ppt/slides/slide23.xml" Id="R2afa8f3046ae490b" /><Relationship Type="http://schemas.openxmlformats.org/officeDocument/2006/relationships/slide" Target="/ppt/slides/slide24.xml" Id="R774411fd73744473" /><Relationship Type="http://schemas.openxmlformats.org/officeDocument/2006/relationships/slide" Target="/ppt/slides/slide25.xml" Id="Rf5f59b34f42c4ded" /><Relationship Type="http://schemas.openxmlformats.org/officeDocument/2006/relationships/slide" Target="/ppt/slides/slide26.xml" Id="Reae37fe94f1b4698" /><Relationship Type="http://schemas.openxmlformats.org/officeDocument/2006/relationships/slide" Target="/ppt/slides/slide27.xml" Id="R2b0a235d7ce340c1" /><Relationship Type="http://schemas.openxmlformats.org/officeDocument/2006/relationships/slide" Target="/ppt/slides/slide28.xml" Id="R6dce233aab61433d" /><Relationship Type="http://schemas.openxmlformats.org/officeDocument/2006/relationships/slide" Target="/ppt/slides/slide29.xml" Id="Refc6d87077794970" /><Relationship Type="http://schemas.openxmlformats.org/officeDocument/2006/relationships/slide" Target="/ppt/slides/slide30.xml" Id="R559134300ef94cea" /><Relationship Type="http://schemas.openxmlformats.org/officeDocument/2006/relationships/slide" Target="/ppt/slides/slide31.xml" Id="R50a70552171541b1" /><Relationship Type="http://schemas.openxmlformats.org/officeDocument/2006/relationships/slide" Target="/ppt/slides/slide32.xml" Id="Rd62abc1f04474e3c" /><Relationship Type="http://schemas.openxmlformats.org/officeDocument/2006/relationships/slide" Target="/ppt/slides/slide33.xml" Id="Ra3c5b60cfac44f2a" /><Relationship Type="http://schemas.openxmlformats.org/officeDocument/2006/relationships/slide" Target="/ppt/slides/slide34.xml" Id="R25e9966645a44d6e" /><Relationship Type="http://schemas.openxmlformats.org/officeDocument/2006/relationships/slide" Target="/ppt/slides/slide35.xml" Id="Rdf7aa86c4ed945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5dba8d535345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6650977fac46b2" /><Relationship Type="http://schemas.openxmlformats.org/officeDocument/2006/relationships/notesMaster" Target="/ppt/notesMasters/notesMaster1.xml" Id="Rfbad7e4fe7e840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eebdcf029c4556" /><Relationship Type="http://schemas.openxmlformats.org/officeDocument/2006/relationships/notesMaster" Target="/ppt/notesMasters/notesMaster1.xml" Id="R8045f42565ad41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eb286d448d49a2" /><Relationship Type="http://schemas.openxmlformats.org/officeDocument/2006/relationships/notesMaster" Target="/ppt/notesMasters/notesMaster1.xml" Id="R51ce96c4ccb4487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f3e8a528ebe47a6" /><Relationship Type="http://schemas.openxmlformats.org/officeDocument/2006/relationships/notesMaster" Target="/ppt/notesMasters/notesMaster1.xml" Id="R7201903847ba4c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39d68a4ef24860" /><Relationship Type="http://schemas.openxmlformats.org/officeDocument/2006/relationships/notesMaster" Target="/ppt/notesMasters/notesMaster1.xml" Id="R542d3f9f4d4e45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8f643b53b94dc0" /><Relationship Type="http://schemas.openxmlformats.org/officeDocument/2006/relationships/notesMaster" Target="/ppt/notesMasters/notesMaster1.xml" Id="R10293048b8d04ca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fa6c652617475a" /><Relationship Type="http://schemas.openxmlformats.org/officeDocument/2006/relationships/notesMaster" Target="/ppt/notesMasters/notesMaster1.xml" Id="Rfb6efcdf5928493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1fa8ee18e594867" /><Relationship Type="http://schemas.openxmlformats.org/officeDocument/2006/relationships/notesMaster" Target="/ppt/notesMasters/notesMaster1.xml" Id="Rf7eec1dff002475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976c5d629f1402e" /><Relationship Type="http://schemas.openxmlformats.org/officeDocument/2006/relationships/notesMaster" Target="/ppt/notesMasters/notesMaster1.xml" Id="Re0bbdf1e9e074da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01b72cdd8fe4809" /><Relationship Type="http://schemas.openxmlformats.org/officeDocument/2006/relationships/notesMaster" Target="/ppt/notesMasters/notesMaster1.xml" Id="R3d09d86527d74d7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cb9b3b687d84a30" /><Relationship Type="http://schemas.openxmlformats.org/officeDocument/2006/relationships/notesMaster" Target="/ppt/notesMasters/notesMaster1.xml" Id="R8c7b4436aa8c411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b4d63ea8cf34087" /><Relationship Type="http://schemas.openxmlformats.org/officeDocument/2006/relationships/notesMaster" Target="/ppt/notesMasters/notesMaster1.xml" Id="R33ec7ee36bb144b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43066a7c35e40e5" /><Relationship Type="http://schemas.openxmlformats.org/officeDocument/2006/relationships/notesMaster" Target="/ppt/notesMasters/notesMaster1.xml" Id="R9602235032cd4ce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bfac07c776248d6" /><Relationship Type="http://schemas.openxmlformats.org/officeDocument/2006/relationships/notesMaster" Target="/ppt/notesMasters/notesMaster1.xml" Id="R0418206450284e4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6b393fa7b44493c" /><Relationship Type="http://schemas.openxmlformats.org/officeDocument/2006/relationships/notesMaster" Target="/ppt/notesMasters/notesMaster1.xml" Id="Rf66a0d6ba1714a2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8f4ab39061b43b8" /><Relationship Type="http://schemas.openxmlformats.org/officeDocument/2006/relationships/notesMaster" Target="/ppt/notesMasters/notesMaster1.xml" Id="R9179ef99d5fb495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0a79b9ee05649e4" /><Relationship Type="http://schemas.openxmlformats.org/officeDocument/2006/relationships/notesMaster" Target="/ppt/notesMasters/notesMaster1.xml" Id="R67148545b5f2460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f35b5c031f6460c" /><Relationship Type="http://schemas.openxmlformats.org/officeDocument/2006/relationships/notesMaster" Target="/ppt/notesMasters/notesMaster1.xml" Id="R06e325be12ef489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bb025c37d4a4c15" /><Relationship Type="http://schemas.openxmlformats.org/officeDocument/2006/relationships/notesMaster" Target="/ppt/notesMasters/notesMaster1.xml" Id="R3af6d954239847a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1bd431c3b204056" /><Relationship Type="http://schemas.openxmlformats.org/officeDocument/2006/relationships/notesMaster" Target="/ppt/notesMasters/notesMaster1.xml" Id="R63b3b8c645b34e9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a402efb6ac64953" /><Relationship Type="http://schemas.openxmlformats.org/officeDocument/2006/relationships/notesMaster" Target="/ppt/notesMasters/notesMaster1.xml" Id="R7885977a7e3c49a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8b1c673fd854c15" /><Relationship Type="http://schemas.openxmlformats.org/officeDocument/2006/relationships/notesMaster" Target="/ppt/notesMasters/notesMaster1.xml" Id="Ra114a6dccc714cd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8e7503a6bdc4714" /><Relationship Type="http://schemas.openxmlformats.org/officeDocument/2006/relationships/notesMaster" Target="/ppt/notesMasters/notesMaster1.xml" Id="Rd64217aa5fab465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3a20924570243b2" /><Relationship Type="http://schemas.openxmlformats.org/officeDocument/2006/relationships/notesMaster" Target="/ppt/notesMasters/notesMaster1.xml" Id="Rea6b0788ecb142d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925cc1920604662" /><Relationship Type="http://schemas.openxmlformats.org/officeDocument/2006/relationships/notesMaster" Target="/ppt/notesMasters/notesMaster1.xml" Id="Rded7174264d5427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e429d5e870c4367" /><Relationship Type="http://schemas.openxmlformats.org/officeDocument/2006/relationships/notesMaster" Target="/ppt/notesMasters/notesMaster1.xml" Id="R3bfd0f4c588541c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564a6022fdc4188" /><Relationship Type="http://schemas.openxmlformats.org/officeDocument/2006/relationships/notesMaster" Target="/ppt/notesMasters/notesMaster1.xml" Id="Reb19598e32bd482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aeb4b0119c24ad6" /><Relationship Type="http://schemas.openxmlformats.org/officeDocument/2006/relationships/notesMaster" Target="/ppt/notesMasters/notesMaster1.xml" Id="R0b133dbb2fd9419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617b85107d043c7" /><Relationship Type="http://schemas.openxmlformats.org/officeDocument/2006/relationships/notesMaster" Target="/ppt/notesMasters/notesMaster1.xml" Id="R299b0a193b7b454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02cb2eeb56f441c" /><Relationship Type="http://schemas.openxmlformats.org/officeDocument/2006/relationships/notesMaster" Target="/ppt/notesMasters/notesMaster1.xml" Id="R3861ddcc125d463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ad0221fd3a544c8" /><Relationship Type="http://schemas.openxmlformats.org/officeDocument/2006/relationships/notesMaster" Target="/ppt/notesMasters/notesMaster1.xml" Id="Ra257629c6157429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159cdc81bca4c71" /><Relationship Type="http://schemas.openxmlformats.org/officeDocument/2006/relationships/notesMaster" Target="/ppt/notesMasters/notesMaster1.xml" Id="R7317f271b1d648f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30c5e2efa0d4375" /><Relationship Type="http://schemas.openxmlformats.org/officeDocument/2006/relationships/notesMaster" Target="/ppt/notesMasters/notesMaster1.xml" Id="Rca2af80bf28e45f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6ff04d56fdfb4db5" /><Relationship Type="http://schemas.openxmlformats.org/officeDocument/2006/relationships/notesMaster" Target="/ppt/notesMasters/notesMaster1.xml" Id="R40c455c25df14ba6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79bacdc18a64217" /><Relationship Type="http://schemas.openxmlformats.org/officeDocument/2006/relationships/notesMaster" Target="/ppt/notesMasters/notesMaster1.xml" Id="R79966b6ec1a048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报告研究零外场、自旋1/2正方晶格铁磁体。先解释直接库仑交换与单翻转精确子空间，再讨论线性传播与波包展宽。图中是有效模型计算。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来源：中期报告　理论来源：单磁子推导 PDF　模拟：均匀最近邻交换模型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以全极化铁磁态为背景，在其中翻转一个自旋。首先关注激发怎样在格点间传递，再区分波包整体运动和形状变化。动画在放映模式中展示。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第 3–5 页　动画 B14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固定两个正交归一的相邻轨道a,b，各占据一个电子。只保留固定占据下的直接库仑交换，不纳入电子跃迁产生的超交换。D和K都具有能量量纲。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第 1–2 页，式 (1)–(9)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有序基底为↑↑、↑↓、↓↑、↓↓。反平行积态之间有−K的非对角矩阵元。两个反平行积态的对称和反对称组合分别属于triplet和singlet。D±K是本征态能量。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第 2 页，式 (10)–(14)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比较S_a·S_b与库仑作用矩阵。中间块的非对角元为1/2，所以−J_H/2=−K，得到J_H=2K。常数项D−K/2只平移所有能量。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第 3 页，式 (17)–(21)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每条无向键计一次，背景沿+x极化。Jx和Jy的差异属于空间方向的交换各向异性，每条键上的自旋作用仍是点积。每条铁磁键均达到其能量下界。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第 3 页，式 (22)–(25)　图 A01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局域翻转是基矢，不是一般的能量本征态。H作用后仍是单翻转基矢的线性组合，因此这个子空间精确闭合。概率P_i给出翻转位置的测量分布。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第 4 页，式 (26)–(31)　图 B01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一条含翻转的键相对基态增加Jij/2的对角能量，并产生−Jij/2的跃迁振幅。四个邻居的贡献相加，得到离散Schrödinger形式。E_F完整保留在原理推导中。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第 4–5 页，式 (28)、(34)、(35)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均匀晶格具有平移不变性。相邻格点只相差e^{±ik_mu a}。将这些相位代入四邻居方程，两个指数相加成为2cos，从而得到单磁子激发能。此页沿用源PDF的hbar=1。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第 5 页，式 (36)–(39)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能量用Jx归一化。左图eta=1色散曲面，右图使用实际保存的eta=.35轴向截面。原点是零激发能，最高能量2(1+eta)。二维点激发包含整个布里渊区。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式 (39)　模拟 A02、A03 轴向截面数据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箭头长度按共同尺度编码速度大小。等频不等于等群速度，也不自动保证完整局域波包保形。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A05、A06，η = 1 与 0.35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有限频宽波包的精确质心速度是谱平均，中心波矢处群速度是窄带近似。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A07　ω = ε / ℏ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原理PDF保留E_F且取hbar=1。模拟恢复hbar后显式去除公共基态相位psi=e^{iE_Ft/hbar}c；概率保持不变。使用q=ka、tau=Jx*t/hbar、eta=Jy/Jx。每个FFT模式直接乘完整余弦色散的时间相位。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第 5 页　模拟 common.py 与 THEORY.md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图中为N²|A|²，仅为可读性缩放。不能用单一中心波矢或只在原点展开的二阶色散描述全部传播。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B02　N = 256 表示 256 × 256 格点，Σ|A|² = 1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早期过程见第2页动画。此页固定色标1e-7到0.1。显示边缘是色标阈值，前沿外仍有小概率尾部。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B04　η = 1，四个时刻使用共同对数色标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动画比较eta=1与.3，静态数值来自同一单点初态tau24。RMS_x=tau/sqrt2，RMS_y=eta*tau/sqrt2。eta=0为解耦链极限，有静态图支持。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B05、B11、B16　Jₓ 固定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热图是Px，即对y求和的边际概率。主要前沿由最大x群速度|u_x|≤1描述，RMS_x=tau/sqrt2。前沿之外仍有非零尾部，不是严格有限支持。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B07、B09　左图 η = 1，右图 η = 1、0.3、0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原点返回概率的振荡是无耗散相干传播的结果。沿+x量子化时&lt;Sx&gt;=1/2-P，而&lt;Sy&gt;=&lt;Sz&gt;=0。所有格点的纵向亏损之和为1。图的两部分纵轴不同。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B10　固定单磁子数态，η = 1 与 0.3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左图是y=0中心截线，不是对y求和的边际。两个面板纵轴不同，右图显示相对1/2背景的亏损。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B12　η = 1，τ = 8，背景沿 +x 极化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Gaussian振幅的指数分母为4sigma²，sigma是概率分布的RMS宽度。载波改变频谱中心，但不改变初始概率。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C01　σ = 4，η = 1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动画中的三种初态具有相同概率包络，q0分别为(-.7,0),(.7,0),(.7,.7)。零载波情况下质心不动但包络仍展宽。动画固定空间窗与色标。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C03、C05、C16　σ = 4，η = 1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图表数值直接来自保存的NPZ轨迹。对于q0=(.7,0)，真实质心速度是.6392043454，而sin(.7)=.6442176872。tau60时，中心波矢近似会多预测.3008005a位移。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C06　σ = 4，η = 1，τ ≤ 60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Px和Py都是对另一方向求和的边际概率，分别归一化为1。x运动和形状变化可以分别度量。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C07　q₀ = (0.7,0)，σ = 4，η = 1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无限晶格下初始位置与速度的对称协方差为零，Var(n(tau))=Var(n0)+tau²Var(u)。当前有限周期盒在展示范围内有边界检查。对于一般有啁啾初态还存在2tau Cov_sym项。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C09　完整色散下的数值宽度与谱矩关系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sigma3/6/10都归一化为1，但初始空间范围不同。更宽包络对应更窄频谱，通常有较小相对展宽。本页不将其解释为相同初始资源的性能比较。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C02、C08　q₀ = (0.7,0)，η = 1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左右保持q0、sigma和tau60相同，只改变eta。波矢均为45度，谱平均群速度方向分别45度和16.699度。eta.3时中心为(38.3523,11.5057)a。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C10、C11　q₀ = (0.7,0.7)，σ = 4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右图为固定qy=0时的精确残余相位，连续展开显示，不取模2pi。这里的非线性相位指相位对波矢的非线性依赖，模型动力学仍是线性的。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C12　e = ε/Jₓ，τ = Jₓt/ℏ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对比普通中心q0=(.7,.7)和(pi/2,pi/2)。sigma均3，tau均60，使用各自真实谱平均速度作平移参考。F为复态重合模平方，含相对相位改变，不仅是概率轮廓重合。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C13　同初宽 σ = 3，η = 1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本次完成的层次是模型推导、线性传播图像与有限时间的数值证据。未来研究可针对具体初态局域性与完整二维保形，不将当前toy model直接等同于实际材料。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来源：理论 PDF 第 1–5 页　模拟 A、B、C 组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本页用于回答交换负号和单翻转矩阵元问题。源推导固定产生算符顺序f_a† f_b†。从反平行态读出非对角元−K，再与−J S_a·S_b匹配。所有箭头相对于x量子化轴。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第 2–4 页，式 (9)、(15)、(17)、(27)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e≈(qx²+eta qy²)/2只适用于小波矢。误差阈值是轴向能量的相对误差，不是传播保真度阈值。相位差还随时间积累。所有主动力学计算使用完整余弦色散。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A08、A09　轴向能量近似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验证图为FFT与无限晶格Bessel解析传播核比较。独立稀疏矩阵Hamiltonian直接按键构造。边界与扩大晶格测试说明当前展示区间内数值可信，不能代替材料参数验证。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来源：checks_independent.json、checks_b.json、checks_c.json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本页是为了显示高阶形变的独立例子，不能把结果与sigma3例子解释为同一初态资源的性能比较。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C14　独立示例 σ = 2，q₀ = (π/2,π/2)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本页嵌入完整GIF，在支持GIF的PowerPoint放映模式下播放。静态关键帧已经出现在正文各向异性和载波方向页。动画使用固定色标，不逐帧峰值归一化。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来源：单点翻转 B16　Gaussian 载波方向 C16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本报告未新增外部实验或材料参数。理论依据是本地五页原理PDF，数值结果来自既有39图8动画资料包。每个图表的具体来源已写入其所在页的备注。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来源：项目本地材料与可复现模拟文件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2307c36203426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2faac6d374464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6b0210f64c418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9dfa09e6db48a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2ad96d50e24f6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fdf81668244e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82141D1-1481-447C-A904-2F2228F3AB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B173C7F-F0BB-49E4-850B-2A7791FF468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635DCF3-D638-4645-BAB7-611006BBDB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E51D904-BD68-415F-9165-FEBDE8108D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7C7D339-DD19-4CBB-B358-E11014DE1F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ECA5369-5080-4F21-8F20-11FC2AD797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41F25A2-374E-42F7-B745-B0EB63B5FB2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A0D61ED-F0FC-471D-9222-A764E6FD788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4C5221F-C7BA-4B9E-941C-5784CE83BA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D9B137C-C1BE-4401-8F0B-D5599B6388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e4dbcb69654000" /><Relationship Type="http://schemas.openxmlformats.org/officeDocument/2006/relationships/slideLayout" Target="/ppt/slideLayouts/slideLayout1.xml" Id="R4e728e12eb014d46" /><Relationship Type="http://schemas.openxmlformats.org/officeDocument/2006/relationships/slideLayout" Target="/ppt/slideLayouts/slideLayout2.xml" Id="R73ed7777d74a4246" /><Relationship Type="http://schemas.openxmlformats.org/officeDocument/2006/relationships/slideLayout" Target="/ppt/slideLayouts/slideLayout3.xml" Id="R33dae53766674a2b" /><Relationship Type="http://schemas.openxmlformats.org/officeDocument/2006/relationships/slideLayout" Target="/ppt/slideLayouts/slideLayout4.xml" Id="R4a6d75ffdfa548df" /><Relationship Type="http://schemas.openxmlformats.org/officeDocument/2006/relationships/slideLayout" Target="/ppt/slideLayouts/slideLayout5.xml" Id="R0940984600044a37" /><Relationship Type="http://schemas.openxmlformats.org/officeDocument/2006/relationships/slideLayout" Target="/ppt/slideLayouts/slideLayout6.xml" Id="Rc315e853824044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728e12eb014d46"/>
    <p:sldLayoutId xmlns:r="http://schemas.openxmlformats.org/officeDocument/2006/relationships" id="2147483650" r:id="R73ed7777d74a4246"/>
    <p:sldLayoutId xmlns:r="http://schemas.openxmlformats.org/officeDocument/2006/relationships" id="2147483651" r:id="R33dae53766674a2b"/>
    <p:sldLayoutId xmlns:r="http://schemas.openxmlformats.org/officeDocument/2006/relationships" id="2147483652" r:id="R4a6d75ffdfa548df"/>
    <p:sldLayoutId xmlns:r="http://schemas.openxmlformats.org/officeDocument/2006/relationships" id="2147483653" r:id="R0940984600044a37"/>
    <p:sldLayoutId xmlns:r="http://schemas.openxmlformats.org/officeDocument/2006/relationships" id="2147483654" r:id="Rc315e853824044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0ec0a2461745ed" /><Relationship Type="http://schemas.openxmlformats.org/officeDocument/2006/relationships/image" Target="/ppt/media/image.png" Id="R18e5a0af83cf4bff" /><Relationship Type="http://schemas.openxmlformats.org/officeDocument/2006/relationships/image" Target="/ppt/media/image2.png" Id="R7c20050293d942b5" /><Relationship Type="http://schemas.openxmlformats.org/officeDocument/2006/relationships/notesSlide" Target="/ppt/notesSlides/notesSlide1.xml" Id="R7f9e8e6450fa49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dddc4acf944c3c" /><Relationship Type="http://schemas.openxmlformats.org/officeDocument/2006/relationships/image" Target="/ppt/media/image.gif" Id="Rc3ea6764985a492b" /><Relationship Type="http://schemas.openxmlformats.org/officeDocument/2006/relationships/notesSlide" Target="/ppt/notesSlides/notesSlide2.xml" Id="Rd3ca4a2b4cc04c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4f2f40be3e4fe3" /><Relationship Type="http://schemas.openxmlformats.org/officeDocument/2006/relationships/image" Target="/ppt/media/image3.png" Id="R572dca9ccd364b69" /><Relationship Type="http://schemas.openxmlformats.org/officeDocument/2006/relationships/notesSlide" Target="/ppt/notesSlides/notesSlide3.xml" Id="R372193f50b1341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d6126376e34754" /><Relationship Type="http://schemas.openxmlformats.org/officeDocument/2006/relationships/image" Target="/ppt/media/image4.png" Id="R3c0b207169a54c7b" /><Relationship Type="http://schemas.openxmlformats.org/officeDocument/2006/relationships/image" Target="/ppt/media/image5.png" Id="Raae19e624fdb4514" /><Relationship Type="http://schemas.openxmlformats.org/officeDocument/2006/relationships/chart" Target="/ppt/slides/charts/chart1.xml" Id="Rf94c2f79b82f41a0" /><Relationship Type="http://schemas.openxmlformats.org/officeDocument/2006/relationships/notesSlide" Target="/ppt/notesSlides/notesSlide4.xml" Id="R7f5c84fd771245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f172311812435a" /><Relationship Type="http://schemas.openxmlformats.org/officeDocument/2006/relationships/image" Target="/ppt/media/image6.png" Id="Ra32da902cdfe4e30" /><Relationship Type="http://schemas.openxmlformats.org/officeDocument/2006/relationships/image" Target="/ppt/media/image7.png" Id="Ra9d136dff0e0415e" /><Relationship Type="http://schemas.openxmlformats.org/officeDocument/2006/relationships/notesSlide" Target="/ppt/notesSlides/notesSlide5.xml" Id="Rc45c435ce3fa43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61c42ef8e14a17" /><Relationship Type="http://schemas.openxmlformats.org/officeDocument/2006/relationships/image" Target="/ppt/media/image8.png" Id="R09688468d2bb4105" /><Relationship Type="http://schemas.openxmlformats.org/officeDocument/2006/relationships/image" Target="/ppt/media/image9.png" Id="R273964a770e44bf0" /><Relationship Type="http://schemas.openxmlformats.org/officeDocument/2006/relationships/image" Target="/ppt/media/image10.png" Id="R92a430e392cf49c3" /><Relationship Type="http://schemas.openxmlformats.org/officeDocument/2006/relationships/notesSlide" Target="/ppt/notesSlides/notesSlide6.xml" Id="Rd8adb8c982c744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9fa62df9744307" /><Relationship Type="http://schemas.openxmlformats.org/officeDocument/2006/relationships/image" Target="/ppt/media/image11.png" Id="Rc190967f02d94b6c" /><Relationship Type="http://schemas.openxmlformats.org/officeDocument/2006/relationships/image" Target="/ppt/media/image12.png" Id="R7841bb1428254f12" /><Relationship Type="http://schemas.openxmlformats.org/officeDocument/2006/relationships/image" Target="/ppt/media/image13.png" Id="Rf91905a545db4fbd" /><Relationship Type="http://schemas.openxmlformats.org/officeDocument/2006/relationships/image" Target="/ppt/media/image14.png" Id="R412ec246b61b436c" /><Relationship Type="http://schemas.openxmlformats.org/officeDocument/2006/relationships/notesSlide" Target="/ppt/notesSlides/notesSlide7.xml" Id="R175704f86f9f481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b9a278d6f746be" /><Relationship Type="http://schemas.openxmlformats.org/officeDocument/2006/relationships/image" Target="/ppt/media/image15.png" Id="Rdc8d284654e348c4" /><Relationship Type="http://schemas.openxmlformats.org/officeDocument/2006/relationships/image" Target="/ppt/media/image16.png" Id="R88e1eef9fcfb4150" /><Relationship Type="http://schemas.openxmlformats.org/officeDocument/2006/relationships/notesSlide" Target="/ppt/notesSlides/notesSlide8.xml" Id="Rf674e33a7478471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d2af28a3ff4248" /><Relationship Type="http://schemas.openxmlformats.org/officeDocument/2006/relationships/image" Target="/ppt/media/image17.png" Id="R06f16bec40d442db" /><Relationship Type="http://schemas.openxmlformats.org/officeDocument/2006/relationships/image" Target="/ppt/media/image18.png" Id="R65537c9cc36742dc" /><Relationship Type="http://schemas.openxmlformats.org/officeDocument/2006/relationships/image" Target="/ppt/media/image19.png" Id="Rde0f587f5e934393" /><Relationship Type="http://schemas.openxmlformats.org/officeDocument/2006/relationships/notesSlide" Target="/ppt/notesSlides/notesSlide9.xml" Id="Rd3e4e3e74fdd43b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3a6e1deb1b48b1" /><Relationship Type="http://schemas.openxmlformats.org/officeDocument/2006/relationships/image" Target="/ppt/media/image20.png" Id="R01c45bd6fc0d4e02" /><Relationship Type="http://schemas.openxmlformats.org/officeDocument/2006/relationships/chart" Target="/ppt/slides/charts/chart2.xml" Id="R00a13b2cb21443a0" /><Relationship Type="http://schemas.openxmlformats.org/officeDocument/2006/relationships/notesSlide" Target="/ppt/notesSlides/notesSlide10.xml" Id="Rd2093b74f5944a2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27414bc5464877" /><Relationship Type="http://schemas.openxmlformats.org/officeDocument/2006/relationships/image" Target="/ppt/media/image21.png" Id="Ref1e3738aece41fe" /><Relationship Type="http://schemas.openxmlformats.org/officeDocument/2006/relationships/notesSlide" Target="/ppt/notesSlides/notesSlide11.xml" Id="R7314bc90afbf4ec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5e666d283840a8" /><Relationship Type="http://schemas.openxmlformats.org/officeDocument/2006/relationships/image" Target="/ppt/media/image22.png" Id="R317e7e50a1734efd" /><Relationship Type="http://schemas.openxmlformats.org/officeDocument/2006/relationships/notesSlide" Target="/ppt/notesSlides/notesSlide12.xml" Id="Rf20c5988967b4a9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0fc95e731849fe" /><Relationship Type="http://schemas.openxmlformats.org/officeDocument/2006/relationships/notesSlide" Target="/ppt/notesSlides/notesSlide13.xml" Id="Rbde9cbbbad18462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647632ef63435d" /><Relationship Type="http://schemas.openxmlformats.org/officeDocument/2006/relationships/image" Target="/ppt/media/image23.png" Id="Rc0de805ccd2d4854" /><Relationship Type="http://schemas.openxmlformats.org/officeDocument/2006/relationships/notesSlide" Target="/ppt/notesSlides/notesSlide14.xml" Id="R16a3fe3082c7415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e8a6b1ceae45b7" /><Relationship Type="http://schemas.openxmlformats.org/officeDocument/2006/relationships/image" Target="/ppt/media/image24.png" Id="R3f5d79cc591f49b6" /><Relationship Type="http://schemas.openxmlformats.org/officeDocument/2006/relationships/notesSlide" Target="/ppt/notesSlides/notesSlide15.xml" Id="R14ee604476d4455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0e2e058d0b4704" /><Relationship Type="http://schemas.openxmlformats.org/officeDocument/2006/relationships/image" Target="/ppt/media/image25.png" Id="Rf084b8fec2414706" /><Relationship Type="http://schemas.openxmlformats.org/officeDocument/2006/relationships/notesSlide" Target="/ppt/notesSlides/notesSlide16.xml" Id="Re9cb88bab926446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67d1b54fb9436c" /><Relationship Type="http://schemas.openxmlformats.org/officeDocument/2006/relationships/image" Target="/ppt/media/image26.png" Id="Rfc6ff73438f34ebc" /><Relationship Type="http://schemas.openxmlformats.org/officeDocument/2006/relationships/chart" Target="/ppt/slides/charts/chart3.xml" Id="Re1a5d8c784634369" /><Relationship Type="http://schemas.openxmlformats.org/officeDocument/2006/relationships/notesSlide" Target="/ppt/notesSlides/notesSlide17.xml" Id="R3ec1a64d46a84a4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94c7e4e7f84b19" /><Relationship Type="http://schemas.openxmlformats.org/officeDocument/2006/relationships/image" Target="/ppt/media/image27.png" Id="R47b5c894487b4e6d" /><Relationship Type="http://schemas.openxmlformats.org/officeDocument/2006/relationships/notesSlide" Target="/ppt/notesSlides/notesSlide18.xml" Id="Reb4318217d4248c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05739975574298" /><Relationship Type="http://schemas.openxmlformats.org/officeDocument/2006/relationships/image" Target="/ppt/media/image28.png" Id="Re53a5f02e272494e" /><Relationship Type="http://schemas.openxmlformats.org/officeDocument/2006/relationships/notesSlide" Target="/ppt/notesSlides/notesSlide19.xml" Id="R1931b7edaefa44b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73700a995940d0" /><Relationship Type="http://schemas.openxmlformats.org/officeDocument/2006/relationships/image" Target="/ppt/media/image29.png" Id="Ref5fc9dc442a4e89" /><Relationship Type="http://schemas.openxmlformats.org/officeDocument/2006/relationships/notesSlide" Target="/ppt/notesSlides/notesSlide20.xml" Id="R98c5980abaeb482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dbded92d01406a" /><Relationship Type="http://schemas.openxmlformats.org/officeDocument/2006/relationships/image" Target="/ppt/media/image30.png" Id="Re5d91c36d92648c8" /><Relationship Type="http://schemas.openxmlformats.org/officeDocument/2006/relationships/notesSlide" Target="/ppt/notesSlides/notesSlide21.xml" Id="R29a1df17dd6c44d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d1dba8ca0a4d57" /><Relationship Type="http://schemas.openxmlformats.org/officeDocument/2006/relationships/chart" Target="/ppt/slides/charts/chart4.xml" Id="R2a95c213edf5498f" /><Relationship Type="http://schemas.openxmlformats.org/officeDocument/2006/relationships/notesSlide" Target="/ppt/notesSlides/notesSlide22.xml" Id="R446ceab13d93433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6f6617d2884971" /><Relationship Type="http://schemas.openxmlformats.org/officeDocument/2006/relationships/image" Target="/ppt/media/image31.png" Id="R3b23605902fe4555" /><Relationship Type="http://schemas.openxmlformats.org/officeDocument/2006/relationships/notesSlide" Target="/ppt/notesSlides/notesSlide23.xml" Id="R36b7940da63246a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87dd6b70914fb1" /><Relationship Type="http://schemas.openxmlformats.org/officeDocument/2006/relationships/chart" Target="/ppt/slides/charts/chart5.xml" Id="Ra323145da7f54848" /><Relationship Type="http://schemas.openxmlformats.org/officeDocument/2006/relationships/notesSlide" Target="/ppt/notesSlides/notesSlide24.xml" Id="Rbcc59fe4afb245e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e45e8594a143a2" /><Relationship Type="http://schemas.openxmlformats.org/officeDocument/2006/relationships/image" Target="/ppt/media/image32.png" Id="R111c96ff73774481" /><Relationship Type="http://schemas.openxmlformats.org/officeDocument/2006/relationships/chart" Target="/ppt/slides/charts/chart6.xml" Id="R7966692bdd014400" /><Relationship Type="http://schemas.openxmlformats.org/officeDocument/2006/relationships/notesSlide" Target="/ppt/notesSlides/notesSlide25.xml" Id="R271be0e947a1440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a3dc089b4f489e" /><Relationship Type="http://schemas.openxmlformats.org/officeDocument/2006/relationships/image" Target="/ppt/media/image33.png" Id="Re75488f06eb34d13" /><Relationship Type="http://schemas.openxmlformats.org/officeDocument/2006/relationships/notesSlide" Target="/ppt/notesSlides/notesSlide26.xml" Id="Rc03c636a539243d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7dd8521bb541ef" /><Relationship Type="http://schemas.openxmlformats.org/officeDocument/2006/relationships/image" Target="/ppt/media/image34.png" Id="Rf63a867f0e724d58" /><Relationship Type="http://schemas.openxmlformats.org/officeDocument/2006/relationships/notesSlide" Target="/ppt/notesSlides/notesSlide27.xml" Id="R9131f4dcb64a40b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a9caf27b6343c6" /><Relationship Type="http://schemas.openxmlformats.org/officeDocument/2006/relationships/chart" Target="/ppt/slides/charts/chart7.xml" Id="R70867967c0f14db9" /><Relationship Type="http://schemas.openxmlformats.org/officeDocument/2006/relationships/chart" Target="/ppt/slides/charts/chart8.xml" Id="Rc2d6b1a2969a49df" /><Relationship Type="http://schemas.openxmlformats.org/officeDocument/2006/relationships/notesSlide" Target="/ppt/notesSlides/notesSlide28.xml" Id="Rc35fb44893c3482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18868067644253" /><Relationship Type="http://schemas.openxmlformats.org/officeDocument/2006/relationships/notesSlide" Target="/ppt/notesSlides/notesSlide29.xml" Id="Rd39106a8a99841b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a0a4a7b89c43dd" /><Relationship Type="http://schemas.openxmlformats.org/officeDocument/2006/relationships/image" Target="/ppt/media/image35.png" Id="R0e5584c29a82474f" /><Relationship Type="http://schemas.openxmlformats.org/officeDocument/2006/relationships/image" Target="/ppt/media/image36.png" Id="R521f50f93daa4b14" /><Relationship Type="http://schemas.openxmlformats.org/officeDocument/2006/relationships/image" Target="/ppt/media/image37.png" Id="R59506a4876064e2d" /><Relationship Type="http://schemas.openxmlformats.org/officeDocument/2006/relationships/notesSlide" Target="/ppt/notesSlides/notesSlide30.xml" Id="R7f4abefb167f4e2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4350b27b404d78" /><Relationship Type="http://schemas.openxmlformats.org/officeDocument/2006/relationships/image" Target="/ppt/media/image38.png" Id="R27de898c8c4e4c6e" /><Relationship Type="http://schemas.openxmlformats.org/officeDocument/2006/relationships/notesSlide" Target="/ppt/notesSlides/notesSlide31.xml" Id="R739408d2e7c7411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a439c3270c42e1" /><Relationship Type="http://schemas.openxmlformats.org/officeDocument/2006/relationships/image" Target="/ppt/media/image39.png" Id="Rfa839cf86b454fb1" /><Relationship Type="http://schemas.openxmlformats.org/officeDocument/2006/relationships/notesSlide" Target="/ppt/notesSlides/notesSlide32.xml" Id="R52c916dd1f844a0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32e79483f74b54" /><Relationship Type="http://schemas.openxmlformats.org/officeDocument/2006/relationships/image" Target="/ppt/media/image40.png" Id="R0f468948870e4b77" /><Relationship Type="http://schemas.openxmlformats.org/officeDocument/2006/relationships/notesSlide" Target="/ppt/notesSlides/notesSlide33.xml" Id="R8696ef3d5edd49e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5f42dbec1d440b" /><Relationship Type="http://schemas.openxmlformats.org/officeDocument/2006/relationships/image" Target="/ppt/media/image2.gif" Id="Radd993519aa04bf0" /><Relationship Type="http://schemas.openxmlformats.org/officeDocument/2006/relationships/image" Target="/ppt/media/image3.gif" Id="R551a140218e14ffb" /><Relationship Type="http://schemas.openxmlformats.org/officeDocument/2006/relationships/notesSlide" Target="/ppt/notesSlides/notesSlide34.xml" Id="R33b819d5dbab4466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175d98152e4ac2" /><Relationship Type="http://schemas.openxmlformats.org/officeDocument/2006/relationships/notesSlide" Target="/ppt/notesSlides/notesSlide35.xml" Id="R7478de265ab449de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交换引起的能级分裂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三重态，3 个态</c:v>
          </c:tx>
          <c:spPr>
            <a:ln xmlns:a="http://schemas.openxmlformats.org/drawingml/2006/main" w="47625">
              <a:solidFill>
                <a:srgbClr val="246B9A"/>
              </a:solidFill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0.05</c:v>
              </c:pt>
              <c:pt idx="1">
                <c:v>0.45</c:v>
              </c:pt>
            </c:numLit>
          </c:xVal>
          <c:yVal>
            <c:numLit>
              <c:formatCode>0.##</c:formatCode>
              <c:ptCount val="2"/>
              <c:pt idx="0">
                <c:v>-1</c:v>
              </c:pt>
              <c:pt idx="1">
                <c:v>-1</c:v>
              </c:pt>
            </c:numLit>
          </c:yVal>
        </c:ser>
        <c:ser>
          <c:idx val="1"/>
          <c:order val="1"/>
          <c:tx>
            <c:v>单重态，1 个态</c:v>
          </c:tx>
          <c:spPr>
            <a:ln xmlns:a="http://schemas.openxmlformats.org/drawingml/2006/main" w="47625">
              <a:solidFill>
                <a:srgbClr val="C95F42"/>
              </a:solidFill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0.55</c:v>
              </c:pt>
              <c:pt idx="1">
                <c:v>0.95</c:v>
              </c:pt>
            </c:numLit>
          </c:xVal>
          <c:yVal>
            <c:numLit>
              <c:formatCode>0.##</c:formatCode>
              <c:ptCount val="2"/>
              <c:pt idx="0">
                <c:v>1</c:v>
              </c:pt>
              <c:pt idx="1">
                <c:v>1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6"/>
          <c:min val="-1.6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(E − D) / K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-1.6"/>
        <c:majorUnit val="1"/>
      </c:valAx>
      <c:valAx>
        <c:axId val="48650112"/>
        <c:scaling>
          <c:orientation val="minMax"/>
          <c:max val="1"/>
          <c:min val="0"/>
        </c:scaling>
        <c:delete val="1"/>
        <c:axPos val="b"/>
        <c:title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η = 0.35 的两个方向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沿 x，qᵧ = 0</c:v>
          </c:tx>
          <c:spPr>
            <a:ln xmlns:a="http://schemas.openxmlformats.org/drawingml/2006/main" w="25718">
              <a:solidFill>
                <a:srgbClr val="246B9A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81"/>
              <c:pt idx="0">
                <c:v>-3.141592653589793</c:v>
              </c:pt>
              <c:pt idx="1">
                <c:v>-3.0630528372500483</c:v>
              </c:pt>
              <c:pt idx="2">
                <c:v>-2.9845130209103035</c:v>
              </c:pt>
              <c:pt idx="3">
                <c:v>-2.9059732045705586</c:v>
              </c:pt>
              <c:pt idx="4">
                <c:v>-2.827433388230814</c:v>
              </c:pt>
              <c:pt idx="5">
                <c:v>-2.748893571891069</c:v>
              </c:pt>
              <c:pt idx="6">
                <c:v>-2.670353755551324</c:v>
              </c:pt>
              <c:pt idx="7">
                <c:v>-2.5918139392115793</c:v>
              </c:pt>
              <c:pt idx="8">
                <c:v>-2.5132741228718345</c:v>
              </c:pt>
              <c:pt idx="9">
                <c:v>-2.4347343065320897</c:v>
              </c:pt>
              <c:pt idx="10">
                <c:v>-2.356194490192345</c:v>
              </c:pt>
              <c:pt idx="11">
                <c:v>-2.2776546738526</c:v>
              </c:pt>
              <c:pt idx="12">
                <c:v>-2.199114857512855</c:v>
              </c:pt>
              <c:pt idx="13">
                <c:v>-2.1205750411731104</c:v>
              </c:pt>
              <c:pt idx="14">
                <c:v>-2.0420352248333655</c:v>
              </c:pt>
              <c:pt idx="15">
                <c:v>-1.9634954084936207</c:v>
              </c:pt>
              <c:pt idx="16">
                <c:v>-1.8849555921538759</c:v>
              </c:pt>
              <c:pt idx="17">
                <c:v>-1.806415775814131</c:v>
              </c:pt>
              <c:pt idx="18">
                <c:v>-1.7278759594743862</c:v>
              </c:pt>
              <c:pt idx="19">
                <c:v>-1.6493361431346414</c:v>
              </c:pt>
              <c:pt idx="20">
                <c:v>-1.5707963267948966</c:v>
              </c:pt>
              <c:pt idx="21">
                <c:v>-1.4922565104551517</c:v>
              </c:pt>
              <c:pt idx="22">
                <c:v>-1.413716694115407</c:v>
              </c:pt>
              <c:pt idx="23">
                <c:v>-1.335176877775662</c:v>
              </c:pt>
              <c:pt idx="24">
                <c:v>-1.2566370614359172</c:v>
              </c:pt>
              <c:pt idx="25">
                <c:v>-1.1780972450961724</c:v>
              </c:pt>
              <c:pt idx="26">
                <c:v>-1.0995574287564276</c:v>
              </c:pt>
              <c:pt idx="27">
                <c:v>-1.0210176124166828</c:v>
              </c:pt>
              <c:pt idx="28">
                <c:v>-0.9424777960769379</c:v>
              </c:pt>
              <c:pt idx="29">
                <c:v>-0.8639379797371931</c:v>
              </c:pt>
              <c:pt idx="30">
                <c:v>-0.7853981633974483</c:v>
              </c:pt>
              <c:pt idx="31">
                <c:v>-0.7068583470577035</c:v>
              </c:pt>
              <c:pt idx="32">
                <c:v>-0.6283185307179586</c:v>
              </c:pt>
              <c:pt idx="33">
                <c:v>-0.5497787143782138</c:v>
              </c:pt>
              <c:pt idx="34">
                <c:v>-0.47123889803846897</c:v>
              </c:pt>
              <c:pt idx="35">
                <c:v>-0.39269908169872414</c:v>
              </c:pt>
              <c:pt idx="36">
                <c:v>-0.3141592653589793</c:v>
              </c:pt>
              <c:pt idx="37">
                <c:v>-0.23561944901923448</c:v>
              </c:pt>
              <c:pt idx="38">
                <c:v>-0.15707963267948966</c:v>
              </c:pt>
              <c:pt idx="39">
                <c:v>-0.07853981633974483</c:v>
              </c:pt>
              <c:pt idx="40">
                <c:v>0</c:v>
              </c:pt>
              <c:pt idx="41">
                <c:v>0.07853981633974483</c:v>
              </c:pt>
              <c:pt idx="42">
                <c:v>0.15707963267948966</c:v>
              </c:pt>
              <c:pt idx="43">
                <c:v>0.23561944901923448</c:v>
              </c:pt>
              <c:pt idx="44">
                <c:v>0.3141592653589793</c:v>
              </c:pt>
              <c:pt idx="45">
                <c:v>0.39269908169872414</c:v>
              </c:pt>
              <c:pt idx="46">
                <c:v>0.47123889803846897</c:v>
              </c:pt>
              <c:pt idx="47">
                <c:v>0.5497787143782138</c:v>
              </c:pt>
              <c:pt idx="48">
                <c:v>0.6283185307179586</c:v>
              </c:pt>
              <c:pt idx="49">
                <c:v>0.7068583470577035</c:v>
              </c:pt>
              <c:pt idx="50">
                <c:v>0.7853981633974483</c:v>
              </c:pt>
              <c:pt idx="51">
                <c:v>0.8639379797371927</c:v>
              </c:pt>
              <c:pt idx="52">
                <c:v>0.9424777960769379</c:v>
              </c:pt>
              <c:pt idx="53">
                <c:v>1.0210176124166832</c:v>
              </c:pt>
              <c:pt idx="54">
                <c:v>1.0995574287564276</c:v>
              </c:pt>
              <c:pt idx="55">
                <c:v>1.178097245096172</c:v>
              </c:pt>
              <c:pt idx="56">
                <c:v>1.2566370614359172</c:v>
              </c:pt>
              <c:pt idx="57">
                <c:v>1.3351768777756625</c:v>
              </c:pt>
              <c:pt idx="58">
                <c:v>1.413716694115407</c:v>
              </c:pt>
              <c:pt idx="59">
                <c:v>1.4922565104551513</c:v>
              </c:pt>
              <c:pt idx="60">
                <c:v>1.5707963267948966</c:v>
              </c:pt>
              <c:pt idx="61">
                <c:v>1.6493361431346418</c:v>
              </c:pt>
              <c:pt idx="62">
                <c:v>1.7278759594743862</c:v>
              </c:pt>
              <c:pt idx="63">
                <c:v>1.8064157758141306</c:v>
              </c:pt>
              <c:pt idx="64">
                <c:v>1.8849555921538759</c:v>
              </c:pt>
              <c:pt idx="65">
                <c:v>1.9634954084936211</c:v>
              </c:pt>
              <c:pt idx="66">
                <c:v>2.0420352248333655</c:v>
              </c:pt>
              <c:pt idx="67">
                <c:v>2.12057504117311</c:v>
              </c:pt>
              <c:pt idx="68">
                <c:v>2.199114857512855</c:v>
              </c:pt>
              <c:pt idx="69">
                <c:v>2.2776546738526005</c:v>
              </c:pt>
              <c:pt idx="70">
                <c:v>2.356194490192345</c:v>
              </c:pt>
              <c:pt idx="71">
                <c:v>2.434734306532089</c:v>
              </c:pt>
              <c:pt idx="72">
                <c:v>2.5132741228718345</c:v>
              </c:pt>
              <c:pt idx="73">
                <c:v>2.5918139392115798</c:v>
              </c:pt>
              <c:pt idx="74">
                <c:v>2.670353755551324</c:v>
              </c:pt>
              <c:pt idx="75">
                <c:v>2.7488935718910685</c:v>
              </c:pt>
              <c:pt idx="76">
                <c:v>2.827433388230814</c:v>
              </c:pt>
              <c:pt idx="77">
                <c:v>2.905973204570559</c:v>
              </c:pt>
              <c:pt idx="78">
                <c:v>2.9845130209103035</c:v>
              </c:pt>
              <c:pt idx="79">
                <c:v>3.063052837250048</c:v>
              </c:pt>
              <c:pt idx="80">
                <c:v>3.141592653589793</c:v>
              </c:pt>
            </c:numLit>
          </c:xVal>
          <c:yVal>
            <c:numLit>
              <c:formatCode>0.##</c:formatCode>
              <c:ptCount val="81"/>
              <c:pt idx="0">
                <c:v>2</c:v>
              </c:pt>
              <c:pt idx="1">
                <c:v>1.996917333733128</c:v>
              </c:pt>
              <c:pt idx="2">
                <c:v>1.9876883405951378</c:v>
              </c:pt>
              <c:pt idx="3">
                <c:v>1.9723699203976766</c:v>
              </c:pt>
              <c:pt idx="4">
                <c:v>1.9510565162951536</c:v>
              </c:pt>
              <c:pt idx="5">
                <c:v>1.9238795325112867</c:v>
              </c:pt>
              <c:pt idx="6">
                <c:v>1.8910065241883678</c:v>
              </c:pt>
              <c:pt idx="7">
                <c:v>1.8526401643540922</c:v>
              </c:pt>
              <c:pt idx="8">
                <c:v>1.8090169943749475</c:v>
              </c:pt>
              <c:pt idx="9">
                <c:v>1.760405965600031</c:v>
              </c:pt>
              <c:pt idx="10">
                <c:v>1.7071067811865475</c:v>
              </c:pt>
              <c:pt idx="11">
                <c:v>1.6494480483301834</c:v>
              </c:pt>
              <c:pt idx="12">
                <c:v>1.587785252292473</c:v>
              </c:pt>
              <c:pt idx="13">
                <c:v>1.5224985647159488</c:v>
              </c:pt>
              <c:pt idx="14">
                <c:v>1.4539904997395467</c:v>
              </c:pt>
              <c:pt idx="15">
                <c:v>1.3826834323650896</c:v>
              </c:pt>
              <c:pt idx="16">
                <c:v>1.3090169943749475</c:v>
              </c:pt>
              <c:pt idx="17">
                <c:v>1.2334453638559053</c:v>
              </c:pt>
              <c:pt idx="18">
                <c:v>1.1564344650402307</c:v>
              </c:pt>
              <c:pt idx="19">
                <c:v>1.0784590957278448</c:v>
              </c:pt>
              <c:pt idx="20">
                <c:v>0.9999999999999999</c:v>
              </c:pt>
              <c:pt idx="21">
                <c:v>0.921540904272155</c:v>
              </c:pt>
              <c:pt idx="22">
                <c:v>0.843565534959769</c:v>
              </c:pt>
              <c:pt idx="23">
                <c:v>0.7665546361440945</c:v>
              </c:pt>
              <c:pt idx="24">
                <c:v>0.6909830056250525</c:v>
              </c:pt>
              <c:pt idx="25">
                <c:v>0.6173165676349102</c:v>
              </c:pt>
              <c:pt idx="26">
                <c:v>0.5460095002604533</c:v>
              </c:pt>
              <c:pt idx="27">
                <c:v>0.4775014352840511</c:v>
              </c:pt>
              <c:pt idx="28">
                <c:v>0.41221474770752686</c:v>
              </c:pt>
              <c:pt idx="29">
                <c:v>0.35055195166981634</c:v>
              </c:pt>
              <c:pt idx="30">
                <c:v>0.2928932188134524</c:v>
              </c:pt>
              <c:pt idx="31">
                <c:v>0.23959403439996907</c:v>
              </c:pt>
              <c:pt idx="32">
                <c:v>0.19098300562505255</c:v>
              </c:pt>
              <c:pt idx="33">
                <c:v>0.1473598356459077</c:v>
              </c:pt>
              <c:pt idx="34">
                <c:v>0.1089934758116321</c:v>
              </c:pt>
              <c:pt idx="35">
                <c:v>0.07612046748871326</c:v>
              </c:pt>
              <c:pt idx="36">
                <c:v>0.04894348370484647</c:v>
              </c:pt>
              <c:pt idx="37">
                <c:v>0.027630079602323443</c:v>
              </c:pt>
              <c:pt idx="38">
                <c:v>0.01231165940486223</c:v>
              </c:pt>
              <c:pt idx="39">
                <c:v>0.003082666266872036</c:v>
              </c:pt>
              <c:pt idx="40">
                <c:v>0</c:v>
              </c:pt>
              <c:pt idx="41">
                <c:v>0.003082666266872036</c:v>
              </c:pt>
              <c:pt idx="42">
                <c:v>0.01231165940486223</c:v>
              </c:pt>
              <c:pt idx="43">
                <c:v>0.027630079602323443</c:v>
              </c:pt>
              <c:pt idx="44">
                <c:v>0.04894348370484647</c:v>
              </c:pt>
              <c:pt idx="45">
                <c:v>0.07612046748871326</c:v>
              </c:pt>
              <c:pt idx="46">
                <c:v>0.1089934758116321</c:v>
              </c:pt>
              <c:pt idx="47">
                <c:v>0.1473598356459077</c:v>
              </c:pt>
              <c:pt idx="48">
                <c:v>0.19098300562505255</c:v>
              </c:pt>
              <c:pt idx="49">
                <c:v>0.23959403439996907</c:v>
              </c:pt>
              <c:pt idx="50">
                <c:v>0.2928932188134524</c:v>
              </c:pt>
              <c:pt idx="51">
                <c:v>0.350551951669816</c:v>
              </c:pt>
              <c:pt idx="52">
                <c:v>0.41221474770752686</c:v>
              </c:pt>
              <c:pt idx="53">
                <c:v>0.47750143528405153</c:v>
              </c:pt>
              <c:pt idx="54">
                <c:v>0.5460095002604533</c:v>
              </c:pt>
              <c:pt idx="55">
                <c:v>0.6173165676349097</c:v>
              </c:pt>
              <c:pt idx="56">
                <c:v>0.6909830056250525</c:v>
              </c:pt>
              <c:pt idx="57">
                <c:v>0.7665546361440949</c:v>
              </c:pt>
              <c:pt idx="58">
                <c:v>0.843565534959769</c:v>
              </c:pt>
              <c:pt idx="59">
                <c:v>0.9215409042721545</c:v>
              </c:pt>
              <c:pt idx="60">
                <c:v>0.9999999999999999</c:v>
              </c:pt>
              <c:pt idx="61">
                <c:v>1.0784590957278453</c:v>
              </c:pt>
              <c:pt idx="62">
                <c:v>1.1564344650402307</c:v>
              </c:pt>
              <c:pt idx="63">
                <c:v>1.2334453638559049</c:v>
              </c:pt>
              <c:pt idx="64">
                <c:v>1.3090169943749475</c:v>
              </c:pt>
              <c:pt idx="65">
                <c:v>1.38268343236509</c:v>
              </c:pt>
              <c:pt idx="66">
                <c:v>1.4539904997395467</c:v>
              </c:pt>
              <c:pt idx="67">
                <c:v>1.5224985647159484</c:v>
              </c:pt>
              <c:pt idx="68">
                <c:v>1.587785252292473</c:v>
              </c:pt>
              <c:pt idx="69">
                <c:v>1.6494480483301839</c:v>
              </c:pt>
              <c:pt idx="70">
                <c:v>1.7071067811865475</c:v>
              </c:pt>
              <c:pt idx="71">
                <c:v>1.7604059656000306</c:v>
              </c:pt>
              <c:pt idx="72">
                <c:v>1.8090169943749475</c:v>
              </c:pt>
              <c:pt idx="73">
                <c:v>1.8526401643540924</c:v>
              </c:pt>
              <c:pt idx="74">
                <c:v>1.8910065241883678</c:v>
              </c:pt>
              <c:pt idx="75">
                <c:v>1.9238795325112865</c:v>
              </c:pt>
              <c:pt idx="76">
                <c:v>1.9510565162951536</c:v>
              </c:pt>
              <c:pt idx="77">
                <c:v>1.9723699203976768</c:v>
              </c:pt>
              <c:pt idx="78">
                <c:v>1.9876883405951378</c:v>
              </c:pt>
              <c:pt idx="79">
                <c:v>1.996917333733128</c:v>
              </c:pt>
              <c:pt idx="80">
                <c:v>2</c:v>
              </c:pt>
            </c:numLit>
          </c:yVal>
        </c:ser>
        <c:ser>
          <c:idx val="1"/>
          <c:order val="1"/>
          <c:tx>
            <c:v>沿 y，qₓ = 0</c:v>
          </c:tx>
          <c:spPr>
            <a:ln xmlns:a="http://schemas.openxmlformats.org/drawingml/2006/main" w="25718">
              <a:solidFill>
                <a:srgbClr val="C95F42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81"/>
              <c:pt idx="0">
                <c:v>-3.141592653589793</c:v>
              </c:pt>
              <c:pt idx="1">
                <c:v>-3.0630528372500483</c:v>
              </c:pt>
              <c:pt idx="2">
                <c:v>-2.9845130209103035</c:v>
              </c:pt>
              <c:pt idx="3">
                <c:v>-2.9059732045705586</c:v>
              </c:pt>
              <c:pt idx="4">
                <c:v>-2.827433388230814</c:v>
              </c:pt>
              <c:pt idx="5">
                <c:v>-2.748893571891069</c:v>
              </c:pt>
              <c:pt idx="6">
                <c:v>-2.670353755551324</c:v>
              </c:pt>
              <c:pt idx="7">
                <c:v>-2.5918139392115793</c:v>
              </c:pt>
              <c:pt idx="8">
                <c:v>-2.5132741228718345</c:v>
              </c:pt>
              <c:pt idx="9">
                <c:v>-2.4347343065320897</c:v>
              </c:pt>
              <c:pt idx="10">
                <c:v>-2.356194490192345</c:v>
              </c:pt>
              <c:pt idx="11">
                <c:v>-2.2776546738526</c:v>
              </c:pt>
              <c:pt idx="12">
                <c:v>-2.199114857512855</c:v>
              </c:pt>
              <c:pt idx="13">
                <c:v>-2.1205750411731104</c:v>
              </c:pt>
              <c:pt idx="14">
                <c:v>-2.0420352248333655</c:v>
              </c:pt>
              <c:pt idx="15">
                <c:v>-1.9634954084936207</c:v>
              </c:pt>
              <c:pt idx="16">
                <c:v>-1.8849555921538759</c:v>
              </c:pt>
              <c:pt idx="17">
                <c:v>-1.806415775814131</c:v>
              </c:pt>
              <c:pt idx="18">
                <c:v>-1.7278759594743862</c:v>
              </c:pt>
              <c:pt idx="19">
                <c:v>-1.6493361431346414</c:v>
              </c:pt>
              <c:pt idx="20">
                <c:v>-1.5707963267948966</c:v>
              </c:pt>
              <c:pt idx="21">
                <c:v>-1.4922565104551517</c:v>
              </c:pt>
              <c:pt idx="22">
                <c:v>-1.413716694115407</c:v>
              </c:pt>
              <c:pt idx="23">
                <c:v>-1.335176877775662</c:v>
              </c:pt>
              <c:pt idx="24">
                <c:v>-1.2566370614359172</c:v>
              </c:pt>
              <c:pt idx="25">
                <c:v>-1.1780972450961724</c:v>
              </c:pt>
              <c:pt idx="26">
                <c:v>-1.0995574287564276</c:v>
              </c:pt>
              <c:pt idx="27">
                <c:v>-1.0210176124166828</c:v>
              </c:pt>
              <c:pt idx="28">
                <c:v>-0.9424777960769379</c:v>
              </c:pt>
              <c:pt idx="29">
                <c:v>-0.8639379797371931</c:v>
              </c:pt>
              <c:pt idx="30">
                <c:v>-0.7853981633974483</c:v>
              </c:pt>
              <c:pt idx="31">
                <c:v>-0.7068583470577035</c:v>
              </c:pt>
              <c:pt idx="32">
                <c:v>-0.6283185307179586</c:v>
              </c:pt>
              <c:pt idx="33">
                <c:v>-0.5497787143782138</c:v>
              </c:pt>
              <c:pt idx="34">
                <c:v>-0.47123889803846897</c:v>
              </c:pt>
              <c:pt idx="35">
                <c:v>-0.39269908169872414</c:v>
              </c:pt>
              <c:pt idx="36">
                <c:v>-0.3141592653589793</c:v>
              </c:pt>
              <c:pt idx="37">
                <c:v>-0.23561944901923448</c:v>
              </c:pt>
              <c:pt idx="38">
                <c:v>-0.15707963267948966</c:v>
              </c:pt>
              <c:pt idx="39">
                <c:v>-0.07853981633974483</c:v>
              </c:pt>
              <c:pt idx="40">
                <c:v>0</c:v>
              </c:pt>
              <c:pt idx="41">
                <c:v>0.07853981633974483</c:v>
              </c:pt>
              <c:pt idx="42">
                <c:v>0.15707963267948966</c:v>
              </c:pt>
              <c:pt idx="43">
                <c:v>0.23561944901923448</c:v>
              </c:pt>
              <c:pt idx="44">
                <c:v>0.3141592653589793</c:v>
              </c:pt>
              <c:pt idx="45">
                <c:v>0.39269908169872414</c:v>
              </c:pt>
              <c:pt idx="46">
                <c:v>0.47123889803846897</c:v>
              </c:pt>
              <c:pt idx="47">
                <c:v>0.5497787143782138</c:v>
              </c:pt>
              <c:pt idx="48">
                <c:v>0.6283185307179586</c:v>
              </c:pt>
              <c:pt idx="49">
                <c:v>0.7068583470577035</c:v>
              </c:pt>
              <c:pt idx="50">
                <c:v>0.7853981633974483</c:v>
              </c:pt>
              <c:pt idx="51">
                <c:v>0.8639379797371927</c:v>
              </c:pt>
              <c:pt idx="52">
                <c:v>0.9424777960769379</c:v>
              </c:pt>
              <c:pt idx="53">
                <c:v>1.0210176124166832</c:v>
              </c:pt>
              <c:pt idx="54">
                <c:v>1.0995574287564276</c:v>
              </c:pt>
              <c:pt idx="55">
                <c:v>1.178097245096172</c:v>
              </c:pt>
              <c:pt idx="56">
                <c:v>1.2566370614359172</c:v>
              </c:pt>
              <c:pt idx="57">
                <c:v>1.3351768777756625</c:v>
              </c:pt>
              <c:pt idx="58">
                <c:v>1.413716694115407</c:v>
              </c:pt>
              <c:pt idx="59">
                <c:v>1.4922565104551513</c:v>
              </c:pt>
              <c:pt idx="60">
                <c:v>1.5707963267948966</c:v>
              </c:pt>
              <c:pt idx="61">
                <c:v>1.6493361431346418</c:v>
              </c:pt>
              <c:pt idx="62">
                <c:v>1.7278759594743862</c:v>
              </c:pt>
              <c:pt idx="63">
                <c:v>1.8064157758141306</c:v>
              </c:pt>
              <c:pt idx="64">
                <c:v>1.8849555921538759</c:v>
              </c:pt>
              <c:pt idx="65">
                <c:v>1.9634954084936211</c:v>
              </c:pt>
              <c:pt idx="66">
                <c:v>2.0420352248333655</c:v>
              </c:pt>
              <c:pt idx="67">
                <c:v>2.12057504117311</c:v>
              </c:pt>
              <c:pt idx="68">
                <c:v>2.199114857512855</c:v>
              </c:pt>
              <c:pt idx="69">
                <c:v>2.2776546738526005</c:v>
              </c:pt>
              <c:pt idx="70">
                <c:v>2.356194490192345</c:v>
              </c:pt>
              <c:pt idx="71">
                <c:v>2.434734306532089</c:v>
              </c:pt>
              <c:pt idx="72">
                <c:v>2.5132741228718345</c:v>
              </c:pt>
              <c:pt idx="73">
                <c:v>2.5918139392115798</c:v>
              </c:pt>
              <c:pt idx="74">
                <c:v>2.670353755551324</c:v>
              </c:pt>
              <c:pt idx="75">
                <c:v>2.7488935718910685</c:v>
              </c:pt>
              <c:pt idx="76">
                <c:v>2.827433388230814</c:v>
              </c:pt>
              <c:pt idx="77">
                <c:v>2.905973204570559</c:v>
              </c:pt>
              <c:pt idx="78">
                <c:v>2.9845130209103035</c:v>
              </c:pt>
              <c:pt idx="79">
                <c:v>3.063052837250048</c:v>
              </c:pt>
              <c:pt idx="80">
                <c:v>3.141592653589793</c:v>
              </c:pt>
            </c:numLit>
          </c:xVal>
          <c:yVal>
            <c:numLit>
              <c:formatCode>0.##</c:formatCode>
              <c:ptCount val="81"/>
              <c:pt idx="0">
                <c:v>0.7</c:v>
              </c:pt>
              <c:pt idx="1">
                <c:v>0.6989210668065948</c:v>
              </c:pt>
              <c:pt idx="2">
                <c:v>0.6956909192082982</c:v>
              </c:pt>
              <c:pt idx="3">
                <c:v>0.6903294721391867</c:v>
              </c:pt>
              <c:pt idx="4">
                <c:v>0.6828697807033037</c:v>
              </c:pt>
              <c:pt idx="5">
                <c:v>0.6733578363789503</c:v>
              </c:pt>
              <c:pt idx="6">
                <c:v>0.6618522834659287</c:v>
              </c:pt>
              <c:pt idx="7">
                <c:v>0.6484240575239322</c:v>
              </c:pt>
              <c:pt idx="8">
                <c:v>0.6331559480312315</c:v>
              </c:pt>
              <c:pt idx="9">
                <c:v>0.6161420879600108</c:v>
              </c:pt>
              <c:pt idx="10">
                <c:v>0.5974873734152916</c:v>
              </c:pt>
              <c:pt idx="11">
                <c:v>0.5773068169155642</c:v>
              </c:pt>
              <c:pt idx="12">
                <c:v>0.5557248383023655</c:v>
              </c:pt>
              <c:pt idx="13">
                <c:v>0.532874497650582</c:v>
              </c:pt>
              <c:pt idx="14">
                <c:v>0.5088966749088414</c:v>
              </c:pt>
              <c:pt idx="15">
                <c:v>0.48393920132778134</c:v>
              </c:pt>
              <c:pt idx="16">
                <c:v>0.45815594803123155</c:v>
              </c:pt>
              <c:pt idx="17">
                <c:v>0.43170587734956684</c:v>
              </c:pt>
              <c:pt idx="18">
                <c:v>0.4047520627640807</c:v>
              </c:pt>
              <c:pt idx="19">
                <c:v>0.37746068350474565</c:v>
              </c:pt>
              <c:pt idx="20">
                <c:v>0.3499999999999999</c:v>
              </c:pt>
              <c:pt idx="21">
                <c:v>0.3225393164952542</c:v>
              </c:pt>
              <c:pt idx="22">
                <c:v>0.29524793723591913</c:v>
              </c:pt>
              <c:pt idx="23">
                <c:v>0.26829412265043306</c:v>
              </c:pt>
              <c:pt idx="24">
                <c:v>0.24184405196876838</c:v>
              </c:pt>
              <c:pt idx="25">
                <c:v>0.21606079867221856</c:v>
              </c:pt>
              <c:pt idx="26">
                <c:v>0.19110332509115863</c:v>
              </c:pt>
              <c:pt idx="27">
                <c:v>0.16712550234941786</c:v>
              </c:pt>
              <c:pt idx="28">
                <c:v>0.14427516169763438</c:v>
              </c:pt>
              <c:pt idx="29">
                <c:v>0.1226931830844357</c:v>
              </c:pt>
              <c:pt idx="30">
                <c:v>0.10251262658470835</c:v>
              </c:pt>
              <c:pt idx="31">
                <c:v>0.08385791203998917</c:v>
              </c:pt>
              <c:pt idx="32">
                <c:v>0.06684405196876839</c:v>
              </c:pt>
              <c:pt idx="33">
                <c:v>0.0515759424760677</c:v>
              </c:pt>
              <c:pt idx="34">
                <c:v>0.03814771653407123</c:v>
              </c:pt>
              <c:pt idx="35">
                <c:v>0.02664216362104964</c:v>
              </c:pt>
              <c:pt idx="36">
                <c:v>0.017130219296696263</c:v>
              </c:pt>
              <c:pt idx="37">
                <c:v>0.009670527860813204</c:v>
              </c:pt>
              <c:pt idx="38">
                <c:v>0.00430908079170178</c:v>
              </c:pt>
              <c:pt idx="39">
                <c:v>0.0010789331934052127</c:v>
              </c:pt>
              <c:pt idx="40">
                <c:v>0</c:v>
              </c:pt>
              <c:pt idx="41">
                <c:v>0.0010789331934052127</c:v>
              </c:pt>
              <c:pt idx="42">
                <c:v>0.00430908079170178</c:v>
              </c:pt>
              <c:pt idx="43">
                <c:v>0.009670527860813204</c:v>
              </c:pt>
              <c:pt idx="44">
                <c:v>0.017130219296696263</c:v>
              </c:pt>
              <c:pt idx="45">
                <c:v>0.02664216362104964</c:v>
              </c:pt>
              <c:pt idx="46">
                <c:v>0.03814771653407123</c:v>
              </c:pt>
              <c:pt idx="47">
                <c:v>0.0515759424760677</c:v>
              </c:pt>
              <c:pt idx="48">
                <c:v>0.06684405196876839</c:v>
              </c:pt>
              <c:pt idx="49">
                <c:v>0.08385791203998917</c:v>
              </c:pt>
              <c:pt idx="50">
                <c:v>0.10251262658470835</c:v>
              </c:pt>
              <c:pt idx="51">
                <c:v>0.1226931830844356</c:v>
              </c:pt>
              <c:pt idx="52">
                <c:v>0.14427516169763438</c:v>
              </c:pt>
              <c:pt idx="53">
                <c:v>0.16712550234941803</c:v>
              </c:pt>
              <c:pt idx="54">
                <c:v>0.19110332509115863</c:v>
              </c:pt>
              <c:pt idx="55">
                <c:v>0.2160607986722184</c:v>
              </c:pt>
              <c:pt idx="56">
                <c:v>0.24184405196876838</c:v>
              </c:pt>
              <c:pt idx="57">
                <c:v>0.2682941226504332</c:v>
              </c:pt>
              <c:pt idx="58">
                <c:v>0.29524793723591913</c:v>
              </c:pt>
              <c:pt idx="59">
                <c:v>0.3225393164952541</c:v>
              </c:pt>
              <c:pt idx="60">
                <c:v>0.3499999999999999</c:v>
              </c:pt>
              <c:pt idx="61">
                <c:v>0.3774606835047458</c:v>
              </c:pt>
              <c:pt idx="62">
                <c:v>0.4047520627640807</c:v>
              </c:pt>
              <c:pt idx="63">
                <c:v>0.43170587734956667</c:v>
              </c:pt>
              <c:pt idx="64">
                <c:v>0.45815594803123155</c:v>
              </c:pt>
              <c:pt idx="65">
                <c:v>0.4839392013277815</c:v>
              </c:pt>
              <c:pt idx="66">
                <c:v>0.5088966749088414</c:v>
              </c:pt>
              <c:pt idx="67">
                <c:v>0.5328744976505819</c:v>
              </c:pt>
              <c:pt idx="68">
                <c:v>0.5557248383023655</c:v>
              </c:pt>
              <c:pt idx="69">
                <c:v>0.5773068169155643</c:v>
              </c:pt>
              <c:pt idx="70">
                <c:v>0.5974873734152916</c:v>
              </c:pt>
              <c:pt idx="71">
                <c:v>0.6161420879600107</c:v>
              </c:pt>
              <c:pt idx="72">
                <c:v>0.6331559480312315</c:v>
              </c:pt>
              <c:pt idx="73">
                <c:v>0.6484240575239323</c:v>
              </c:pt>
              <c:pt idx="74">
                <c:v>0.6618522834659287</c:v>
              </c:pt>
              <c:pt idx="75">
                <c:v>0.6733578363789502</c:v>
              </c:pt>
              <c:pt idx="76">
                <c:v>0.6828697807033037</c:v>
              </c:pt>
              <c:pt idx="77">
                <c:v>0.6903294721391868</c:v>
              </c:pt>
              <c:pt idx="78">
                <c:v>0.6956909192082982</c:v>
              </c:pt>
              <c:pt idx="79">
                <c:v>0.6989210668065948</c:v>
              </c:pt>
              <c:pt idx="80">
                <c:v>0.7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.1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ε / Jₓ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0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q = ka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-3.141592653589793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RMS 宽度的弹道增长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η = 1</c:v>
          </c:tx>
          <c:spPr>
            <a:ln xmlns:a="http://schemas.openxmlformats.org/drawingml/2006/main" w="25718">
              <a:solidFill>
                <a:srgbClr val="246B9A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81"/>
              <c:pt idx="0">
                <c:v>0</c:v>
              </c:pt>
              <c:pt idx="1">
                <c:v>0.5</c:v>
              </c:pt>
              <c:pt idx="2">
                <c:v>1</c:v>
              </c:pt>
              <c:pt idx="3">
                <c:v>1.5</c:v>
              </c:pt>
              <c:pt idx="4">
                <c:v>2</c:v>
              </c:pt>
              <c:pt idx="5">
                <c:v>2.5</c:v>
              </c:pt>
              <c:pt idx="6">
                <c:v>3</c:v>
              </c:pt>
              <c:pt idx="7">
                <c:v>3.5</c:v>
              </c:pt>
              <c:pt idx="8">
                <c:v>4</c:v>
              </c:pt>
              <c:pt idx="9">
                <c:v>4.5</c:v>
              </c:pt>
              <c:pt idx="10">
                <c:v>5</c:v>
              </c:pt>
              <c:pt idx="11">
                <c:v>5.5</c:v>
              </c:pt>
              <c:pt idx="12">
                <c:v>6</c:v>
              </c:pt>
              <c:pt idx="13">
                <c:v>6.5</c:v>
              </c:pt>
              <c:pt idx="14">
                <c:v>7</c:v>
              </c:pt>
              <c:pt idx="15">
                <c:v>7.5</c:v>
              </c:pt>
              <c:pt idx="16">
                <c:v>8</c:v>
              </c:pt>
              <c:pt idx="17">
                <c:v>8.5</c:v>
              </c:pt>
              <c:pt idx="18">
                <c:v>9</c:v>
              </c:pt>
              <c:pt idx="19">
                <c:v>9.5</c:v>
              </c:pt>
              <c:pt idx="20">
                <c:v>10</c:v>
              </c:pt>
              <c:pt idx="21">
                <c:v>10.5</c:v>
              </c:pt>
              <c:pt idx="22">
                <c:v>11</c:v>
              </c:pt>
              <c:pt idx="23">
                <c:v>11.5</c:v>
              </c:pt>
              <c:pt idx="24">
                <c:v>12</c:v>
              </c:pt>
              <c:pt idx="25">
                <c:v>12.5</c:v>
              </c:pt>
              <c:pt idx="26">
                <c:v>13</c:v>
              </c:pt>
              <c:pt idx="27">
                <c:v>13.5</c:v>
              </c:pt>
              <c:pt idx="28">
                <c:v>14</c:v>
              </c:pt>
              <c:pt idx="29">
                <c:v>14.5</c:v>
              </c:pt>
              <c:pt idx="30">
                <c:v>15</c:v>
              </c:pt>
              <c:pt idx="31">
                <c:v>15.5</c:v>
              </c:pt>
              <c:pt idx="32">
                <c:v>16</c:v>
              </c:pt>
              <c:pt idx="33">
                <c:v>16.5</c:v>
              </c:pt>
              <c:pt idx="34">
                <c:v>17</c:v>
              </c:pt>
              <c:pt idx="35">
                <c:v>17.5</c:v>
              </c:pt>
              <c:pt idx="36">
                <c:v>18</c:v>
              </c:pt>
              <c:pt idx="37">
                <c:v>18.5</c:v>
              </c:pt>
              <c:pt idx="38">
                <c:v>19</c:v>
              </c:pt>
              <c:pt idx="39">
                <c:v>19.5</c:v>
              </c:pt>
              <c:pt idx="40">
                <c:v>20</c:v>
              </c:pt>
              <c:pt idx="41">
                <c:v>20.5</c:v>
              </c:pt>
              <c:pt idx="42">
                <c:v>21</c:v>
              </c:pt>
              <c:pt idx="43">
                <c:v>21.5</c:v>
              </c:pt>
              <c:pt idx="44">
                <c:v>22</c:v>
              </c:pt>
              <c:pt idx="45">
                <c:v>22.5</c:v>
              </c:pt>
              <c:pt idx="46">
                <c:v>23</c:v>
              </c:pt>
              <c:pt idx="47">
                <c:v>23.5</c:v>
              </c:pt>
              <c:pt idx="48">
                <c:v>24</c:v>
              </c:pt>
              <c:pt idx="49">
                <c:v>24.5</c:v>
              </c:pt>
              <c:pt idx="50">
                <c:v>25</c:v>
              </c:pt>
              <c:pt idx="51">
                <c:v>25.5</c:v>
              </c:pt>
              <c:pt idx="52">
                <c:v>26</c:v>
              </c:pt>
              <c:pt idx="53">
                <c:v>26.5</c:v>
              </c:pt>
              <c:pt idx="54">
                <c:v>27</c:v>
              </c:pt>
              <c:pt idx="55">
                <c:v>27.5</c:v>
              </c:pt>
              <c:pt idx="56">
                <c:v>28</c:v>
              </c:pt>
              <c:pt idx="57">
                <c:v>28.5</c:v>
              </c:pt>
              <c:pt idx="58">
                <c:v>29</c:v>
              </c:pt>
              <c:pt idx="59">
                <c:v>29.5</c:v>
              </c:pt>
              <c:pt idx="60">
                <c:v>30</c:v>
              </c:pt>
              <c:pt idx="61">
                <c:v>30.5</c:v>
              </c:pt>
              <c:pt idx="62">
                <c:v>31</c:v>
              </c:pt>
              <c:pt idx="63">
                <c:v>31.5</c:v>
              </c:pt>
              <c:pt idx="64">
                <c:v>32</c:v>
              </c:pt>
              <c:pt idx="65">
                <c:v>32.5</c:v>
              </c:pt>
              <c:pt idx="66">
                <c:v>33</c:v>
              </c:pt>
              <c:pt idx="67">
                <c:v>33.5</c:v>
              </c:pt>
              <c:pt idx="68">
                <c:v>34</c:v>
              </c:pt>
              <c:pt idx="69">
                <c:v>34.5</c:v>
              </c:pt>
              <c:pt idx="70">
                <c:v>35</c:v>
              </c:pt>
              <c:pt idx="71">
                <c:v>35.5</c:v>
              </c:pt>
              <c:pt idx="72">
                <c:v>36</c:v>
              </c:pt>
              <c:pt idx="73">
                <c:v>36.5</c:v>
              </c:pt>
              <c:pt idx="74">
                <c:v>37</c:v>
              </c:pt>
              <c:pt idx="75">
                <c:v>37.5</c:v>
              </c:pt>
              <c:pt idx="76">
                <c:v>38</c:v>
              </c:pt>
              <c:pt idx="77">
                <c:v>38.5</c:v>
              </c:pt>
              <c:pt idx="78">
                <c:v>39</c:v>
              </c:pt>
              <c:pt idx="79">
                <c:v>39.5</c:v>
              </c:pt>
              <c:pt idx="80">
                <c:v>40</c:v>
              </c:pt>
            </c:numLit>
          </c:xVal>
          <c:yVal>
            <c:numLit>
              <c:formatCode>0.##</c:formatCode>
              <c:ptCount val="81"/>
              <c:pt idx="0">
                <c:v>0</c:v>
              </c:pt>
              <c:pt idx="1">
                <c:v>0.3535533905932738</c:v>
              </c:pt>
              <c:pt idx="2">
                <c:v>0.7071067811865476</c:v>
              </c:pt>
              <c:pt idx="3">
                <c:v>1.0606601717798212</c:v>
              </c:pt>
              <c:pt idx="4">
                <c:v>1.4142135623730951</c:v>
              </c:pt>
              <c:pt idx="5">
                <c:v>1.7677669529663689</c:v>
              </c:pt>
              <c:pt idx="6">
                <c:v>2.1213203435596424</c:v>
              </c:pt>
              <c:pt idx="7">
                <c:v>2.4748737341529163</c:v>
              </c:pt>
              <c:pt idx="8">
                <c:v>2.8284271247461903</c:v>
              </c:pt>
              <c:pt idx="9">
                <c:v>3.181980515339464</c:v>
              </c:pt>
              <c:pt idx="10">
                <c:v>3.5355339059327378</c:v>
              </c:pt>
              <c:pt idx="11">
                <c:v>3.8890872965260113</c:v>
              </c:pt>
              <c:pt idx="12">
                <c:v>4.242640687119285</c:v>
              </c:pt>
              <c:pt idx="13">
                <c:v>4.596194077712559</c:v>
              </c:pt>
              <c:pt idx="14">
                <c:v>4.949747468305833</c:v>
              </c:pt>
              <c:pt idx="15">
                <c:v>5.303300858899106</c:v>
              </c:pt>
              <c:pt idx="16">
                <c:v>5.656854249492381</c:v>
              </c:pt>
              <c:pt idx="17">
                <c:v>6.010407640085654</c:v>
              </c:pt>
              <c:pt idx="18">
                <c:v>6.363961030678928</c:v>
              </c:pt>
              <c:pt idx="19">
                <c:v>6.7175144212722016</c:v>
              </c:pt>
              <c:pt idx="20">
                <c:v>7.0710678118654755</c:v>
              </c:pt>
              <c:pt idx="21">
                <c:v>7.424621202458749</c:v>
              </c:pt>
              <c:pt idx="22">
                <c:v>7.7781745930520225</c:v>
              </c:pt>
              <c:pt idx="23">
                <c:v>8.131727983645296</c:v>
              </c:pt>
              <c:pt idx="24">
                <c:v>8.48528137423857</c:v>
              </c:pt>
              <c:pt idx="25">
                <c:v>8.838834764831843</c:v>
              </c:pt>
              <c:pt idx="26">
                <c:v>9.192388155425117</c:v>
              </c:pt>
              <c:pt idx="27">
                <c:v>9.54594154601839</c:v>
              </c:pt>
              <c:pt idx="28">
                <c:v>9.899494936611664</c:v>
              </c:pt>
              <c:pt idx="29">
                <c:v>10.253048327204938</c:v>
              </c:pt>
              <c:pt idx="30">
                <c:v>10.606601717798213</c:v>
              </c:pt>
              <c:pt idx="31">
                <c:v>10.960155108391486</c:v>
              </c:pt>
              <c:pt idx="32">
                <c:v>11.313708498984761</c:v>
              </c:pt>
              <c:pt idx="33">
                <c:v>11.667261889578034</c:v>
              </c:pt>
              <c:pt idx="34">
                <c:v>12.020815280171307</c:v>
              </c:pt>
              <c:pt idx="35">
                <c:v>12.374368670764582</c:v>
              </c:pt>
              <c:pt idx="36">
                <c:v>12.727922061357855</c:v>
              </c:pt>
              <c:pt idx="37">
                <c:v>13.08147545195113</c:v>
              </c:pt>
              <c:pt idx="38">
                <c:v>13.435028842544403</c:v>
              </c:pt>
              <c:pt idx="39">
                <c:v>13.788582233137676</c:v>
              </c:pt>
              <c:pt idx="40">
                <c:v>14.142135623730951</c:v>
              </c:pt>
              <c:pt idx="41">
                <c:v>14.495689014324224</c:v>
              </c:pt>
              <c:pt idx="42">
                <c:v>14.849242404917497</c:v>
              </c:pt>
              <c:pt idx="43">
                <c:v>15.202795795510774</c:v>
              </c:pt>
              <c:pt idx="44">
                <c:v>15.556349186104047</c:v>
              </c:pt>
              <c:pt idx="45">
                <c:v>15.909902576697322</c:v>
              </c:pt>
              <c:pt idx="46">
                <c:v>16.263455967290593</c:v>
              </c:pt>
              <c:pt idx="47">
                <c:v>16.617009357883866</c:v>
              </c:pt>
              <c:pt idx="48">
                <c:v>16.970562748477143</c:v>
              </c:pt>
              <c:pt idx="49">
                <c:v>17.324116139070416</c:v>
              </c:pt>
              <c:pt idx="50">
                <c:v>17.67766952966369</c:v>
              </c:pt>
              <c:pt idx="51">
                <c:v>18.031222920256962</c:v>
              </c:pt>
              <c:pt idx="52">
                <c:v>18.38477631085024</c:v>
              </c:pt>
              <c:pt idx="53">
                <c:v>18.73832970144351</c:v>
              </c:pt>
              <c:pt idx="54">
                <c:v>19.091883092036785</c:v>
              </c:pt>
              <c:pt idx="55">
                <c:v>19.445436482630058</c:v>
              </c:pt>
              <c:pt idx="56">
                <c:v>19.79898987322333</c:v>
              </c:pt>
              <c:pt idx="57">
                <c:v>20.1525432638166</c:v>
              </c:pt>
              <c:pt idx="58">
                <c:v>20.506096654409877</c:v>
              </c:pt>
              <c:pt idx="59">
                <c:v>20.859650045003153</c:v>
              </c:pt>
              <c:pt idx="60">
                <c:v>21.213203435596427</c:v>
              </c:pt>
              <c:pt idx="61">
                <c:v>21.566756826189696</c:v>
              </c:pt>
              <c:pt idx="62">
                <c:v>21.92031021678297</c:v>
              </c:pt>
              <c:pt idx="63">
                <c:v>22.273863607376246</c:v>
              </c:pt>
              <c:pt idx="64">
                <c:v>22.627416997969522</c:v>
              </c:pt>
              <c:pt idx="65">
                <c:v>22.980970388562795</c:v>
              </c:pt>
              <c:pt idx="66">
                <c:v>23.334523779156065</c:v>
              </c:pt>
              <c:pt idx="67">
                <c:v>23.688077169749338</c:v>
              </c:pt>
              <c:pt idx="68">
                <c:v>24.041630560342615</c:v>
              </c:pt>
              <c:pt idx="69">
                <c:v>24.39518395093589</c:v>
              </c:pt>
              <c:pt idx="70">
                <c:v>24.748737341529164</c:v>
              </c:pt>
              <c:pt idx="71">
                <c:v>25.102290732122437</c:v>
              </c:pt>
              <c:pt idx="72">
                <c:v>25.45584412271571</c:v>
              </c:pt>
              <c:pt idx="73">
                <c:v>25.809397513308983</c:v>
              </c:pt>
              <c:pt idx="74">
                <c:v>26.162950903902257</c:v>
              </c:pt>
              <c:pt idx="75">
                <c:v>26.516504294495533</c:v>
              </c:pt>
              <c:pt idx="76">
                <c:v>26.870057685088806</c:v>
              </c:pt>
              <c:pt idx="77">
                <c:v>27.22361107568208</c:v>
              </c:pt>
              <c:pt idx="78">
                <c:v>27.577164466275352</c:v>
              </c:pt>
              <c:pt idx="79">
                <c:v>27.930717856868622</c:v>
              </c:pt>
              <c:pt idx="80">
                <c:v>28.2842712474619</c:v>
              </c:pt>
            </c:numLit>
          </c:yVal>
        </c:ser>
        <c:ser>
          <c:idx val="1"/>
          <c:order val="1"/>
          <c:tx>
            <c:v>η = 0.3</c:v>
          </c:tx>
          <c:spPr>
            <a:ln xmlns:a="http://schemas.openxmlformats.org/drawingml/2006/main" w="25718">
              <a:solidFill>
                <a:srgbClr val="C95F42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81"/>
              <c:pt idx="0">
                <c:v>0</c:v>
              </c:pt>
              <c:pt idx="1">
                <c:v>0.5</c:v>
              </c:pt>
              <c:pt idx="2">
                <c:v>1</c:v>
              </c:pt>
              <c:pt idx="3">
                <c:v>1.5</c:v>
              </c:pt>
              <c:pt idx="4">
                <c:v>2</c:v>
              </c:pt>
              <c:pt idx="5">
                <c:v>2.5</c:v>
              </c:pt>
              <c:pt idx="6">
                <c:v>3</c:v>
              </c:pt>
              <c:pt idx="7">
                <c:v>3.5</c:v>
              </c:pt>
              <c:pt idx="8">
                <c:v>4</c:v>
              </c:pt>
              <c:pt idx="9">
                <c:v>4.5</c:v>
              </c:pt>
              <c:pt idx="10">
                <c:v>5</c:v>
              </c:pt>
              <c:pt idx="11">
                <c:v>5.5</c:v>
              </c:pt>
              <c:pt idx="12">
                <c:v>6</c:v>
              </c:pt>
              <c:pt idx="13">
                <c:v>6.5</c:v>
              </c:pt>
              <c:pt idx="14">
                <c:v>7</c:v>
              </c:pt>
              <c:pt idx="15">
                <c:v>7.5</c:v>
              </c:pt>
              <c:pt idx="16">
                <c:v>8</c:v>
              </c:pt>
              <c:pt idx="17">
                <c:v>8.5</c:v>
              </c:pt>
              <c:pt idx="18">
                <c:v>9</c:v>
              </c:pt>
              <c:pt idx="19">
                <c:v>9.5</c:v>
              </c:pt>
              <c:pt idx="20">
                <c:v>10</c:v>
              </c:pt>
              <c:pt idx="21">
                <c:v>10.5</c:v>
              </c:pt>
              <c:pt idx="22">
                <c:v>11</c:v>
              </c:pt>
              <c:pt idx="23">
                <c:v>11.5</c:v>
              </c:pt>
              <c:pt idx="24">
                <c:v>12</c:v>
              </c:pt>
              <c:pt idx="25">
                <c:v>12.5</c:v>
              </c:pt>
              <c:pt idx="26">
                <c:v>13</c:v>
              </c:pt>
              <c:pt idx="27">
                <c:v>13.5</c:v>
              </c:pt>
              <c:pt idx="28">
                <c:v>14</c:v>
              </c:pt>
              <c:pt idx="29">
                <c:v>14.5</c:v>
              </c:pt>
              <c:pt idx="30">
                <c:v>15</c:v>
              </c:pt>
              <c:pt idx="31">
                <c:v>15.5</c:v>
              </c:pt>
              <c:pt idx="32">
                <c:v>16</c:v>
              </c:pt>
              <c:pt idx="33">
                <c:v>16.5</c:v>
              </c:pt>
              <c:pt idx="34">
                <c:v>17</c:v>
              </c:pt>
              <c:pt idx="35">
                <c:v>17.5</c:v>
              </c:pt>
              <c:pt idx="36">
                <c:v>18</c:v>
              </c:pt>
              <c:pt idx="37">
                <c:v>18.5</c:v>
              </c:pt>
              <c:pt idx="38">
                <c:v>19</c:v>
              </c:pt>
              <c:pt idx="39">
                <c:v>19.5</c:v>
              </c:pt>
              <c:pt idx="40">
                <c:v>20</c:v>
              </c:pt>
              <c:pt idx="41">
                <c:v>20.5</c:v>
              </c:pt>
              <c:pt idx="42">
                <c:v>21</c:v>
              </c:pt>
              <c:pt idx="43">
                <c:v>21.5</c:v>
              </c:pt>
              <c:pt idx="44">
                <c:v>22</c:v>
              </c:pt>
              <c:pt idx="45">
                <c:v>22.5</c:v>
              </c:pt>
              <c:pt idx="46">
                <c:v>23</c:v>
              </c:pt>
              <c:pt idx="47">
                <c:v>23.5</c:v>
              </c:pt>
              <c:pt idx="48">
                <c:v>24</c:v>
              </c:pt>
              <c:pt idx="49">
                <c:v>24.5</c:v>
              </c:pt>
              <c:pt idx="50">
                <c:v>25</c:v>
              </c:pt>
              <c:pt idx="51">
                <c:v>25.5</c:v>
              </c:pt>
              <c:pt idx="52">
                <c:v>26</c:v>
              </c:pt>
              <c:pt idx="53">
                <c:v>26.5</c:v>
              </c:pt>
              <c:pt idx="54">
                <c:v>27</c:v>
              </c:pt>
              <c:pt idx="55">
                <c:v>27.5</c:v>
              </c:pt>
              <c:pt idx="56">
                <c:v>28</c:v>
              </c:pt>
              <c:pt idx="57">
                <c:v>28.5</c:v>
              </c:pt>
              <c:pt idx="58">
                <c:v>29</c:v>
              </c:pt>
              <c:pt idx="59">
                <c:v>29.5</c:v>
              </c:pt>
              <c:pt idx="60">
                <c:v>30</c:v>
              </c:pt>
              <c:pt idx="61">
                <c:v>30.5</c:v>
              </c:pt>
              <c:pt idx="62">
                <c:v>31</c:v>
              </c:pt>
              <c:pt idx="63">
                <c:v>31.5</c:v>
              </c:pt>
              <c:pt idx="64">
                <c:v>32</c:v>
              </c:pt>
              <c:pt idx="65">
                <c:v>32.5</c:v>
              </c:pt>
              <c:pt idx="66">
                <c:v>33</c:v>
              </c:pt>
              <c:pt idx="67">
                <c:v>33.5</c:v>
              </c:pt>
              <c:pt idx="68">
                <c:v>34</c:v>
              </c:pt>
              <c:pt idx="69">
                <c:v>34.5</c:v>
              </c:pt>
              <c:pt idx="70">
                <c:v>35</c:v>
              </c:pt>
              <c:pt idx="71">
                <c:v>35.5</c:v>
              </c:pt>
              <c:pt idx="72">
                <c:v>36</c:v>
              </c:pt>
              <c:pt idx="73">
                <c:v>36.5</c:v>
              </c:pt>
              <c:pt idx="74">
                <c:v>37</c:v>
              </c:pt>
              <c:pt idx="75">
                <c:v>37.5</c:v>
              </c:pt>
              <c:pt idx="76">
                <c:v>38</c:v>
              </c:pt>
              <c:pt idx="77">
                <c:v>38.5</c:v>
              </c:pt>
              <c:pt idx="78">
                <c:v>39</c:v>
              </c:pt>
              <c:pt idx="79">
                <c:v>39.5</c:v>
              </c:pt>
              <c:pt idx="80">
                <c:v>40</c:v>
              </c:pt>
            </c:numLit>
          </c:xVal>
          <c:yVal>
            <c:numLit>
              <c:formatCode>0.##</c:formatCode>
              <c:ptCount val="81"/>
              <c:pt idx="0">
                <c:v>0</c:v>
              </c:pt>
              <c:pt idx="1">
                <c:v>0.10606601717798214</c:v>
              </c:pt>
              <c:pt idx="2">
                <c:v>0.21213203435596428</c:v>
              </c:pt>
              <c:pt idx="3">
                <c:v>0.31819805153394637</c:v>
              </c:pt>
              <c:pt idx="4">
                <c:v>0.42426406871192845</c:v>
              </c:pt>
              <c:pt idx="5">
                <c:v>0.5303300858899105</c:v>
              </c:pt>
              <c:pt idx="6">
                <c:v>0.6363961030678927</c:v>
              </c:pt>
              <c:pt idx="7">
                <c:v>0.742462120245875</c:v>
              </c:pt>
              <c:pt idx="8">
                <c:v>0.848528137423857</c:v>
              </c:pt>
              <c:pt idx="9">
                <c:v>0.954594154601839</c:v>
              </c:pt>
              <c:pt idx="10">
                <c:v>1.0606601717798212</c:v>
              </c:pt>
              <c:pt idx="11">
                <c:v>1.1667261889578031</c:v>
              </c:pt>
              <c:pt idx="12">
                <c:v>1.2727922061357855</c:v>
              </c:pt>
              <c:pt idx="13">
                <c:v>1.3788582233137674</c:v>
              </c:pt>
              <c:pt idx="14">
                <c:v>1.4849242404917498</c:v>
              </c:pt>
              <c:pt idx="15">
                <c:v>1.590990257669732</c:v>
              </c:pt>
              <c:pt idx="16">
                <c:v>1.697056274847714</c:v>
              </c:pt>
              <c:pt idx="17">
                <c:v>1.8031222920256962</c:v>
              </c:pt>
              <c:pt idx="18">
                <c:v>1.9091883092036785</c:v>
              </c:pt>
              <c:pt idx="19">
                <c:v>2.0152543263816605</c:v>
              </c:pt>
              <c:pt idx="20">
                <c:v>2.121320343559643</c:v>
              </c:pt>
              <c:pt idx="21">
                <c:v>2.2273863607376247</c:v>
              </c:pt>
              <c:pt idx="22">
                <c:v>2.333452377915607</c:v>
              </c:pt>
              <c:pt idx="23">
                <c:v>2.439518395093589</c:v>
              </c:pt>
              <c:pt idx="24">
                <c:v>2.545584412271571</c:v>
              </c:pt>
              <c:pt idx="25">
                <c:v>2.651650429449553</c:v>
              </c:pt>
              <c:pt idx="26">
                <c:v>2.7577164466275352</c:v>
              </c:pt>
              <c:pt idx="27">
                <c:v>2.8637824638055176</c:v>
              </c:pt>
              <c:pt idx="28">
                <c:v>2.9698484809834995</c:v>
              </c:pt>
              <c:pt idx="29">
                <c:v>3.0759144981614814</c:v>
              </c:pt>
              <c:pt idx="30">
                <c:v>3.181980515339464</c:v>
              </c:pt>
              <c:pt idx="31">
                <c:v>3.2880465325174457</c:v>
              </c:pt>
              <c:pt idx="32">
                <c:v>3.394112549695428</c:v>
              </c:pt>
              <c:pt idx="33">
                <c:v>3.50017856687341</c:v>
              </c:pt>
              <c:pt idx="34">
                <c:v>3.6062445840513924</c:v>
              </c:pt>
              <c:pt idx="35">
                <c:v>3.7123106012293743</c:v>
              </c:pt>
              <c:pt idx="36">
                <c:v>3.818376618407356</c:v>
              </c:pt>
              <c:pt idx="37">
                <c:v>3.924442635585339</c:v>
              </c:pt>
              <c:pt idx="38">
                <c:v>4.030508652763321</c:v>
              </c:pt>
              <c:pt idx="39">
                <c:v>4.136574669941303</c:v>
              </c:pt>
              <c:pt idx="40">
                <c:v>4.242640687119285</c:v>
              </c:pt>
              <c:pt idx="41">
                <c:v>4.348706704297268</c:v>
              </c:pt>
              <c:pt idx="42">
                <c:v>4.4547727214752495</c:v>
              </c:pt>
              <c:pt idx="43">
                <c:v>4.5608387386532305</c:v>
              </c:pt>
              <c:pt idx="44">
                <c:v>4.666904755831214</c:v>
              </c:pt>
              <c:pt idx="45">
                <c:v>4.772970773009196</c:v>
              </c:pt>
              <c:pt idx="46">
                <c:v>4.879036790187177</c:v>
              </c:pt>
              <c:pt idx="47">
                <c:v>4.98510280736516</c:v>
              </c:pt>
              <c:pt idx="48">
                <c:v>5.091168824543142</c:v>
              </c:pt>
              <c:pt idx="49">
                <c:v>5.197234841721124</c:v>
              </c:pt>
              <c:pt idx="50">
                <c:v>5.303300858899106</c:v>
              </c:pt>
              <c:pt idx="51">
                <c:v>5.409366876077088</c:v>
              </c:pt>
              <c:pt idx="52">
                <c:v>5.5154328932550705</c:v>
              </c:pt>
              <c:pt idx="53">
                <c:v>5.621498910433052</c:v>
              </c:pt>
              <c:pt idx="54">
                <c:v>5.727564927611035</c:v>
              </c:pt>
              <c:pt idx="55">
                <c:v>5.833630944789016</c:v>
              </c:pt>
              <c:pt idx="56">
                <c:v>5.939696961966999</c:v>
              </c:pt>
              <c:pt idx="57">
                <c:v>6.04576297914498</c:v>
              </c:pt>
              <c:pt idx="58">
                <c:v>6.151828996322964</c:v>
              </c:pt>
              <c:pt idx="59">
                <c:v>6.257895013500945</c:v>
              </c:pt>
              <c:pt idx="60">
                <c:v>6.363961030678928</c:v>
              </c:pt>
              <c:pt idx="61">
                <c:v>6.4700270478569095</c:v>
              </c:pt>
              <c:pt idx="62">
                <c:v>6.576093065034891</c:v>
              </c:pt>
              <c:pt idx="63">
                <c:v>6.6821590822128725</c:v>
              </c:pt>
              <c:pt idx="64">
                <c:v>6.788225099390856</c:v>
              </c:pt>
              <c:pt idx="65">
                <c:v>6.894291116568839</c:v>
              </c:pt>
              <c:pt idx="66">
                <c:v>7.00035713374682</c:v>
              </c:pt>
              <c:pt idx="67">
                <c:v>7.106423150924802</c:v>
              </c:pt>
              <c:pt idx="68">
                <c:v>7.212489168102784</c:v>
              </c:pt>
              <c:pt idx="69">
                <c:v>7.318555185280766</c:v>
              </c:pt>
              <c:pt idx="70">
                <c:v>7.424621202458749</c:v>
              </c:pt>
              <c:pt idx="71">
                <c:v>7.530687219636731</c:v>
              </c:pt>
              <c:pt idx="72">
                <c:v>7.6367532368147115</c:v>
              </c:pt>
              <c:pt idx="73">
                <c:v>7.742819253992695</c:v>
              </c:pt>
              <c:pt idx="74">
                <c:v>7.848885271170678</c:v>
              </c:pt>
              <c:pt idx="75">
                <c:v>7.95495128834866</c:v>
              </c:pt>
              <c:pt idx="76">
                <c:v>8.061017305526642</c:v>
              </c:pt>
              <c:pt idx="77">
                <c:v>8.167083322704624</c:v>
              </c:pt>
              <c:pt idx="78">
                <c:v>8.273149339882606</c:v>
              </c:pt>
              <c:pt idx="79">
                <c:v>8.37921535706059</c:v>
              </c:pt>
              <c:pt idx="80">
                <c:v>8.48528137423857</c:v>
              </c:pt>
            </c:numLit>
          </c:yVal>
        </c:ser>
        <c:ser>
          <c:idx val="2"/>
          <c:order val="2"/>
          <c:tx>
            <c:v>η = 0</c:v>
          </c:tx>
          <c:spPr>
            <a:ln xmlns:a="http://schemas.openxmlformats.org/drawingml/2006/main" w="25718">
              <a:solidFill>
                <a:srgbClr val="27816E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81"/>
              <c:pt idx="0">
                <c:v>0</c:v>
              </c:pt>
              <c:pt idx="1">
                <c:v>0.5</c:v>
              </c:pt>
              <c:pt idx="2">
                <c:v>1</c:v>
              </c:pt>
              <c:pt idx="3">
                <c:v>1.5</c:v>
              </c:pt>
              <c:pt idx="4">
                <c:v>2</c:v>
              </c:pt>
              <c:pt idx="5">
                <c:v>2.5</c:v>
              </c:pt>
              <c:pt idx="6">
                <c:v>3</c:v>
              </c:pt>
              <c:pt idx="7">
                <c:v>3.5</c:v>
              </c:pt>
              <c:pt idx="8">
                <c:v>4</c:v>
              </c:pt>
              <c:pt idx="9">
                <c:v>4.5</c:v>
              </c:pt>
              <c:pt idx="10">
                <c:v>5</c:v>
              </c:pt>
              <c:pt idx="11">
                <c:v>5.5</c:v>
              </c:pt>
              <c:pt idx="12">
                <c:v>6</c:v>
              </c:pt>
              <c:pt idx="13">
                <c:v>6.5</c:v>
              </c:pt>
              <c:pt idx="14">
                <c:v>7</c:v>
              </c:pt>
              <c:pt idx="15">
                <c:v>7.5</c:v>
              </c:pt>
              <c:pt idx="16">
                <c:v>8</c:v>
              </c:pt>
              <c:pt idx="17">
                <c:v>8.5</c:v>
              </c:pt>
              <c:pt idx="18">
                <c:v>9</c:v>
              </c:pt>
              <c:pt idx="19">
                <c:v>9.5</c:v>
              </c:pt>
              <c:pt idx="20">
                <c:v>10</c:v>
              </c:pt>
              <c:pt idx="21">
                <c:v>10.5</c:v>
              </c:pt>
              <c:pt idx="22">
                <c:v>11</c:v>
              </c:pt>
              <c:pt idx="23">
                <c:v>11.5</c:v>
              </c:pt>
              <c:pt idx="24">
                <c:v>12</c:v>
              </c:pt>
              <c:pt idx="25">
                <c:v>12.5</c:v>
              </c:pt>
              <c:pt idx="26">
                <c:v>13</c:v>
              </c:pt>
              <c:pt idx="27">
                <c:v>13.5</c:v>
              </c:pt>
              <c:pt idx="28">
                <c:v>14</c:v>
              </c:pt>
              <c:pt idx="29">
                <c:v>14.5</c:v>
              </c:pt>
              <c:pt idx="30">
                <c:v>15</c:v>
              </c:pt>
              <c:pt idx="31">
                <c:v>15.5</c:v>
              </c:pt>
              <c:pt idx="32">
                <c:v>16</c:v>
              </c:pt>
              <c:pt idx="33">
                <c:v>16.5</c:v>
              </c:pt>
              <c:pt idx="34">
                <c:v>17</c:v>
              </c:pt>
              <c:pt idx="35">
                <c:v>17.5</c:v>
              </c:pt>
              <c:pt idx="36">
                <c:v>18</c:v>
              </c:pt>
              <c:pt idx="37">
                <c:v>18.5</c:v>
              </c:pt>
              <c:pt idx="38">
                <c:v>19</c:v>
              </c:pt>
              <c:pt idx="39">
                <c:v>19.5</c:v>
              </c:pt>
              <c:pt idx="40">
                <c:v>20</c:v>
              </c:pt>
              <c:pt idx="41">
                <c:v>20.5</c:v>
              </c:pt>
              <c:pt idx="42">
                <c:v>21</c:v>
              </c:pt>
              <c:pt idx="43">
                <c:v>21.5</c:v>
              </c:pt>
              <c:pt idx="44">
                <c:v>22</c:v>
              </c:pt>
              <c:pt idx="45">
                <c:v>22.5</c:v>
              </c:pt>
              <c:pt idx="46">
                <c:v>23</c:v>
              </c:pt>
              <c:pt idx="47">
                <c:v>23.5</c:v>
              </c:pt>
              <c:pt idx="48">
                <c:v>24</c:v>
              </c:pt>
              <c:pt idx="49">
                <c:v>24.5</c:v>
              </c:pt>
              <c:pt idx="50">
                <c:v>25</c:v>
              </c:pt>
              <c:pt idx="51">
                <c:v>25.5</c:v>
              </c:pt>
              <c:pt idx="52">
                <c:v>26</c:v>
              </c:pt>
              <c:pt idx="53">
                <c:v>26.5</c:v>
              </c:pt>
              <c:pt idx="54">
                <c:v>27</c:v>
              </c:pt>
              <c:pt idx="55">
                <c:v>27.5</c:v>
              </c:pt>
              <c:pt idx="56">
                <c:v>28</c:v>
              </c:pt>
              <c:pt idx="57">
                <c:v>28.5</c:v>
              </c:pt>
              <c:pt idx="58">
                <c:v>29</c:v>
              </c:pt>
              <c:pt idx="59">
                <c:v>29.5</c:v>
              </c:pt>
              <c:pt idx="60">
                <c:v>30</c:v>
              </c:pt>
              <c:pt idx="61">
                <c:v>30.5</c:v>
              </c:pt>
              <c:pt idx="62">
                <c:v>31</c:v>
              </c:pt>
              <c:pt idx="63">
                <c:v>31.5</c:v>
              </c:pt>
              <c:pt idx="64">
                <c:v>32</c:v>
              </c:pt>
              <c:pt idx="65">
                <c:v>32.5</c:v>
              </c:pt>
              <c:pt idx="66">
                <c:v>33</c:v>
              </c:pt>
              <c:pt idx="67">
                <c:v>33.5</c:v>
              </c:pt>
              <c:pt idx="68">
                <c:v>34</c:v>
              </c:pt>
              <c:pt idx="69">
                <c:v>34.5</c:v>
              </c:pt>
              <c:pt idx="70">
                <c:v>35</c:v>
              </c:pt>
              <c:pt idx="71">
                <c:v>35.5</c:v>
              </c:pt>
              <c:pt idx="72">
                <c:v>36</c:v>
              </c:pt>
              <c:pt idx="73">
                <c:v>36.5</c:v>
              </c:pt>
              <c:pt idx="74">
                <c:v>37</c:v>
              </c:pt>
              <c:pt idx="75">
                <c:v>37.5</c:v>
              </c:pt>
              <c:pt idx="76">
                <c:v>38</c:v>
              </c:pt>
              <c:pt idx="77">
                <c:v>38.5</c:v>
              </c:pt>
              <c:pt idx="78">
                <c:v>39</c:v>
              </c:pt>
              <c:pt idx="79">
                <c:v>39.5</c:v>
              </c:pt>
              <c:pt idx="80">
                <c:v>40</c:v>
              </c:pt>
            </c:numLit>
          </c:xVal>
          <c:yVal>
            <c:numLit>
              <c:formatCode>0.##</c:formatCode>
              <c:ptCount val="81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  <c:pt idx="19">
                <c:v>0</c:v>
              </c:pt>
              <c:pt idx="20">
                <c:v>0</c:v>
              </c:pt>
              <c:pt idx="21">
                <c:v>0</c:v>
              </c:pt>
              <c:pt idx="22">
                <c:v>0</c:v>
              </c:pt>
              <c:pt idx="23">
                <c:v>0</c:v>
              </c:pt>
              <c:pt idx="24">
                <c:v>0</c:v>
              </c:pt>
              <c:pt idx="25">
                <c:v>0</c:v>
              </c:pt>
              <c:pt idx="26">
                <c:v>0</c:v>
              </c:pt>
              <c:pt idx="27">
                <c:v>0</c:v>
              </c:pt>
              <c:pt idx="28">
                <c:v>0</c:v>
              </c:pt>
              <c:pt idx="29">
                <c:v>0</c:v>
              </c:pt>
              <c:pt idx="30">
                <c:v>0</c:v>
              </c:pt>
              <c:pt idx="31">
                <c:v>0</c:v>
              </c:pt>
              <c:pt idx="32">
                <c:v>0</c:v>
              </c:pt>
              <c:pt idx="33">
                <c:v>0</c:v>
              </c:pt>
              <c:pt idx="34">
                <c:v>0</c:v>
              </c:pt>
              <c:pt idx="35">
                <c:v>0</c:v>
              </c:pt>
              <c:pt idx="36">
                <c:v>0</c:v>
              </c:pt>
              <c:pt idx="37">
                <c:v>0</c:v>
              </c:pt>
              <c:pt idx="38">
                <c:v>0</c:v>
              </c:pt>
              <c:pt idx="39">
                <c:v>0</c:v>
              </c:pt>
              <c:pt idx="40">
                <c:v>0</c:v>
              </c:pt>
              <c:pt idx="41">
                <c:v>0</c:v>
              </c:pt>
              <c:pt idx="42">
                <c:v>0</c:v>
              </c:pt>
              <c:pt idx="43">
                <c:v>0</c:v>
              </c:pt>
              <c:pt idx="44">
                <c:v>0</c:v>
              </c:pt>
              <c:pt idx="45">
                <c:v>0</c:v>
              </c:pt>
              <c:pt idx="46">
                <c:v>0</c:v>
              </c:pt>
              <c:pt idx="47">
                <c:v>0</c:v>
              </c:pt>
              <c:pt idx="48">
                <c:v>0</c:v>
              </c:pt>
              <c:pt idx="49">
                <c:v>0</c:v>
              </c:pt>
              <c:pt idx="50">
                <c:v>0</c:v>
              </c:pt>
              <c:pt idx="51">
                <c:v>0</c:v>
              </c:pt>
              <c:pt idx="52">
                <c:v>0</c:v>
              </c:pt>
              <c:pt idx="53">
                <c:v>0</c:v>
              </c:pt>
              <c:pt idx="54">
                <c:v>0</c:v>
              </c:pt>
              <c:pt idx="55">
                <c:v>0</c:v>
              </c:pt>
              <c:pt idx="56">
                <c:v>0</c:v>
              </c:pt>
              <c:pt idx="57">
                <c:v>0</c:v>
              </c:pt>
              <c:pt idx="58">
                <c:v>0</c:v>
              </c:pt>
              <c:pt idx="59">
                <c:v>0</c:v>
              </c:pt>
              <c:pt idx="60">
                <c:v>0</c:v>
              </c:pt>
              <c:pt idx="61">
                <c:v>0</c:v>
              </c:pt>
              <c:pt idx="62">
                <c:v>0</c:v>
              </c:pt>
              <c:pt idx="63">
                <c:v>0</c:v>
              </c:pt>
              <c:pt idx="64">
                <c:v>0</c:v>
              </c:pt>
              <c:pt idx="65">
                <c:v>0</c:v>
              </c:pt>
              <c:pt idx="66">
                <c:v>0</c:v>
              </c:pt>
              <c:pt idx="67">
                <c:v>0</c:v>
              </c:pt>
              <c:pt idx="68">
                <c:v>0</c:v>
              </c:pt>
              <c:pt idx="69">
                <c:v>0</c:v>
              </c:pt>
              <c:pt idx="70">
                <c:v>0</c:v>
              </c:pt>
              <c:pt idx="71">
                <c:v>0</c:v>
              </c:pt>
              <c:pt idx="72">
                <c:v>0</c:v>
              </c:pt>
              <c:pt idx="73">
                <c:v>0</c:v>
              </c:pt>
              <c:pt idx="74">
                <c:v>0</c:v>
              </c:pt>
              <c:pt idx="75">
                <c:v>0</c:v>
              </c:pt>
              <c:pt idx="76">
                <c:v>0</c:v>
              </c:pt>
              <c:pt idx="77">
                <c:v>0</c:v>
              </c:pt>
              <c:pt idx="78">
                <c:v>0</c:v>
              </c:pt>
              <c:pt idx="79">
                <c:v>0</c:v>
              </c:pt>
              <c:pt idx="80">
                <c:v>0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σᵧ / 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0"/>
        <c:majorUnit val="10"/>
      </c:valAx>
      <c:valAx>
        <c:axId val="48650112"/>
        <c:scaling>
          <c:orientation val="minMax"/>
          <c:max val="4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时间 τ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  <c:majorUnit val="1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4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不同载波的质心轨迹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q₀ = (0,0)</c:v>
          </c:tx>
          <c:spPr>
            <a:ln xmlns:a="http://schemas.openxmlformats.org/drawingml/2006/main" w="25718">
              <a:solidFill>
                <a:srgbClr val="246B9A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0.##</c:formatCode>
              <c:ptCount val="31"/>
              <c:pt idx="0">
                <c:v>-2.0661168548719898E-17</c:v>
              </c:pt>
              <c:pt idx="1">
                <c:v>2.831755825032994E-17</c:v>
              </c:pt>
              <c:pt idx="2">
                <c:v>-8.043652786130308E-17</c:v>
              </c:pt>
              <c:pt idx="3">
                <c:v>-5.402682727522836E-17</c:v>
              </c:pt>
              <c:pt idx="4">
                <c:v>-8.347986275347437E-17</c:v>
              </c:pt>
              <c:pt idx="5">
                <c:v>-7.416063970258935E-17</c:v>
              </c:pt>
              <c:pt idx="6">
                <c:v>-4.265694020657431E-17</c:v>
              </c:pt>
              <c:pt idx="7">
                <c:v>-9.492489347250293E-17</c:v>
              </c:pt>
              <c:pt idx="8">
                <c:v>-1.0491414745056732E-16</c:v>
              </c:pt>
              <c:pt idx="9">
                <c:v>-5.231985014533567E-17</c:v>
              </c:pt>
              <c:pt idx="10">
                <c:v>-1.4923204897607406E-16</c:v>
              </c:pt>
              <c:pt idx="11">
                <c:v>-2.010611678050171E-16</c:v>
              </c:pt>
              <c:pt idx="12">
                <c:v>-4.187173696096064E-17</c:v>
              </c:pt>
              <c:pt idx="13">
                <c:v>-2.8921921034396445E-16</c:v>
              </c:pt>
              <c:pt idx="14">
                <c:v>-1.2805406600937044E-16</c:v>
              </c:pt>
              <c:pt idx="15">
                <c:v>-1.1172675739448148E-16</c:v>
              </c:pt>
              <c:pt idx="16">
                <c:v>-2.2133222818455642E-16</c:v>
              </c:pt>
              <c:pt idx="17">
                <c:v>-2.245134802987985E-16</c:v>
              </c:pt>
              <c:pt idx="18">
                <c:v>-1.7441380605286062E-16</c:v>
              </c:pt>
              <c:pt idx="19">
                <c:v>-4.765556697698448E-16</c:v>
              </c:pt>
              <c:pt idx="20">
                <c:v>-3.612126029891771E-16</c:v>
              </c:pt>
              <c:pt idx="21">
                <c:v>-1.8065134905461464E-16</c:v>
              </c:pt>
              <c:pt idx="22">
                <c:v>-2.728379877527252E-16</c:v>
              </c:pt>
              <c:pt idx="23">
                <c:v>-3.1718911392400895E-16</c:v>
              </c:pt>
              <c:pt idx="24">
                <c:v>-2.8118492527521214E-16</c:v>
              </c:pt>
              <c:pt idx="25">
                <c:v>-9.377951707801542E-17</c:v>
              </c:pt>
              <c:pt idx="26">
                <c:v>-1.1137127796070403E-16</c:v>
              </c:pt>
              <c:pt idx="27">
                <c:v>-2.1704211013844202E-16</c:v>
              </c:pt>
              <c:pt idx="28">
                <c:v>-1.7606692752831045E-16</c:v>
              </c:pt>
              <c:pt idx="29">
                <c:v>-3.341799308041925E-16</c:v>
              </c:pt>
              <c:pt idx="30">
                <c:v>-4.575299363471412E-16</c:v>
              </c:pt>
            </c:numLit>
          </c:yVal>
        </c:ser>
        <c:ser>
          <c:idx val="1"/>
          <c:order val="1"/>
          <c:tx>
            <c:v>q₀ = (0.7,0)</c:v>
          </c:tx>
          <c:spPr>
            <a:ln xmlns:a="http://schemas.openxmlformats.org/drawingml/2006/main" w="25718">
              <a:solidFill>
                <a:srgbClr val="C95F42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0.##</c:formatCode>
              <c:ptCount val="31"/>
              <c:pt idx="0">
                <c:v>-1.4945406938737424E-16</c:v>
              </c:pt>
              <c:pt idx="1">
                <c:v>1.2784086908435277</c:v>
              </c:pt>
              <c:pt idx="2">
                <c:v>2.5568173816870554</c:v>
              </c:pt>
              <c:pt idx="3">
                <c:v>3.8352260725305847</c:v>
              </c:pt>
              <c:pt idx="4">
                <c:v>5.113634763374113</c:v>
              </c:pt>
              <c:pt idx="5">
                <c:v>6.392043454217642</c:v>
              </c:pt>
              <c:pt idx="6">
                <c:v>7.670452145061169</c:v>
              </c:pt>
              <c:pt idx="7">
                <c:v>8.948860835904698</c:v>
              </c:pt>
              <c:pt idx="8">
                <c:v>10.227269526748222</c:v>
              </c:pt>
              <c:pt idx="9">
                <c:v>11.505678217591754</c:v>
              </c:pt>
              <c:pt idx="10">
                <c:v>12.784086908435283</c:v>
              </c:pt>
              <c:pt idx="11">
                <c:v>14.062495599278808</c:v>
              </c:pt>
              <c:pt idx="12">
                <c:v>15.340904290122337</c:v>
              </c:pt>
              <c:pt idx="13">
                <c:v>16.619312980965873</c:v>
              </c:pt>
              <c:pt idx="14">
                <c:v>17.897721671809396</c:v>
              </c:pt>
              <c:pt idx="15">
                <c:v>19.17613036265292</c:v>
              </c:pt>
              <c:pt idx="16">
                <c:v>20.454539053496443</c:v>
              </c:pt>
              <c:pt idx="17">
                <c:v>21.732947744339985</c:v>
              </c:pt>
              <c:pt idx="18">
                <c:v>23.01135643518351</c:v>
              </c:pt>
              <c:pt idx="19">
                <c:v>24.28976512602703</c:v>
              </c:pt>
              <c:pt idx="20">
                <c:v>25.568173816870566</c:v>
              </c:pt>
              <c:pt idx="21">
                <c:v>26.846582507714093</c:v>
              </c:pt>
              <c:pt idx="22">
                <c:v>28.124991198557616</c:v>
              </c:pt>
              <c:pt idx="23">
                <c:v>29.403399889401143</c:v>
              </c:pt>
              <c:pt idx="24">
                <c:v>30.681808580244677</c:v>
              </c:pt>
              <c:pt idx="25">
                <c:v>31.960217271088204</c:v>
              </c:pt>
              <c:pt idx="26">
                <c:v>33.23862596193174</c:v>
              </c:pt>
              <c:pt idx="27">
                <c:v>34.517034652775266</c:v>
              </c:pt>
              <c:pt idx="28">
                <c:v>35.795443343618786</c:v>
              </c:pt>
              <c:pt idx="29">
                <c:v>37.07385203446232</c:v>
              </c:pt>
              <c:pt idx="30">
                <c:v>38.352260725305854</c:v>
              </c:pt>
            </c:numLit>
          </c:yVal>
        </c:ser>
        <c:ser>
          <c:idx val="2"/>
          <c:order val="2"/>
          <c:tx>
            <c:v>q₀ = (−0.7,0)</c:v>
          </c:tx>
          <c:spPr>
            <a:ln xmlns:a="http://schemas.openxmlformats.org/drawingml/2006/main" w="25718">
              <a:solidFill>
                <a:srgbClr val="27816E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0.##</c:formatCode>
              <c:ptCount val="31"/>
              <c:pt idx="0">
                <c:v>-1.464972719015002E-16</c:v>
              </c:pt>
              <c:pt idx="1">
                <c:v>-1.2784086908435282</c:v>
              </c:pt>
              <c:pt idx="2">
                <c:v>-2.5568173816870563</c:v>
              </c:pt>
              <c:pt idx="3">
                <c:v>-3.8352260725305847</c:v>
              </c:pt>
              <c:pt idx="4">
                <c:v>-5.113634763374113</c:v>
              </c:pt>
              <c:pt idx="5">
                <c:v>-6.392043454217643</c:v>
              </c:pt>
              <c:pt idx="6">
                <c:v>-7.670452145061168</c:v>
              </c:pt>
              <c:pt idx="7">
                <c:v>-8.948860835904698</c:v>
              </c:pt>
              <c:pt idx="8">
                <c:v>-10.227269526748225</c:v>
              </c:pt>
              <c:pt idx="9">
                <c:v>-11.505678217591752</c:v>
              </c:pt>
              <c:pt idx="10">
                <c:v>-12.784086908435283</c:v>
              </c:pt>
              <c:pt idx="11">
                <c:v>-14.062495599278808</c:v>
              </c:pt>
              <c:pt idx="12">
                <c:v>-15.340904290122339</c:v>
              </c:pt>
              <c:pt idx="13">
                <c:v>-16.61931298096587</c:v>
              </c:pt>
              <c:pt idx="14">
                <c:v>-17.897721671809396</c:v>
              </c:pt>
              <c:pt idx="15">
                <c:v>-19.176130362652927</c:v>
              </c:pt>
              <c:pt idx="16">
                <c:v>-20.45453905349645</c:v>
              </c:pt>
              <c:pt idx="17">
                <c:v>-21.732947744339977</c:v>
              </c:pt>
              <c:pt idx="18">
                <c:v>-23.01135643518351</c:v>
              </c:pt>
              <c:pt idx="19">
                <c:v>-24.28976512602704</c:v>
              </c:pt>
              <c:pt idx="20">
                <c:v>-25.568173816870566</c:v>
              </c:pt>
              <c:pt idx="21">
                <c:v>-26.846582507714096</c:v>
              </c:pt>
              <c:pt idx="22">
                <c:v>-28.124991198557616</c:v>
              </c:pt>
              <c:pt idx="23">
                <c:v>-29.403399889401147</c:v>
              </c:pt>
              <c:pt idx="24">
                <c:v>-30.681808580244677</c:v>
              </c:pt>
              <c:pt idx="25">
                <c:v>-31.960217271088204</c:v>
              </c:pt>
              <c:pt idx="26">
                <c:v>-33.23862596193174</c:v>
              </c:pt>
              <c:pt idx="27">
                <c:v>-34.517034652775266</c:v>
              </c:pt>
              <c:pt idx="28">
                <c:v>-35.795443343618786</c:v>
              </c:pt>
              <c:pt idx="29">
                <c:v>-37.07385203446232</c:v>
              </c:pt>
              <c:pt idx="30">
                <c:v>-38.352260725305854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40"/>
          <c:min val="-4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〈x〉/a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-40"/>
        <c:majorUnit val="20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时间 τ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5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概率 RMS 宽度随时间变化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q₀ = (0,0)，σₓ</c:v>
          </c:tx>
          <c:spPr>
            <a:ln xmlns:a="http://schemas.openxmlformats.org/drawingml/2006/main" w="25718">
              <a:solidFill>
                <a:srgbClr val="246B9A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0.##</c:formatCode>
              <c:ptCount val="31"/>
              <c:pt idx="0">
                <c:v>3.9999999999999996</c:v>
              </c:pt>
              <c:pt idx="1">
                <c:v>4.00768431030281</c:v>
              </c:pt>
              <c:pt idx="2">
                <c:v>4.0306493427473</c:v>
              </c:pt>
              <c:pt idx="3">
                <c:v>4.068636353795434</c:v>
              </c:pt>
              <c:pt idx="4">
                <c:v>4.121229973776881</c:v>
              </c:pt>
              <c:pt idx="5">
                <c:v>4.1878799261897175</c:v>
              </c:pt>
              <c:pt idx="6">
                <c:v>4.2679277310778385</c:v>
              </c:pt>
              <c:pt idx="7">
                <c:v>4.360635621250448</c:v>
              </c:pt>
              <c:pt idx="8">
                <c:v>4.465215110946835</c:v>
              </c:pt>
              <c:pt idx="9">
                <c:v>4.5808531972583735</c:v>
              </c:pt>
              <c:pt idx="10">
                <c:v>4.706734866627946</c:v>
              </c:pt>
              <c:pt idx="11">
                <c:v>4.842061261149505</c:v>
              </c:pt>
              <c:pt idx="12">
                <c:v>4.986063424266975</c:v>
              </c:pt>
              <c:pt idx="13">
                <c:v>5.138011945003214</c:v>
              </c:pt>
              <c:pt idx="14">
                <c:v>5.297223054136302</c:v>
              </c:pt>
              <c:pt idx="15">
                <c:v>5.463061823340935</c:v>
              </c:pt>
              <c:pt idx="16">
                <c:v>5.634943118445105</c:v>
              </c:pt>
              <c:pt idx="17">
                <c:v>5.812330898415294</c:v>
              </c:pt>
              <c:pt idx="18">
                <c:v>5.994736362787696</c:v>
              </c:pt>
              <c:pt idx="19">
                <c:v>6.18171535320736</c:v>
              </c:pt>
              <c:pt idx="20">
                <c:v>6.372865322515827</c:v>
              </c:pt>
              <c:pt idx="21">
                <c:v>6.567822104157858</c:v>
              </c:pt>
              <c:pt idx="22">
                <c:v>6.766256648021781</c:v>
              </c:pt>
              <c:pt idx="23">
                <c:v>6.967871836079364</c:v>
              </c:pt>
              <c:pt idx="24">
                <c:v>7.172399450898678</c:v>
              </c:pt>
              <c:pt idx="25">
                <c:v>7.37959734027338</c:v>
              </c:pt>
              <c:pt idx="26">
                <c:v>7.589246799780783</c:v>
              </c:pt>
              <c:pt idx="27">
                <c:v>7.801150180165127</c:v>
              </c:pt>
              <c:pt idx="28">
                <c:v>8.015128716439465</c:v>
              </c:pt>
              <c:pt idx="29">
                <c:v>8.231020569211895</c:v>
              </c:pt>
              <c:pt idx="30">
                <c:v>8.448679064953334</c:v>
              </c:pt>
            </c:numLit>
          </c:yVal>
        </c:ser>
        <c:ser>
          <c:idx val="1"/>
          <c:order val="1"/>
          <c:tx>
            <c:v>q₀ = (0.7,0)，σₓ</c:v>
          </c:tx>
          <c:spPr>
            <a:ln xmlns:a="http://schemas.openxmlformats.org/drawingml/2006/main" w="25718">
              <a:solidFill>
                <a:srgbClr val="C95F42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0.##</c:formatCode>
              <c:ptCount val="31"/>
              <c:pt idx="0">
                <c:v>3.9999999999999996</c:v>
              </c:pt>
              <c:pt idx="1">
                <c:v>4.004521895537584</c:v>
              </c:pt>
              <c:pt idx="2">
                <c:v>4.0180570487935725</c:v>
              </c:pt>
              <c:pt idx="3">
                <c:v>4.040514881368383</c:v>
              </c:pt>
              <c:pt idx="4">
                <c:v>4.071747756116391</c:v>
              </c:pt>
              <c:pt idx="5">
                <c:v>4.111555702650546</c:v>
              </c:pt>
              <c:pt idx="6">
                <c:v>4.159692539868474</c:v>
              </c:pt>
              <c:pt idx="7">
                <c:v>4.215872979604167</c:v>
              </c:pt>
              <c:pt idx="8">
                <c:v>4.2797802697983744</c:v>
              </c:pt>
              <c:pt idx="9">
                <c:v>4.351073954673057</c:v>
              </c:pt>
              <c:pt idx="10">
                <c:v>4.429397383842737</c:v>
              </c:pt>
              <c:pt idx="11">
                <c:v>4.514384679292558</c:v>
              </c:pt>
              <c:pt idx="12">
                <c:v>4.605666955496211</c:v>
              </c:pt>
              <c:pt idx="13">
                <c:v>4.702877672335097</c:v>
              </c:pt>
              <c:pt idx="14">
                <c:v>4.80565707480528</c:v>
              </c:pt>
              <c:pt idx="15">
                <c:v>4.913655733156728</c:v>
              </c:pt>
              <c:pt idx="16">
                <c:v>5.026537240588372</c:v>
              </c:pt>
              <c:pt idx="17">
                <c:v>5.143980153707771</c:v>
              </c:pt>
              <c:pt idx="18">
                <c:v>5.26567927585197</c:v>
              </c:pt>
              <c:pt idx="19">
                <c:v>5.391346387889976</c:v>
              </c:pt>
              <c:pt idx="20">
                <c:v>5.5207105281812705</c:v>
              </c:pt>
              <c:pt idx="21">
                <c:v>5.6535179155467965</c:v>
              </c:pt>
              <c:pt idx="22">
                <c:v>5.7895315985427995</c:v>
              </c:pt>
              <c:pt idx="23">
                <c:v>5.92853090262017</c:v>
              </c:pt>
              <c:pt idx="24">
                <c:v>6.070310735028232</c:v>
              </c:pt>
              <c:pt idx="25">
                <c:v>6.2146807963044655</c:v>
              </c:pt>
              <c:pt idx="26">
                <c:v>6.361464737290608</c:v>
              </c:pt>
              <c:pt idx="27">
                <c:v>6.510499292013485</c:v>
              </c:pt>
              <c:pt idx="28">
                <c:v>6.661633409495314</c:v>
              </c:pt>
              <c:pt idx="29">
                <c:v>6.814727401545869</c:v>
              </c:pt>
              <c:pt idx="30">
                <c:v>6.969652118716968</c:v>
              </c:pt>
            </c:numLit>
          </c:yVal>
        </c:ser>
        <c:ser>
          <c:idx val="2"/>
          <c:order val="2"/>
          <c:tx>
            <c:v>q₀ = (0.7,0)，σᵧ</c:v>
          </c:tx>
          <c:spPr>
            <a:ln xmlns:a="http://schemas.openxmlformats.org/drawingml/2006/main" w="25718">
              <a:solidFill>
                <a:srgbClr val="27816E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0.##</c:formatCode>
              <c:ptCount val="31"/>
              <c:pt idx="0">
                <c:v>3.9999999999999996</c:v>
              </c:pt>
              <c:pt idx="1">
                <c:v>4.00768431030281</c:v>
              </c:pt>
              <c:pt idx="2">
                <c:v>4.0306493427473</c:v>
              </c:pt>
              <c:pt idx="3">
                <c:v>4.068636353795434</c:v>
              </c:pt>
              <c:pt idx="4">
                <c:v>4.121229973776881</c:v>
              </c:pt>
              <c:pt idx="5">
                <c:v>4.187879926189718</c:v>
              </c:pt>
              <c:pt idx="6">
                <c:v>4.267927731077839</c:v>
              </c:pt>
              <c:pt idx="7">
                <c:v>4.360635621250449</c:v>
              </c:pt>
              <c:pt idx="8">
                <c:v>4.465215110946835</c:v>
              </c:pt>
              <c:pt idx="9">
                <c:v>4.580853197258374</c:v>
              </c:pt>
              <c:pt idx="10">
                <c:v>4.706734866627946</c:v>
              </c:pt>
              <c:pt idx="11">
                <c:v>4.842061261149505</c:v>
              </c:pt>
              <c:pt idx="12">
                <c:v>4.986063424266975</c:v>
              </c:pt>
              <c:pt idx="13">
                <c:v>5.138011945003215</c:v>
              </c:pt>
              <c:pt idx="14">
                <c:v>5.297223054136302</c:v>
              </c:pt>
              <c:pt idx="15">
                <c:v>5.463061823340934</c:v>
              </c:pt>
              <c:pt idx="16">
                <c:v>5.634943118445105</c:v>
              </c:pt>
              <c:pt idx="17">
                <c:v>5.812330898415294</c:v>
              </c:pt>
              <c:pt idx="18">
                <c:v>5.994736362787696</c:v>
              </c:pt>
              <c:pt idx="19">
                <c:v>6.181715353207359</c:v>
              </c:pt>
              <c:pt idx="20">
                <c:v>6.372865322515828</c:v>
              </c:pt>
              <c:pt idx="21">
                <c:v>6.567822104157857</c:v>
              </c:pt>
              <c:pt idx="22">
                <c:v>6.766256648021781</c:v>
              </c:pt>
              <c:pt idx="23">
                <c:v>6.967871836079363</c:v>
              </c:pt>
              <c:pt idx="24">
                <c:v>7.172399450898678</c:v>
              </c:pt>
              <c:pt idx="25">
                <c:v>7.3795973402733805</c:v>
              </c:pt>
              <c:pt idx="26">
                <c:v>7.589246799780783</c:v>
              </c:pt>
              <c:pt idx="27">
                <c:v>7.801150180165125</c:v>
              </c:pt>
              <c:pt idx="28">
                <c:v>8.015128716439465</c:v>
              </c:pt>
              <c:pt idx="29">
                <c:v>8.231020569211896</c:v>
              </c:pt>
              <c:pt idx="30">
                <c:v>8.448679064953332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9"/>
          <c:min val="3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RMS 宽度 / 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3"/>
        <c:majorUnit val="2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时间 τ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6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相对初始宽度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σ = 3</c:v>
          </c:tx>
          <c:spPr>
            <a:ln xmlns:a="http://schemas.openxmlformats.org/drawingml/2006/main" w="25718">
              <a:solidFill>
                <a:srgbClr val="246B9A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0.##</c:formatCode>
              <c:ptCount val="31"/>
              <c:pt idx="0">
                <c:v>1</c:v>
              </c:pt>
              <c:pt idx="1">
                <c:v>1.0035408754119461</c:v>
              </c:pt>
              <c:pt idx="2">
                <c:v>1.0140893227375487</c:v>
              </c:pt>
              <c:pt idx="3">
                <c:v>1.031430364883241</c:v>
              </c:pt>
              <c:pt idx="4">
                <c:v>1.0552291779330216</c:v>
              </c:pt>
              <c:pt idx="5">
                <c:v>1.0850609271208584</c:v>
              </c:pt>
              <c:pt idx="6">
                <c:v>1.1204438363491065</c:v>
              </c:pt>
              <c:pt idx="7">
                <c:v>1.160870424511788</c:v>
              </c:pt>
              <c:pt idx="8">
                <c:v>1.2058335174661574</c:v>
              </c:pt>
              <c:pt idx="9">
                <c:v>1.2548455595923278</c:v>
              </c:pt>
              <c:pt idx="10">
                <c:v>1.3074512848506092</c:v>
              </c:pt>
              <c:pt idx="11">
                <c:v>1.3632347278922972</c:v>
              </c:pt>
              <c:pt idx="12">
                <c:v>1.4218219162928996</c:v>
              </c:pt>
              <c:pt idx="13">
                <c:v>1.4828805674143786</c:v>
              </c:pt>
              <c:pt idx="14">
                <c:v>1.5461179030153935</c:v>
              </c:pt>
              <c:pt idx="15">
                <c:v>1.6112774249270032</c:v>
              </c:pt>
              <c:pt idx="16">
                <c:v>1.6781352410873274</c:v>
              </c:pt>
              <c:pt idx="17">
                <c:v>1.7464963246237308</c:v>
              </c:pt>
              <c:pt idx="18">
                <c:v>1.8161909353683958</c:v>
              </c:pt>
              <c:pt idx="19">
                <c:v>1.8870713268844943</c:v>
              </c:pt>
              <c:pt idx="20">
                <c:v>1.9590087924841058</c:v>
              </c:pt>
              <c:pt idx="21">
                <c:v>2.0318910607007483</c:v>
              </c:pt>
              <c:pt idx="22">
                <c:v>2.1056200258656212</c:v>
              </c:pt>
              <c:pt idx="23">
                <c:v>2.180109786534206</c:v>
              </c:pt>
              <c:pt idx="24">
                <c:v>2.2552849590690864</c:v>
              </c:pt>
              <c:pt idx="25">
                <c:v>2.331079232696613</c:v>
              </c:pt>
              <c:pt idx="26">
                <c:v>2.4074341338571985</c:v>
              </c:pt>
              <c:pt idx="27">
                <c:v>2.4842979704248918</c:v>
              </c:pt>
              <c:pt idx="28">
                <c:v>2.561624929629408</c:v>
              </c:pt>
              <c:pt idx="29">
                <c:v>2.6393743068359306</c:v>
              </c:pt>
              <c:pt idx="30">
                <c:v>2.7175098454867794</c:v>
              </c:pt>
            </c:numLit>
          </c:yVal>
        </c:ser>
        <c:ser>
          <c:idx val="1"/>
          <c:order val="1"/>
          <c:tx>
            <c:v>σ = 6</c:v>
          </c:tx>
          <c:spPr>
            <a:ln xmlns:a="http://schemas.openxmlformats.org/drawingml/2006/main" w="25718">
              <a:solidFill>
                <a:srgbClr val="C95F42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0.##</c:formatCode>
              <c:ptCount val="31"/>
              <c:pt idx="0">
                <c:v>1</c:v>
              </c:pt>
              <c:pt idx="1">
                <c:v>1.000224654931089</c:v>
              </c:pt>
              <c:pt idx="2">
                <c:v>1.000898317177157</c:v>
              </c:pt>
              <c:pt idx="3">
                <c:v>1.0020200811301871</c:v>
              </c:pt>
              <c:pt idx="4">
                <c:v>1.0035884441902772</c:v>
              </c:pt>
              <c:pt idx="5">
                <c:v>1.0056013167753945</c:v>
              </c:pt>
              <c:pt idx="6">
                <c:v>1.0080560361173319</c:v>
              </c:pt>
              <c:pt idx="7">
                <c:v>1.0109493836334236</c:v>
              </c:pt>
              <c:pt idx="8">
                <c:v>1.0142776056134948</c:v>
              </c:pt>
              <c:pt idx="9">
                <c:v>1.0180364369183066</c:v>
              </c:pt>
              <c:pt idx="10">
                <c:v>1.0222211273504531</c:v>
              </c:pt>
              <c:pt idx="11">
                <c:v>1.0268264703317567</c:v>
              </c:pt>
              <c:pt idx="12">
                <c:v>1.031846833503088</c:v>
              </c:pt>
              <c:pt idx="13">
                <c:v>1.0372761908531194</c:v>
              </c:pt>
              <c:pt idx="14">
                <c:v>1.0431081559815345</c:v>
              </c:pt>
              <c:pt idx="15">
                <c:v>1.0493360161090777</c:v>
              </c:pt>
              <c:pt idx="16">
                <c:v>1.0559527664607806</c:v>
              </c:pt>
              <c:pt idx="17">
                <c:v>1.062951144668801</c:v>
              </c:pt>
              <c:pt idx="18">
                <c:v>1.0703236648665138</c:v>
              </c:pt>
              <c:pt idx="19">
                <c:v>1.0780626511747307</c:v>
              </c:pt>
              <c:pt idx="20">
                <c:v>1.0861602703130533</c:v>
              </c:pt>
              <c:pt idx="21">
                <c:v>1.0946085631033562</c:v>
              </c:pt>
              <c:pt idx="22">
                <c:v>1.103399474667219</c:v>
              </c:pt>
              <c:pt idx="23">
                <c:v>1.1125248831539138</c:v>
              </c:pt>
              <c:pt idx="24">
                <c:v>1.1219766268694713</c:v>
              </c:pt>
              <c:pt idx="25">
                <c:v>1.1317465297098088</c:v>
              </c:pt>
              <c:pt idx="26">
                <c:v>1.1418264248312997</c:v>
              </c:pt>
              <c:pt idx="27">
                <c:v>1.1522081765201513</c:v>
              </c:pt>
              <c:pt idx="28">
                <c:v>1.1628837002472732</c:v>
              </c:pt>
              <c:pt idx="29">
                <c:v>1.1738449809177187</c:v>
              </c:pt>
              <c:pt idx="30">
                <c:v>1.1850840893433185</c:v>
              </c:pt>
            </c:numLit>
          </c:yVal>
        </c:ser>
        <c:ser>
          <c:idx val="2"/>
          <c:order val="2"/>
          <c:tx>
            <c:v>σ = 10</c:v>
          </c:tx>
          <c:spPr>
            <a:ln xmlns:a="http://schemas.openxmlformats.org/drawingml/2006/main" w="25718">
              <a:solidFill>
                <a:srgbClr val="27816E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0.##</c:formatCode>
              <c:ptCount val="31"/>
              <c:pt idx="0">
                <c:v>1</c:v>
              </c:pt>
              <c:pt idx="1">
                <c:v>1.000029201624753</c:v>
              </c:pt>
              <c:pt idx="2">
                <c:v>1.0001168013832</c:v>
              </c:pt>
              <c:pt idx="3">
                <c:v>1.000262783932386</c:v>
              </c:pt>
              <c:pt idx="4">
                <c:v>1.0004671237156435</c:v>
              </c:pt>
              <c:pt idx="5">
                <c:v>1.000729784984948</c:v>
              </c:pt>
              <c:pt idx="6">
                <c:v>1.0010507218321503</c:v>
              </c:pt>
              <c:pt idx="7">
                <c:v>1.0014298782290247</c:v>
              </c:pt>
              <c:pt idx="8">
                <c:v>1.00186718807605</c:v>
              </c:pt>
              <c:pt idx="9">
                <c:v>1.002362575259823</c:v>
              </c:pt>
              <c:pt idx="10">
                <c:v>1.0029159537189942</c:v>
              </c:pt>
              <c:pt idx="11">
                <c:v>1.0035272275185845</c:v>
              </c:pt>
              <c:pt idx="12">
                <c:v>1.0041962909325421</c:v>
              </c:pt>
              <c:pt idx="13">
                <c:v>1.0049230285343724</c:v>
              </c:pt>
              <c:pt idx="14">
                <c:v>1.0057073152956562</c:v>
              </c:pt>
              <c:pt idx="15">
                <c:v>1.006549016692272</c:v>
              </c:pt>
              <c:pt idx="16">
                <c:v>1.007447988818105</c:v>
              </c:pt>
              <c:pt idx="17">
                <c:v>1.0084040785060275</c:v>
              </c:pt>
              <c:pt idx="18">
                <c:v>1.0094171234559173</c:v>
              </c:pt>
              <c:pt idx="19">
                <c:v>1.010486952369464</c:v>
              </c:pt>
              <c:pt idx="20">
                <c:v>1.0116133850915174</c:v>
              </c:pt>
              <c:pt idx="21">
                <c:v>1.0127962327577014</c:v>
              </c:pt>
              <c:pt idx="22">
                <c:v>1.014035297948028</c:v>
              </c:pt>
              <c:pt idx="23">
                <c:v>1.015330374846228</c:v>
              </c:pt>
              <c:pt idx="24">
                <c:v>1.016681249404502</c:v>
              </c:pt>
              <c:pt idx="25">
                <c:v>1.0180876995134056</c:v>
              </c:pt>
              <c:pt idx="26">
                <c:v>1.0195494951765602</c:v>
              </c:pt>
              <c:pt idx="27">
                <c:v>1.0210663986898898</c:v>
              </c:pt>
              <c:pt idx="28">
                <c:v>1.022638164825069</c:v>
              </c:pt>
              <c:pt idx="29">
                <c:v>1.0242645410168758</c:v>
              </c:pt>
              <c:pt idx="30">
                <c:v>1.0259452675541316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3"/>
          <c:min val="1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σₓ(τ) / σ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1"/>
        <c:majorUnit val="0.5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时间 τ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7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相同初始宽度的传播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q₀ = (0.7,0.7)</c:v>
          </c:tx>
          <c:spPr>
            <a:ln xmlns:a="http://schemas.openxmlformats.org/drawingml/2006/main" w="25718">
              <a:solidFill>
                <a:srgbClr val="246B9A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0.##</c:formatCode>
              <c:ptCount val="31"/>
              <c:pt idx="0">
                <c:v>3</c:v>
              </c:pt>
              <c:pt idx="1">
                <c:v>3.0106226262358384</c:v>
              </c:pt>
              <c:pt idx="2">
                <c:v>3.042267968212647</c:v>
              </c:pt>
              <c:pt idx="3">
                <c:v>3.0942910946497233</c:v>
              </c:pt>
              <c:pt idx="4">
                <c:v>3.165687533799066</c:v>
              </c:pt>
              <c:pt idx="5">
                <c:v>3.2551827813625756</c:v>
              </c:pt>
              <c:pt idx="6">
                <c:v>3.3613315090473193</c:v>
              </c:pt>
              <c:pt idx="7">
                <c:v>3.482611273535364</c:v>
              </c:pt>
              <c:pt idx="8">
                <c:v>3.617500552398472</c:v>
              </c:pt>
              <c:pt idx="9">
                <c:v>3.7645366787769827</c:v>
              </c:pt>
              <c:pt idx="10">
                <c:v>3.9223538545518273</c:v>
              </c:pt>
              <c:pt idx="11">
                <c:v>4.089704183676892</c:v>
              </c:pt>
              <c:pt idx="12">
                <c:v>4.265465748878698</c:v>
              </c:pt>
              <c:pt idx="13">
                <c:v>4.448641702243136</c:v>
              </c:pt>
              <c:pt idx="14">
                <c:v>4.6383537090461795</c:v>
              </c:pt>
              <c:pt idx="15">
                <c:v>4.8338322747810105</c:v>
              </c:pt>
              <c:pt idx="16">
                <c:v>5.034405723261982</c:v>
              </c:pt>
              <c:pt idx="17">
                <c:v>5.239488973871192</c:v>
              </c:pt>
              <c:pt idx="18">
                <c:v>5.448572806105187</c:v>
              </c:pt>
              <c:pt idx="19">
                <c:v>5.661213980653483</c:v>
              </c:pt>
              <c:pt idx="20">
                <c:v>5.877026377452318</c:v>
              </c:pt>
              <c:pt idx="21">
                <c:v>6.095673182102247</c:v>
              </c:pt>
              <c:pt idx="22">
                <c:v>6.316860077596866</c:v>
              </c:pt>
              <c:pt idx="23">
                <c:v>6.540329359602618</c:v>
              </c:pt>
              <c:pt idx="24">
                <c:v>6.765854877207259</c:v>
              </c:pt>
              <c:pt idx="25">
                <c:v>6.993237698089839</c:v>
              </c:pt>
              <c:pt idx="26">
                <c:v>7.2223024015715955</c:v>
              </c:pt>
              <c:pt idx="27">
                <c:v>7.452893911274677</c:v>
              </c:pt>
              <c:pt idx="28">
                <c:v>7.684874788888224</c:v>
              </c:pt>
              <c:pt idx="29">
                <c:v>7.918122920507792</c:v>
              </c:pt>
              <c:pt idx="30">
                <c:v>8.152529536460335</c:v>
              </c:pt>
            </c:numLit>
          </c:yVal>
        </c:ser>
        <c:ser>
          <c:idx val="1"/>
          <c:order val="1"/>
          <c:tx>
            <c:v>q₀ = (π/2,π/2)</c:v>
          </c:tx>
          <c:spPr>
            <a:ln xmlns:a="http://schemas.openxmlformats.org/drawingml/2006/main" w="25718">
              <a:solidFill>
                <a:srgbClr val="C95F42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0.##</c:formatCode>
              <c:ptCount val="31"/>
              <c:pt idx="0">
                <c:v>3</c:v>
              </c:pt>
              <c:pt idx="1">
                <c:v>3.000250161127925</c:v>
              </c:pt>
              <c:pt idx="2">
                <c:v>3.001000519392249</c:v>
              </c:pt>
              <c:pt idx="3">
                <c:v>3.0022506997473144</c:v>
              </c:pt>
              <c:pt idx="4">
                <c:v>3.004000078157489</c:v>
              </c:pt>
              <c:pt idx="5">
                <c:v>3.0062477831515206</c:v>
              </c:pt>
              <c:pt idx="6">
                <c:v>3.00899269798598</c:v>
              </c:pt>
              <c:pt idx="7">
                <c:v>3.0122334634053067</c:v>
              </c:pt>
              <c:pt idx="8">
                <c:v>3.01596848098265</c:v>
              </c:pt>
              <c:pt idx="9">
                <c:v>3.020195917022458</c:v>
              </c:pt>
              <c:pt idx="10">
                <c:v>3.024913707002852</c:v>
              </c:pt>
              <c:pt idx="11">
                <c:v>3.0301195605329867</c:v>
              </c:pt>
              <c:pt idx="12">
                <c:v>3.0358109667981275</c:v>
              </c:pt>
              <c:pt idx="13">
                <c:v>3.041985200462885</c:v>
              </c:pt>
              <c:pt idx="14">
                <c:v>3.0486393280010886</c:v>
              </c:pt>
              <c:pt idx="15">
                <c:v>3.055770214419093</c:v>
              </c:pt>
              <c:pt idx="16">
                <c:v>3.063374530337936</c:v>
              </c:pt>
              <c:pt idx="17">
                <c:v>3.071448759398681</c:v>
              </c:pt>
              <c:pt idx="18">
                <c:v>3.0799892059545444</c:v>
              </c:pt>
              <c:pt idx="19">
                <c:v>3.088992003012891</c:v>
              </c:pt>
              <c:pt idx="20">
                <c:v>3.0984531203900674</c:v>
              </c:pt>
              <c:pt idx="21">
                <c:v>3.10836837304213</c:v>
              </c:pt>
              <c:pt idx="22">
                <c:v>3.1187334295348945</c:v>
              </c:pt>
              <c:pt idx="23">
                <c:v>3.129543820617418</c:v>
              </c:pt>
              <c:pt idx="24">
                <c:v>3.140794947863858</c:v>
              </c:pt>
              <c:pt idx="25">
                <c:v>3.1524820923497505</c:v>
              </c:pt>
              <c:pt idx="26">
                <c:v>3.1646004233300706</c:v>
              </c:pt>
              <c:pt idx="27">
                <c:v>3.1771450068878093</c:v>
              </c:pt>
              <c:pt idx="28">
                <c:v>3.190110814523486</c:v>
              </c:pt>
              <c:pt idx="29">
                <c:v>3.2034927316576716</c:v>
              </c:pt>
              <c:pt idx="30">
                <c:v>3.217285566020467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9"/>
          <c:min val="3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σₓ / 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3"/>
        <c:majorUnit val="2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时间 τ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8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相对平移初态的复态重合度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q₀ = (0.7,0.7)</c:v>
          </c:tx>
          <c:spPr>
            <a:ln xmlns:a="http://schemas.openxmlformats.org/drawingml/2006/main" w="25718">
              <a:solidFill>
                <a:srgbClr val="246B9A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0.##</c:formatCode>
              <c:ptCount val="31"/>
              <c:pt idx="0">
                <c:v>1.0000000000000009</c:v>
              </c:pt>
              <c:pt idx="1">
                <c:v>0.9982354691177964</c:v>
              </c:pt>
              <c:pt idx="2">
                <c:v>0.9929795089846105</c:v>
              </c:pt>
              <c:pt idx="3">
                <c:v>0.984342901991505</c:v>
              </c:pt>
              <c:pt idx="4">
                <c:v>0.9725034726382834</c:v>
              </c:pt>
              <c:pt idx="5">
                <c:v>0.9576966548540987</c:v>
              </c:pt>
              <c:pt idx="6">
                <c:v>0.9402037092003988</c:v>
              </c:pt>
              <c:pt idx="7">
                <c:v>0.9203387051834784</c:v>
              </c:pt>
              <c:pt idx="8">
                <c:v>0.8984353559104562</c:v>
              </c:pt>
              <c:pt idx="9">
                <c:v>0.8748346298177185</c:v>
              </c:pt>
              <c:pt idx="10">
                <c:v>0.8498738210894335</c:v>
              </c:pt>
              <c:pt idx="11">
                <c:v>0.8238774928755461</c:v>
              </c:pt>
              <c:pt idx="12">
                <c:v>0.7971504606496349</c:v>
              </c:pt>
              <c:pt idx="13">
                <c:v>0.7699727848006849</c:v>
              </c:pt>
              <c:pt idx="14">
                <c:v>0.7425966024662298</c:v>
              </c:pt>
              <c:pt idx="15">
                <c:v>0.7152445463578185</c:v>
              </c:pt>
              <c:pt idx="16">
                <c:v>0.6881094630359244</c:v>
              </c:pt>
              <c:pt idx="17">
                <c:v>0.6613551421203839</c:v>
              </c:pt>
              <c:pt idx="18">
                <c:v>0.6351177891113288</c:v>
              </c:pt>
              <c:pt idx="19">
                <c:v>0.6095080078506941</c:v>
              </c:pt>
              <c:pt idx="20">
                <c:v>0.5846130968629312</c:v>
              </c:pt>
              <c:pt idx="21">
                <c:v>0.5604995020493331</c:v>
              </c:pt>
              <c:pt idx="22">
                <c:v>0.5372153036265493</c:v>
              </c:pt>
              <c:pt idx="23">
                <c:v>0.5147926463650534</c:v>
              </c:pt>
              <c:pt idx="24">
                <c:v>0.4932500485924479</c:v>
              </c:pt>
              <c:pt idx="25">
                <c:v>0.47259454713078164</c:v>
              </c:pt>
              <c:pt idx="26">
                <c:v>0.4528236526903018</c:v>
              </c:pt>
              <c:pt idx="27">
                <c:v>0.4339271037396145</c:v>
              </c:pt>
              <c:pt idx="28">
                <c:v>0.41588841705512086</c:v>
              </c:pt>
              <c:pt idx="29">
                <c:v>0.39868624055448487</c:v>
              </c:pt>
              <c:pt idx="30">
                <c:v>0.38229551913806026</c:v>
              </c:pt>
            </c:numLit>
          </c:yVal>
        </c:ser>
        <c:ser>
          <c:idx val="1"/>
          <c:order val="1"/>
          <c:tx>
            <c:v>q₀ = (π/2,π/2)</c:v>
          </c:tx>
          <c:spPr>
            <a:ln xmlns:a="http://schemas.openxmlformats.org/drawingml/2006/main" w="25718">
              <a:solidFill>
                <a:srgbClr val="C95F42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0.##</c:formatCode>
              <c:ptCount val="31"/>
              <c:pt idx="0">
                <c:v>1.0000000000000009</c:v>
              </c:pt>
              <c:pt idx="1">
                <c:v>0.9999722070324634</c:v>
              </c:pt>
              <c:pt idx="2">
                <c:v>0.9998888659805631</c:v>
              </c:pt>
              <c:pt idx="3">
                <c:v>0.9997500901184786</c:v>
              </c:pt>
              <c:pt idx="4">
                <c:v>0.9995560673153508</c:v>
              </c:pt>
              <c:pt idx="5">
                <c:v>0.9993070586720312</c:v>
              </c:pt>
              <c:pt idx="6">
                <c:v>0.9990033966487626</c:v>
              </c:pt>
              <c:pt idx="7">
                <c:v>0.9986454827183631</c:v>
              </c:pt>
              <c:pt idx="8">
                <c:v>0.9982337845871062</c:v>
              </c:pt>
              <c:pt idx="9">
                <c:v>0.9977688330316007</c:v>
              </c:pt>
              <c:pt idx="10">
                <c:v>0.997251218404518</c:v>
              </c:pt>
              <c:pt idx="11">
                <c:v>0.9966815868648301</c:v>
              </c:pt>
              <c:pt idx="12">
                <c:v>0.9960606363894896</c:v>
              </c:pt>
              <c:pt idx="13">
                <c:v>0.9953891126231782</c:v>
              </c:pt>
              <c:pt idx="14">
                <c:v>0.9946678046211436</c:v>
              </c:pt>
              <c:pt idx="15">
                <c:v>0.9938975405373932</c:v>
              </c:pt>
              <c:pt idx="16">
                <c:v>0.9930791833068303</c:v>
              </c:pt>
              <c:pt idx="17">
                <c:v>0.9922136263655656</c:v>
              </c:pt>
              <c:pt idx="18">
                <c:v>0.9913017894488224</c:v>
              </c:pt>
              <c:pt idx="19">
                <c:v>0.9903446145007699</c:v>
              </c:pt>
              <c:pt idx="20">
                <c:v>0.9893430617254668</c:v>
              </c:pt>
              <c:pt idx="21">
                <c:v>0.988298105803014</c:v>
              </c:pt>
              <c:pt idx="22">
                <c:v>0.9872107322901481</c:v>
              </c:pt>
              <c:pt idx="23">
                <c:v>0.9860819342199059</c:v>
              </c:pt>
              <c:pt idx="24">
                <c:v>0.9849127089107712</c:v>
              </c:pt>
              <c:pt idx="25">
                <c:v>0.9837040549919001</c:v>
              </c:pt>
              <c:pt idx="26">
                <c:v>0.9824569696476104</c:v>
              </c:pt>
              <c:pt idx="27">
                <c:v>0.9811724460813898</c:v>
              </c:pt>
              <c:pt idx="28">
                <c:v>0.9798514711971014</c:v>
              </c:pt>
              <c:pt idx="29">
                <c:v>0.978495023492977</c:v>
              </c:pt>
              <c:pt idx="30">
                <c:v>0.9771040711622112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F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0"/>
        <c:majorUnit val="0.25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时间 τ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DF2785-094C-4BC7-8254-8533D486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二维铁磁体中的单磁子传播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E7C7F1-C146-4E6C-8309-76B719C8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E3CB00-4D00-4AB9-8D25-CB32AF7A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中期报告　理论来源：单磁子推导 PDF　模拟：均匀最近邻交换模型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B2E8DE-F00C-4AB9-8D4C-1FD6306C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EE5299-79DD-4460-8550-83497899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5905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525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525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525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525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525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525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525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525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525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库仑交换与线性波包动力学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760CDA-185A-4E8C-A394-B7E2DAA5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80035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基本物理图像与数值模拟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E3F758-95C7-439F-A744-997C186A18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e5a0af83cf4bff"/>
          <a:stretch xmlns:a="http://schemas.openxmlformats.org/drawingml/2006/main"/>
        </p:blipFill>
        <p:spPr>
          <a:xfrm xmlns:a="http://schemas.openxmlformats.org/drawingml/2006/main">
            <a:off x="6619875" y="1756416"/>
            <a:ext cx="5238750" cy="2935594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551A53-436D-4F8D-8FE8-E9F533DCDB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20050293d942b5"/>
          <a:stretch xmlns:a="http://schemas.openxmlformats.org/drawingml/2006/main"/>
        </p:blipFill>
        <p:spPr>
          <a:xfrm xmlns:a="http://schemas.openxmlformats.org/drawingml/2006/main">
            <a:off x="552450" y="4050148"/>
            <a:ext cx="5829300" cy="567454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5ED959-0788-4CAF-ACD9-C3B50ADB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10858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由微观交换确定传播算符，再用局域激发与波包解释它的动力学。</a:t>
            </a:r>
          </a:p>
        </p:txBody>
      </p:sp>
    </p:spTree>
    <p:extLst>
      <p:ext uri="{BB962C8B-B14F-4D97-AF65-F5344CB8AC3E}">
        <p14:creationId xmlns:p14="http://schemas.microsoft.com/office/powerpoint/2010/main" val="1364765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723A7F-5D6F-4271-9EAC-CACE226F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研究对象与报告问题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1A932C-EC84-4CC8-A128-8B1D1604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32BC5A-B0BA-4405-B04C-4FE4398D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第 3–5 页　动画 B14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EA6F17-2B3E-444D-A70F-48A0B4E5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2470E8-2AA2-4D2A-A286-D89912F0BB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ea6764985a492b"/>
          <a:stretch xmlns:a="http://schemas.openxmlformats.org/drawingml/2006/main"/>
        </p:blipFill>
        <p:spPr>
          <a:xfrm xmlns:a="http://schemas.openxmlformats.org/drawingml/2006/main">
            <a:off x="640556" y="1257300"/>
            <a:ext cx="6243638" cy="41624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D63A22-BDF2-408B-AF2E-D41C3FA2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811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物理对象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41A1BF-3C60-4D66-A9E2-3A79A389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90700"/>
            <a:ext cx="4095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二维正方晶格，每格点自旋 1/2。</a:t>
            </a:r>
          </a:p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最近邻交换 Jₓ、Jᵧ，零外场。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9C3607-A913-4DFF-81BB-7B589B08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765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需要回答的问题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C53718-2477-4AE0-BA02-FA3FDEAE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86150"/>
            <a:ext cx="4095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局域翻转怎样向外传播？</a:t>
            </a:r>
          </a:p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载波怎样决定传播方向？</a:t>
            </a:r>
          </a:p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有限宽度波包为什么会展宽？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38DC1A-B23F-4284-9735-568283D2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1F31D6-F226-4F94-9C08-F4A95AD0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本报告把原理推导与可观测的概率分布逐一对应。</a:t>
            </a:r>
          </a:p>
        </p:txBody>
      </p:sp>
    </p:spTree>
    <p:extLst>
      <p:ext uri="{BB962C8B-B14F-4D97-AF65-F5344CB8AC3E}">
        <p14:creationId xmlns:p14="http://schemas.microsoft.com/office/powerpoint/2010/main" val="1027585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66C9CD-1AFC-4B59-B1B0-DCC249C8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两电子的直接积分与交换积分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54641F-95E0-44F9-A133-BD5D49C5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18B0D6-5D71-4DA6-8C05-9648D8C1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第 1–2 页，式 (1)–(9)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7FDE1A-CADD-446C-BD0D-7ADC26E8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AFCE23-1D4B-4D69-8CD9-9CF12B33B2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2dca9ccd364b69"/>
          <a:stretch xmlns:a="http://schemas.openxmlformats.org/drawingml/2006/main"/>
        </p:blipFill>
        <p:spPr>
          <a:xfrm xmlns:a="http://schemas.openxmlformats.org/drawingml/2006/main">
            <a:off x="581025" y="1566568"/>
            <a:ext cx="7524750" cy="177223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8013C1-B7A1-4FB4-A4D2-7330869F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3811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固定占据的出发点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9678BD-9275-4499-A60C-2F626B8A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304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轨道 a、b 正交归一，各有一个电子。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库仑核作用在两电子坐标上。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4449D9-4ABE-47A2-8110-B587E848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861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两种矩阵元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D63AF8-C62B-4571-A66B-5D77333D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95700"/>
            <a:ext cx="304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D 对应保持轨道配对的直接项。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K 对应交换轨道配对的交换项。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2F3B32-C2BA-4BA1-8613-654DB7CE5C9A}"/>
              </a:ext>
            </a:extLst>
          </p:cNvPr>
          <p:cNvGraphicFramePr/>
          <p:nvPr/>
        </p:nvGraphicFramePr>
        <p:xfrm>
          <a:off xmlns:a="http://schemas.openxmlformats.org/drawingml/2006/main" x="581025" y="3743325"/>
          <a:ext xmlns:a="http://schemas.openxmlformats.org/drawingml/2006/main" cx="7477125" cy="1790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3143250"/>
                <a:gridCol w="3381375"/>
              </a:tblGrid>
              <a:tr h="596900"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积分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依赖的空间结构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在自旋模型中的作用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</a:tr>
              <a:tr h="596900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两轨道的密度分布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贡献共同能量常数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6900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两轨道的交叉乘积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决定自旋交换耦合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B95E82-88FE-4BC3-A6B1-66C2E69E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A01B57-5EC8-40EC-B422-55BF4392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在固定轨道模型中，交换积分把电子的空间结构带入自旋动力学。</a:t>
            </a:r>
          </a:p>
        </p:txBody>
      </p:sp>
    </p:spTree>
    <p:extLst>
      <p:ext uri="{BB962C8B-B14F-4D97-AF65-F5344CB8AC3E}">
        <p14:creationId xmlns:p14="http://schemas.microsoft.com/office/powerpoint/2010/main" val="2712382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4B7EDE-5226-45D5-8AB2-CE1F3456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库仑矩阵与单重态、三重态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CA22F4-EFC7-41E5-A9A1-D98F1804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5F6A2-7385-4081-BB0C-06D33DC5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第 2 页，式 (10)–(14)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16E6B8-5F23-4308-AEB7-BC21AA7C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BF0A6B-8A4C-40D7-80DC-26776F1AA6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0b207169a54c7b"/>
          <a:stretch xmlns:a="http://schemas.openxmlformats.org/drawingml/2006/main"/>
        </p:blipFill>
        <p:spPr>
          <a:xfrm xmlns:a="http://schemas.openxmlformats.org/drawingml/2006/main">
            <a:off x="548717" y="1476375"/>
            <a:ext cx="5465291" cy="20955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8EB176-68C6-4974-AF98-3E0F889EC8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e19e624fdb4514"/>
          <a:stretch xmlns:a="http://schemas.openxmlformats.org/drawingml/2006/main"/>
        </p:blipFill>
        <p:spPr>
          <a:xfrm xmlns:a="http://schemas.openxmlformats.org/drawingml/2006/main">
            <a:off x="1295995" y="3838575"/>
            <a:ext cx="3942159" cy="16383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CEFFB650-27DA-44E0-A370-44F3DDE59BEB}"/>
              </a:ext>
            </a:extLst>
          </p:cNvPr>
          <p:cNvGraphicFramePr/>
          <p:nvPr/>
        </p:nvGraphicFramePr>
        <p:xfrm>
          <a:off xmlns:a="http://schemas.openxmlformats.org/drawingml/2006/main" x="6334125" y="1409700"/>
          <a:ext xmlns:a="http://schemas.openxmlformats.org/drawingml/2006/main" cx="523875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94c2f79b82f41a0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3F0290-3624-460A-B677-565A83B3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53000"/>
            <a:ext cx="438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K &gt; 0 时，三重态能量更低。</a:t>
            </a:r>
          </a:p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能级间隔为 2K。</a:t>
            </a:r>
          </a:p>
        </p:txBody>
      </p:sp>
    </p:spTree>
    <p:extLst>
      <p:ext uri="{BB962C8B-B14F-4D97-AF65-F5344CB8AC3E}">
        <p14:creationId xmlns:p14="http://schemas.microsoft.com/office/powerpoint/2010/main" val="3650327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651DBB-937F-4E8C-8367-BA68F158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矩阵匹配给出 Heisenberg 交换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73B1C7-C6CC-4634-9BB5-B9226926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A8AB7E-5AB9-4104-BBB5-276B0FE3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第 3 页，式 (17)–(21)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CEA2C4-91ED-429D-8623-5CEB092F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18CB9B-2869-4F40-B348-4938ACE650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2da902cdfe4e30"/>
          <a:stretch xmlns:a="http://schemas.openxmlformats.org/drawingml/2006/main"/>
        </p:blipFill>
        <p:spPr>
          <a:xfrm xmlns:a="http://schemas.openxmlformats.org/drawingml/2006/main">
            <a:off x="1547325" y="1438275"/>
            <a:ext cx="3858599" cy="2219325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005E89-1889-47D9-86F4-41C9AA6FB9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d136dff0e0415e"/>
          <a:stretch xmlns:a="http://schemas.openxmlformats.org/drawingml/2006/main"/>
        </p:blipFill>
        <p:spPr>
          <a:xfrm xmlns:a="http://schemas.openxmlformats.org/drawingml/2006/main">
            <a:off x="1306727" y="4171950"/>
            <a:ext cx="4587446" cy="1028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83BFDB-ABDE-4AF4-B588-248981ED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4305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6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6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6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6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6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6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6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6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6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6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62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−J / 2 = −K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9F42B7-0533-42A9-BAD8-1CF14A24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62200"/>
            <a:ext cx="428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32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32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32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32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32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32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32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32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32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322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J = 2K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587898-EA9B-44A1-97CC-D599B3A0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1947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共同的能量常数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3A1369-77D3-40CC-B351-BE6480BD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29050"/>
            <a:ext cx="4191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D − K/2 不改变自旋态之间的能量差。</a:t>
            </a:r>
          </a:p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对所有最近邻键求和得到晶格模型。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093728-96BF-4E01-985C-A726840D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43A75A-3DED-4BE0-82F8-194293F8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自旋点积形式与两电子矩阵等价，交换系数由矩阵元确定。</a:t>
            </a:r>
          </a:p>
        </p:txBody>
      </p:sp>
    </p:spTree>
    <p:extLst>
      <p:ext uri="{BB962C8B-B14F-4D97-AF65-F5344CB8AC3E}">
        <p14:creationId xmlns:p14="http://schemas.microsoft.com/office/powerpoint/2010/main" val="1035594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12C37B-97B2-44E0-976F-A76A3DE1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二维交换模型与全极化基态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0465B8-13D6-48C9-99C8-4C6CFC30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6A2821-2E89-4060-BE2D-2A880017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第 3 页，式 (22)–(25)　图 A01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B7BD90-1D28-46EE-B874-6FE8BA9E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52705E-3672-45D8-B2B1-645F691518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688468d2bb4105"/>
          <a:stretch xmlns:a="http://schemas.openxmlformats.org/drawingml/2006/main"/>
        </p:blipFill>
        <p:spPr>
          <a:xfrm xmlns:a="http://schemas.openxmlformats.org/drawingml/2006/main">
            <a:off x="361950" y="1477089"/>
            <a:ext cx="6905625" cy="3751422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E5E765-0993-43C1-A240-F90A9F7CF9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3964a770e44bf0"/>
          <a:stretch xmlns:a="http://schemas.openxmlformats.org/drawingml/2006/main"/>
        </p:blipFill>
        <p:spPr>
          <a:xfrm xmlns:a="http://schemas.openxmlformats.org/drawingml/2006/main">
            <a:off x="7429500" y="1736624"/>
            <a:ext cx="4191000" cy="584402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711606-4F7B-4DE6-B752-6F8523363C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a430e392cf49c3"/>
          <a:stretch xmlns:a="http://schemas.openxmlformats.org/drawingml/2006/main"/>
        </p:blipFill>
        <p:spPr>
          <a:xfrm xmlns:a="http://schemas.openxmlformats.org/drawingml/2006/main">
            <a:off x="8250051" y="3000375"/>
            <a:ext cx="2635624" cy="8001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7217E8-E4F4-47E8-88E3-536EE924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210050"/>
            <a:ext cx="3895725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每条键只计一次</a:t>
            </a:r>
          </a:p>
          <a:p xmlns:a="http://schemas.openxmlformats.org/drawingml/2006/main">
            <a: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Jₓ、Jᵧ &gt; 0，零外场</a:t>
            </a:r>
          </a:p>
          <a:p xmlns:a="http://schemas.openxmlformats.org/drawingml/2006/main">
            <a: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背景自旋沿 +x 极化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E5D4F0-4CB6-4405-AEFC-929338C7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7FC4-4766-4DCC-80D2-9328B5F6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Jₓ ≠ Jᵧ 改变空间方向的耦合强度，单磁子仍在同一条能带上运动。</a:t>
            </a:r>
          </a:p>
        </p:txBody>
      </p:sp>
    </p:spTree>
    <p:extLst>
      <p:ext uri="{BB962C8B-B14F-4D97-AF65-F5344CB8AC3E}">
        <p14:creationId xmlns:p14="http://schemas.microsoft.com/office/powerpoint/2010/main" val="15313772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CC5036-3488-4424-B36E-76579FBA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单翻转子空间中的精确动力学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C364BE-5AB7-4094-A760-F68843E1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FACEB9-65C0-4194-8D62-7CB6A388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第 4 页，式 (26)–(31)　图 B01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653D6A-EB82-40A8-8464-0B6839BA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77FFEC-6DD8-4920-88FE-1C9D723143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90967f02d94b6c"/>
          <a:stretch xmlns:a="http://schemas.openxmlformats.org/drawingml/2006/main"/>
        </p:blipFill>
        <p:spPr>
          <a:xfrm xmlns:a="http://schemas.openxmlformats.org/drawingml/2006/main">
            <a:off x="3139490" y="1362075"/>
            <a:ext cx="5303420" cy="676275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75DF6E-C59D-43C4-84B7-33060B1D22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41bb1428254f12"/>
          <a:stretch xmlns:a="http://schemas.openxmlformats.org/drawingml/2006/main"/>
        </p:blipFill>
        <p:spPr>
          <a:xfrm xmlns:a="http://schemas.openxmlformats.org/drawingml/2006/main">
            <a:off x="514350" y="2633214"/>
            <a:ext cx="5810250" cy="1172472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644F3F-892B-494A-A738-4C381B2E9F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1905a545db4fbd"/>
          <a:stretch xmlns:a="http://schemas.openxmlformats.org/drawingml/2006/main"/>
        </p:blipFill>
        <p:spPr>
          <a:xfrm xmlns:a="http://schemas.openxmlformats.org/drawingml/2006/main">
            <a:off x="514350" y="4303427"/>
            <a:ext cx="5810250" cy="718121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FA8A7C-ADBE-45B6-BB27-6864B2AF03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2ec246b61b436c"/>
          <a:stretch xmlns:a="http://schemas.openxmlformats.org/drawingml/2006/main"/>
        </p:blipFill>
        <p:spPr>
          <a:xfrm xmlns:a="http://schemas.openxmlformats.org/drawingml/2006/main">
            <a:off x="7572211" y="2266950"/>
            <a:ext cx="3429328" cy="32861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E81989-DCEB-4298-80F4-E8B6AC1E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7E39C6-BAF2-4364-A4B3-25329F8D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Pᵢ = |cᵢ|²，ΣPᵢ = 1。沿极化轴的局域自旋满足 〈Sᵢˣ〉 = 1/2 − Pᵢ。</a:t>
            </a:r>
          </a:p>
        </p:txBody>
      </p:sp>
    </p:spTree>
    <p:extLst>
      <p:ext uri="{BB962C8B-B14F-4D97-AF65-F5344CB8AC3E}">
        <p14:creationId xmlns:p14="http://schemas.microsoft.com/office/powerpoint/2010/main" val="14107205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B173C6-71B6-4821-B73B-AD0A784C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交换耦合把翻转振幅传给相邻格点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46CBF4-7BF7-4079-AF59-4E96FAAF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0B9202-5230-45D5-B8E6-9DC8F05F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第 4–5 页，式 (28)、(34)、(35)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831D63-2B22-4A52-B4C0-FFC84BCD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EEE871-F480-4B22-B326-E3C1D4E81A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8d284654e348c4"/>
          <a:stretch xmlns:a="http://schemas.openxmlformats.org/drawingml/2006/main"/>
        </p:blipFill>
        <p:spPr>
          <a:xfrm xmlns:a="http://schemas.openxmlformats.org/drawingml/2006/main">
            <a:off x="2071688" y="1333500"/>
            <a:ext cx="4000500" cy="85725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0B649C-C6FB-4AAA-B5AE-83C2F42EAB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e1eef9fcfb4150"/>
          <a:stretch xmlns:a="http://schemas.openxmlformats.org/drawingml/2006/main"/>
        </p:blipFill>
        <p:spPr>
          <a:xfrm xmlns:a="http://schemas.openxmlformats.org/drawingml/2006/main">
            <a:off x="2437861" y="2686050"/>
            <a:ext cx="7316278" cy="1685925"/>
          </a:xfrm>
          <a:prstGeom xmlns:a="http://schemas.openxmlformats.org/drawingml/2006/main" prst="rect">
            <a:avLst/>
          </a:prstGeom>
        </p:spPr>
      </p:pic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780E5E-156E-46B9-AD74-98E4321B982F}"/>
              </a:ext>
            </a:extLst>
          </p:cNvPr>
          <p:cNvGraphicFramePr/>
          <p:nvPr/>
        </p:nvGraphicFramePr>
        <p:xfrm>
          <a:off xmlns:a="http://schemas.openxmlformats.org/drawingml/2006/main" x="619125" y="4638675"/>
          <a:ext xmlns:a="http://schemas.openxmlformats.org/drawingml/2006/main" cx="10906125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3143250"/>
                <a:gridCol w="5619750"/>
              </a:tblGrid>
              <a:tr h="476250"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系数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物理含义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</a:tr>
              <a:tr h="476250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原格点振幅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基态能量 + Jₓ + Jᵧ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共同相位与交换对角能量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相邻格点振幅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−Jₓ/2、−Jᵧ/2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连接相邻翻转位置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9A3526-0C7E-4723-B820-C3479E83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45732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单条交换键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CF6E82-5FB3-49DB-BD04-BE421347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14525"/>
            <a:ext cx="28479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保留原位置，也产生相邻位置的振幅。</a:t>
            </a:r>
          </a:p>
        </p:txBody>
      </p:sp>
    </p:spTree>
    <p:extLst>
      <p:ext uri="{BB962C8B-B14F-4D97-AF65-F5344CB8AC3E}">
        <p14:creationId xmlns:p14="http://schemas.microsoft.com/office/powerpoint/2010/main" val="17030146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36CEE2-2F06-472F-9C51-52478D57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平面波代入运动方程得到色散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309F8D-DF12-490F-B101-5D1CD0B62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964DCE-C02B-456A-95E5-B85FDFFD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第 5 页，式 (36)–(39)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E11D61-35CA-4631-81A7-F78E2B33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4EE939-22A3-4B3F-8BD0-C0D21E44F4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f16bec40d442db"/>
          <a:stretch xmlns:a="http://schemas.openxmlformats.org/drawingml/2006/main"/>
        </p:blipFill>
        <p:spPr>
          <a:xfrm xmlns:a="http://schemas.openxmlformats.org/drawingml/2006/main">
            <a:off x="1335881" y="1352550"/>
            <a:ext cx="4767263" cy="866775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C99AF3-02E3-48D3-8E79-6913918F5C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537c9cc36742dc"/>
          <a:stretch xmlns:a="http://schemas.openxmlformats.org/drawingml/2006/main"/>
        </p:blipFill>
        <p:spPr>
          <a:xfrm xmlns:a="http://schemas.openxmlformats.org/drawingml/2006/main">
            <a:off x="1562514" y="2628900"/>
            <a:ext cx="9009822" cy="80010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0E112F-64FD-4045-9F73-CB78C0525F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0f587f5e934393"/>
          <a:stretch xmlns:a="http://schemas.openxmlformats.org/drawingml/2006/main"/>
        </p:blipFill>
        <p:spPr>
          <a:xfrm xmlns:a="http://schemas.openxmlformats.org/drawingml/2006/main">
            <a:off x="2151970" y="3819525"/>
            <a:ext cx="7678511" cy="12668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5C9AD3-77EB-4E6C-B48E-B9D4B7B2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419225"/>
            <a:ext cx="350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平移本征模式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5E6ABD-C7C0-4F90-983C-937EBFE7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885950"/>
            <a:ext cx="35052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相邻格点的振幅大小相同，</a:t>
            </a:r>
          </a:p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空间移动只改变相位。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291CC5-86D4-4E00-B103-9881340D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577C05-7777-400C-AF5C-A6E3E3BB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余弦项来自正、反两个最近邻方向的相位之和。</a:t>
            </a:r>
          </a:p>
        </p:txBody>
      </p:sp>
    </p:spTree>
    <p:extLst>
      <p:ext uri="{BB962C8B-B14F-4D97-AF65-F5344CB8AC3E}">
        <p14:creationId xmlns:p14="http://schemas.microsoft.com/office/powerpoint/2010/main" val="14693808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559134-928D-4497-BCB9-9844B9A0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色散曲面与方向带宽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5E0AEB-E02B-4CBB-AA10-4A3E5C27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656B6A-D58B-46C2-8759-7981CFAF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式 (39)　模拟 A02、A03 轴向截面数据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C851BF-8B27-4C74-B71D-53625FAC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ADF05A-20ED-417D-A13F-437D15FB10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c45bd6fc0d4e02"/>
          <a:stretch xmlns:a="http://schemas.openxmlformats.org/drawingml/2006/main"/>
        </p:blipFill>
        <p:spPr>
          <a:xfrm xmlns:a="http://schemas.openxmlformats.org/drawingml/2006/main">
            <a:off x="381000" y="1580117"/>
            <a:ext cx="5715000" cy="3202466"/>
          </a:xfrm>
          <a:prstGeom xmlns:a="http://schemas.openxmlformats.org/drawingml/2006/main" prst="rect">
            <a:avLst/>
          </a:prstGeom>
        </p:spPr>
      </p:pic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C167189E-C2C5-4AE7-A9C8-7422256D3150}"/>
              </a:ext>
            </a:extLst>
          </p:cNvPr>
          <p:cNvGraphicFramePr/>
          <p:nvPr/>
        </p:nvGraphicFramePr>
        <p:xfrm>
          <a:off xmlns:a="http://schemas.openxmlformats.org/drawingml/2006/main" x="6238875" y="1381125"/>
          <a:ext xmlns:a="http://schemas.openxmlformats.org/drawingml/2006/main" cx="5391150" cy="3648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0a13b2cb21443a0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D2863F-05E6-4EAE-8B83-7402D0D0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210175"/>
            <a:ext cx="471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η = 1：能带宽度 4Jₓ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58C5BE-E85F-460C-94BA-AB6E87E9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10175"/>
            <a:ext cx="5095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固定 Jₓ，减小 η 会降低 y 方向带宽。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61AEED-F844-48C7-A731-78754BBF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171EE8-0042-4866-92DF-B369DE22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正方晶格在大波矢处保留晶格对称性，长波区域才近似抛物面。</a:t>
            </a:r>
          </a:p>
        </p:txBody>
      </p:sp>
    </p:spTree>
    <p:extLst>
      <p:ext uri="{BB962C8B-B14F-4D97-AF65-F5344CB8AC3E}">
        <p14:creationId xmlns:p14="http://schemas.microsoft.com/office/powerpoint/2010/main" val="21116514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58459E-F63F-4066-962A-8DEF55B2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等频线与能量传播方向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3B1382-2625-4F50-AA13-D63EE712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43ACBA-DDD9-4786-A8A4-404F5D4F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A05、A06，η = 1 与 0.35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9D5D48-1FE6-4A61-A111-2A164140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25DAF0-3476-455A-8A62-32505A44B4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1e3738aece41fe"/>
          <a:stretch xmlns:a="http://schemas.openxmlformats.org/drawingml/2006/main"/>
        </p:blipFill>
        <p:spPr>
          <a:xfrm xmlns:a="http://schemas.openxmlformats.org/drawingml/2006/main">
            <a:off x="2589883" y="1190625"/>
            <a:ext cx="7012235" cy="3476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4FB6FA-FDD5-40C7-ADEB-27CE6B62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762500"/>
            <a:ext cx="5248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同一条等频线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40F3D8-58D2-4822-8693-64C35E8A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172075"/>
            <a:ext cx="52482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线上各模式的频率相同。群速度指向色散曲面的梯度方向。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6A59CC-F193-4A1A-A180-6E611B96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625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空间各向异性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19236C-0ACD-4AD0-8C4F-9C1D4D4D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72075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减小 Jᵧ 后，群速度的 y 分量减小。波矢方向与传播方向一般需要分别判断。</a:t>
            </a:r>
          </a:p>
        </p:txBody>
      </p:sp>
    </p:spTree>
    <p:extLst>
      <p:ext uri="{BB962C8B-B14F-4D97-AF65-F5344CB8AC3E}">
        <p14:creationId xmlns:p14="http://schemas.microsoft.com/office/powerpoint/2010/main" val="14583119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619AB3-83AF-427F-8937-F8BA05DA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群速度由色散斜率决定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8F2999-0070-4F17-8280-12CEB04A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D7B151-83B0-4253-AD80-AFC972AF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A07　ω = ε / 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CA4177-5729-42DF-8137-7AD7F241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430540-2944-49E5-A4CD-91EDCB3197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7e7e50a1734efd"/>
          <a:stretch xmlns:a="http://schemas.openxmlformats.org/drawingml/2006/main"/>
        </p:blipFill>
        <p:spPr>
          <a:xfrm xmlns:a="http://schemas.openxmlformats.org/drawingml/2006/main">
            <a:off x="2652337" y="1190625"/>
            <a:ext cx="6887326" cy="3476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98D8B1-2ED5-4E63-AF39-C6EE07E1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762500"/>
            <a:ext cx="5248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群速度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883E31-9B30-45CB-AD48-AAEB67E4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172075"/>
            <a:ext cx="52482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v = (1/ℏ)∇ₖε。沿 x 方向，vₓ = (Jₓa/ℏ) sin qₓ。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3937ED-371B-4B8C-B83C-62B92202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625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方向与速度上限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B8CAD4-884F-4FE6-B8C9-A7A91A25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72075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近原点，qₓ 的符号决定方向。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最大 |vₓ| 对应 qₓ = ±π/2。</a:t>
            </a:r>
          </a:p>
        </p:txBody>
      </p:sp>
    </p:spTree>
    <p:extLst>
      <p:ext uri="{BB962C8B-B14F-4D97-AF65-F5344CB8AC3E}">
        <p14:creationId xmlns:p14="http://schemas.microsoft.com/office/powerpoint/2010/main" val="1814485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45D922-CC60-471C-8194-6C249792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原理公式与传播模拟的对应关系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67628A-B7FD-4701-A51A-3D59FBCE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39098A-514D-4398-BD1B-DA935994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第 5 页　模拟 common.py 与 THEORY.md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5F6FA6-FE46-4F80-B2A0-ACFD3FCB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242A78-85DE-42EF-9F63-414B5617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95400"/>
            <a:ext cx="1762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32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ψ = exp(i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FFAF4F-B5AA-4D8C-A4EA-E04E94DB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295400"/>
            <a:ext cx="28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32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E65EDE-353C-4A46-967B-8DE9D740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38275"/>
            <a:ext cx="228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15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5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5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5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5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5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5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5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5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1500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A4FF12-14A5-43A0-9E99-8428CBEF9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295400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32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t/ℏ)c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5C3C2A-1D71-4CF7-860F-FAEBCC20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295400"/>
            <a:ext cx="5953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32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|ψ|² = |c|²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BF0D17-5B3B-4E2C-A01F-F3E963EA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97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17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n = r/a    q = ka    τ = Jₓt/ℏ    η = Jᵧ/Jₓ    u = ℏv/(Jₓa)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43F823-C706-4748-8915-9C13C190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47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e(q) = ε/Jₓ = 1 − cos qₓ + η(1 − cos qᵧ)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7D9051-615B-49AC-8390-5E1D2D7B7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76625"/>
            <a:ext cx="10906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47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A(q,τ) = A(q,0) exp[−i e(q)τ]</a:t>
            </a:r>
          </a:p>
        </p:txBody>
      </p:sp>
      <p:graphicFrame>
        <p:nvGraphicFrame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A367E0-3742-4761-B0DD-B27B828F35B9}"/>
              </a:ext>
            </a:extLst>
          </p:cNvPr>
          <p:cNvGraphicFramePr/>
          <p:nvPr/>
        </p:nvGraphicFramePr>
        <p:xfrm>
          <a:off xmlns:a="http://schemas.openxmlformats.org/drawingml/2006/main" x="600075" y="4229100"/>
          <a:ext xmlns:a="http://schemas.openxmlformats.org/drawingml/2006/main" cx="11001375" cy="14573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81375"/>
                <a:gridCol w="3952875"/>
                <a:gridCol w="3667125"/>
              </a:tblGrid>
              <a:tr h="485775"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实空间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波矢空间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可观测量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</a:tr>
              <a:tr h="485775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初态 ψ(n,0)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FFT 得到 A(q,0)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P(n,0) = |ψ(n,0)|²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逆 FFT 得到 ψ(n,τ)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各模式独立积累时间相位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P(n,τ)、质心、RMS 宽度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E23FED-FEF3-40FA-8101-F1CF995F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BA04BD-6EC6-4F83-8872-CFB97493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完整余弦色散直接决定时间演化，有限周期盒的影响另用扩大晶格对照检查。</a:t>
            </a:r>
          </a:p>
        </p:txBody>
      </p:sp>
    </p:spTree>
    <p:extLst>
      <p:ext uri="{BB962C8B-B14F-4D97-AF65-F5344CB8AC3E}">
        <p14:creationId xmlns:p14="http://schemas.microsoft.com/office/powerpoint/2010/main" val="69082954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A0F7FB-1506-4706-846B-E650EF1F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一个格点的局域翻转包含整个能带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3A545F-6799-4F26-A9CA-1D10D9B7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4AAE92-B287-4371-9E63-74DFDDCA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B02　N = 256 表示 256 × 256 格点，Σ|A|² =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0F87C7-B775-4762-BA8C-E4BC8E5E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8AC7A3-18D3-46A4-B590-718FE933FB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de805ccd2d4854"/>
          <a:stretch xmlns:a="http://schemas.openxmlformats.org/drawingml/2006/main"/>
        </p:blipFill>
        <p:spPr>
          <a:xfrm xmlns:a="http://schemas.openxmlformats.org/drawingml/2006/main">
            <a:off x="2523468" y="1190625"/>
            <a:ext cx="7145064" cy="3476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4AD34F-0900-4A48-B4E3-64C6AE5A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762500"/>
            <a:ext cx="5248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位置越局域，频谱越宽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B41EDD-E5F5-4427-A781-651B9F11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172075"/>
            <a:ext cx="52482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单点初态 ψₘₙ = δₘ₀δₙ₀。每个离散波矢的概率都为 1/N²。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73A5BC-CA34-4250-B097-DFD8BE7F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625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传播的直接后果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443975-71FD-44E9-B688-DADC4EA8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72075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许多方向和速度的分量同时参与演化，局域激发自然向周围展开。</a:t>
            </a:r>
          </a:p>
        </p:txBody>
      </p:sp>
    </p:spTree>
    <p:extLst>
      <p:ext uri="{BB962C8B-B14F-4D97-AF65-F5344CB8AC3E}">
        <p14:creationId xmlns:p14="http://schemas.microsoft.com/office/powerpoint/2010/main" val="155794124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2652C3-ED47-43DD-8E12-35FB98BE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局域激发的后期传播与干涉图样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216984-2A8D-4C12-8E63-CDE05DD0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504894-AB89-41EE-8337-970E4400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B04　η = 1，四个时刻使用共同对数色标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D6DB70-8087-496B-A58D-63D71BD0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D798D2-A1D6-4976-BA89-059F4D2F41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5d79cc591f49b6"/>
          <a:stretch xmlns:a="http://schemas.openxmlformats.org/drawingml/2006/main"/>
        </p:blipFill>
        <p:spPr>
          <a:xfrm xmlns:a="http://schemas.openxmlformats.org/drawingml/2006/main">
            <a:off x="419100" y="1289508"/>
            <a:ext cx="11353800" cy="3278859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303AFF-09A6-4CEA-A45C-249CB508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762500"/>
            <a:ext cx="5248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由近邻传递到空间展开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C34770-C553-4463-9C2A-E331C24A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172075"/>
            <a:ext cx="52482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τ = 6、12、24、36 时，概率逐步向外展开，图中保留完整余弦能带的贡献。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C7C150-7F51-4B42-90BF-818C5015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625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晶格与相干干涉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3A8945-71C9-4E82-B14B-7D95331A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72075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方格晶格留下四重对称图样。不同传播路径叠加形成条纹和旁瓣。</a:t>
            </a:r>
          </a:p>
        </p:txBody>
      </p:sp>
    </p:spTree>
    <p:extLst>
      <p:ext uri="{BB962C8B-B14F-4D97-AF65-F5344CB8AC3E}">
        <p14:creationId xmlns:p14="http://schemas.microsoft.com/office/powerpoint/2010/main" val="104375720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F1A1CE-57CC-4CAB-8968-E93C22AA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交换各向异性控制概率展开的方向尺度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397FE6-9BCA-42DD-BC6C-45BA9F40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82E5E8-D379-46FA-81BB-C9A815F07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B05、B11、B16　Jₓ 固定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B11DA4-13F4-480C-98A2-1B70CC98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63C6C8-AE86-46F3-B52D-5963049CFF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84b8fec2414706"/>
          <a:stretch xmlns:a="http://schemas.openxmlformats.org/drawingml/2006/main"/>
        </p:blipFill>
        <p:spPr>
          <a:xfrm xmlns:a="http://schemas.openxmlformats.org/drawingml/2006/main">
            <a:off x="400050" y="2116989"/>
            <a:ext cx="7639050" cy="245257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793696-58CA-4016-BAF2-6CD7ECDD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438275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相同初态，相同时间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FD3804-9770-4C90-B500-D59E905E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847850"/>
            <a:ext cx="3190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τ = 24 时，x 方向 RMS 宽度均为 16.971a。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2898E8-08F6-4BF6-B524-4DFA6952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238500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改变 η = Jᵧ/Jₓ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A9BA75-B702-4D94-B06F-8424FC69F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648075"/>
            <a:ext cx="3190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η = 1：σᵧ = 16.971a</a:t>
            </a:r>
          </a:p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η = 0.3：σᵧ = 5.091a</a:t>
            </a:r>
          </a:p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η = 0：严格停留在原链。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AE6B22-F212-4B62-9FF9-4109FF02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C23FFF-D768-42E9-9C2D-AE3F7E5C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单点初态的 RMS 长宽比 σᵧ/σₓ = η，给出可直接检查的各向异性规律。</a:t>
            </a:r>
          </a:p>
        </p:txBody>
      </p:sp>
    </p:spTree>
    <p:extLst>
      <p:ext uri="{BB962C8B-B14F-4D97-AF65-F5344CB8AC3E}">
        <p14:creationId xmlns:p14="http://schemas.microsoft.com/office/powerpoint/2010/main" val="187524193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8A42D9-3009-4815-9418-51B1CBC8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传播前沿与均方根宽度描述不同尺度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7C8ECC-4506-4529-8513-2BDF5D82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BE447C-81E5-4BC0-A805-4B27AD79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B07、B09　左图 η = 1，右图 η = 1、0.3、0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C5D0C0-361F-4C7E-8F98-4A473852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98B0B9-A662-4377-8939-23EB1B1A86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6ff73438f34ebc"/>
          <a:stretch xmlns:a="http://schemas.openxmlformats.org/drawingml/2006/main"/>
        </p:blipFill>
        <p:spPr>
          <a:xfrm xmlns:a="http://schemas.openxmlformats.org/drawingml/2006/main">
            <a:off x="361950" y="1931352"/>
            <a:ext cx="6238875" cy="2785746"/>
          </a:xfrm>
          <a:prstGeom xmlns:a="http://schemas.openxmlformats.org/drawingml/2006/main" prst="rect">
            <a:avLst/>
          </a:prstGeom>
        </p:spPr>
      </p:pic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E7DB5F68-5118-4A88-9251-8BA8528BA0AA}"/>
              </a:ext>
            </a:extLst>
          </p:cNvPr>
          <p:cNvGraphicFramePr/>
          <p:nvPr/>
        </p:nvGraphicFramePr>
        <p:xfrm>
          <a:off xmlns:a="http://schemas.openxmlformats.org/drawingml/2006/main" x="6781800" y="1390650"/>
          <a:ext xmlns:a="http://schemas.openxmlformats.org/drawingml/2006/main" cx="4914900" cy="3705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1a5d8c784634369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5BEBCE-39CF-4C5E-86B4-55B5CC49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主要前沿：|x|/a ≈ 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4C85F4-11AF-44AC-9685-62AA0B3D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372100"/>
            <a:ext cx="4619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187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等方情形：σₓ/a = σᵧ/a = τ/√2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E1E024-C44D-43C6-9569-FB288185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6CC21C-E3CF-44AC-B593-367E9490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宽度与时间成正比，对应相干弹道展开。图示前沿之外仍存在小尾部。</a:t>
            </a:r>
          </a:p>
        </p:txBody>
      </p:sp>
    </p:spTree>
    <p:extLst>
      <p:ext uri="{BB962C8B-B14F-4D97-AF65-F5344CB8AC3E}">
        <p14:creationId xmlns:p14="http://schemas.microsoft.com/office/powerpoint/2010/main" val="22125575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2079D9-BC11-499D-96E9-A384BB70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局域返回概率的相干振荡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C1AF05-FADA-4032-9865-04B5B727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C2FB7B-E39A-4E1B-95EF-4CD7766A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B10　固定单磁子数态，η = 1 与 0.3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ED2851-25A1-4E8E-9454-EFE0EC06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3BE0CB-9FB6-4AE3-B461-38924A78CB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b5c894487b4e6d"/>
          <a:stretch xmlns:a="http://schemas.openxmlformats.org/drawingml/2006/main"/>
        </p:blipFill>
        <p:spPr>
          <a:xfrm xmlns:a="http://schemas.openxmlformats.org/drawingml/2006/main">
            <a:off x="2305028" y="1295400"/>
            <a:ext cx="7562894" cy="35909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7B97C2-A739-4E03-8ED8-C0C16507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1435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P₀₀ 随时间降低并出现振荡，ΣP 始终为 1。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A07B8F-F08A-466D-8B28-F31A3A17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2A7EA7-E97D-44A3-9B8E-69F931C4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局部概率减少表示激发向外传播，当前模型没有引入阻尼或磁子损失。</a:t>
            </a:r>
          </a:p>
        </p:txBody>
      </p:sp>
    </p:spTree>
    <p:extLst>
      <p:ext uri="{BB962C8B-B14F-4D97-AF65-F5344CB8AC3E}">
        <p14:creationId xmlns:p14="http://schemas.microsoft.com/office/powerpoint/2010/main" val="178089140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1230FA-F9A9-4E78-879E-CE1515F1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翻转概率对应纵向自旋亏损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F85AD8-F93D-4B39-A5BB-903CB517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659682-6D72-4ABC-BE7A-2FB1B254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B12　η = 1，τ = 8，背景沿 +x 极化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24F169-DFA4-4F64-AE7A-C327F3C3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C39271-FDFD-495A-862F-304146E92D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3a5f02e272494e"/>
          <a:stretch xmlns:a="http://schemas.openxmlformats.org/drawingml/2006/main"/>
        </p:blipFill>
        <p:spPr>
          <a:xfrm xmlns:a="http://schemas.openxmlformats.org/drawingml/2006/main">
            <a:off x="2368150" y="1190625"/>
            <a:ext cx="7455699" cy="3476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52BE17-B7A4-4288-8CF2-A6DDBDFD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762500"/>
            <a:ext cx="5248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局域观测量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5C5BD7-F372-43E8-A411-636D8067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172075"/>
            <a:ext cx="52482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〈Sᵢˣ〉 = 1/2 − Pᵢ。图中概率峰对应自旋亏损，全部格点的亏损之和为 1。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BDE219-4F02-4FA9-841B-E4B28D4C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625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量子态的解释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A0724E-A2D4-44C9-B37C-B3A8059A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72075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固定单磁子数态满足 〈Sᵢʸ〉 = 〈Sᵢᶻ〉 = 0，概率振幅描述翻转位置的量子叠加。</a:t>
            </a:r>
          </a:p>
        </p:txBody>
      </p:sp>
    </p:spTree>
    <p:extLst>
      <p:ext uri="{BB962C8B-B14F-4D97-AF65-F5344CB8AC3E}">
        <p14:creationId xmlns:p14="http://schemas.microsoft.com/office/powerpoint/2010/main" val="202679788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786F92-3991-45E0-81AA-C5EF1FF3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载波、包络与初始频谱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40A214-6E06-4C21-8D73-4AF60441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4AA90D-B54A-48C6-997E-5B365E90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C01　σ = 4，η =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F175A6-AD37-4891-B9AC-46A88EB5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739122-EF0E-4E10-A91D-60D6BEF4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219200"/>
            <a:ext cx="109347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250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ψ₀(n) ∝ exp[−(nₓ²+nᵧ²)/(4σ²)] exp(i q₀·n)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9022F9-02C9-4F83-8076-FF2FAE3A94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5fc9dc442a4e89"/>
          <a:stretch xmlns:a="http://schemas.openxmlformats.org/drawingml/2006/main"/>
        </p:blipFill>
        <p:spPr>
          <a:xfrm xmlns:a="http://schemas.openxmlformats.org/drawingml/2006/main">
            <a:off x="1762612" y="1905000"/>
            <a:ext cx="8647726" cy="2762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5E93F8-CE7B-4114-89F5-1668D208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σ 是初始概率 RMS 宽度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520DB2-6CC3-46C9-B01D-2DF284C7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67325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乘上载波 exp(iq₀·n) 后，初始位置概率包络保持不变。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0E6170-5493-4C02-8C07-B800EE90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85775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相位决定频谱位置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6CF30C-DF27-4119-B3BD-07752083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267325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载波使频谱中心移至 q₀，从而改变平均速度和传播方向。</a:t>
            </a:r>
          </a:p>
        </p:txBody>
      </p:sp>
    </p:spTree>
    <p:extLst>
      <p:ext uri="{BB962C8B-B14F-4D97-AF65-F5344CB8AC3E}">
        <p14:creationId xmlns:p14="http://schemas.microsoft.com/office/powerpoint/2010/main" val="2294608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0DCC7B-498A-4A54-ABD4-99B52F56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载波选择静止、左行、右行与斜向传播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A677CA-835A-4F0D-B2C4-9686E86E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2EF848-268B-4C4F-89DB-A7E8E8FE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C03、C05、C16　σ = 4，η =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B7FDD1-C0A1-4501-9865-0B4A012E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E1BA49-117A-4905-AF8C-9BB791B372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d91c36d92648c8"/>
          <a:stretch xmlns:a="http://schemas.openxmlformats.org/drawingml/2006/main"/>
        </p:blipFill>
        <p:spPr>
          <a:xfrm xmlns:a="http://schemas.openxmlformats.org/drawingml/2006/main">
            <a:off x="400050" y="1652696"/>
            <a:ext cx="11315700" cy="267630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37AA38-7CFD-4FC1-A5C9-F43CAB77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29175"/>
            <a:ext cx="520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零中心波矢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765EF1-DA1C-48C8-BEC4-3CE76E68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52006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q₀ = (0,0) 的对称频谱给出零平均速度，但仍有向两侧运动的分量。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70B77E-B14B-43C6-964B-A081AD43C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829175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非零中心波矢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4E41F0-8C70-41CC-9CD6-0DF70287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238750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相位梯度改变频谱权重，让概率质心产生净位移。</a:t>
            </a:r>
          </a:p>
        </p:txBody>
      </p:sp>
    </p:spTree>
    <p:extLst>
      <p:ext uri="{BB962C8B-B14F-4D97-AF65-F5344CB8AC3E}">
        <p14:creationId xmlns:p14="http://schemas.microsoft.com/office/powerpoint/2010/main" val="154571297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A73BC5-A6B8-441F-B084-0076D2BB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质心速度是整个频谱的加权平均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717EA4-79E1-464A-B58A-6951978C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F21E02-04C8-4428-A8AA-E0A498BC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C06　σ = 4，η = 1，τ ≤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96A8AE-21E7-4616-A284-F6F25827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929F71E7-A3D2-4E3B-B89F-166C94A36DEF}"/>
              </a:ext>
            </a:extLst>
          </p:cNvPr>
          <p:cNvGraphicFramePr/>
          <p:nvPr/>
        </p:nvGraphicFramePr>
        <p:xfrm>
          <a:off xmlns:a="http://schemas.openxmlformats.org/drawingml/2006/main" x="428625" y="1362075"/>
          <a:ext xmlns:a="http://schemas.openxmlformats.org/drawingml/2006/main" cx="76390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a95c213edf5498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2E5735-9587-4F3A-8ABB-CEE8B3B4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428750"/>
            <a:ext cx="309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精确谱平均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112350-CF05-4BE4-BECD-56C1AF40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38325"/>
            <a:ext cx="30956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ūₓ = Σ |A(q)|² sin qₓ</a:t>
            </a:r>
          </a:p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相同初态的谱权重保持不变。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74DBAA-901A-4A2B-A701-505DCFCE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381375"/>
            <a:ext cx="309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有限频宽的差别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5DCFE7-8B5B-4FF4-9AC8-8DB6723E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90950"/>
            <a:ext cx="30956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ūₓ = 0.639204</a:t>
            </a:r>
          </a:p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sin(0.7) = 0.644218</a:t>
            </a:r>
          </a:p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τ = 60：〈x〉 = 38.3523a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96C291-2358-44BD-9816-633C102E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81E45A-701D-4D01-8305-A98CC5FB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中心波矢处群速度适用于窄带近似，实际质心轨迹由谱平均给出。</a:t>
            </a:r>
          </a:p>
        </p:txBody>
      </p:sp>
    </p:spTree>
    <p:extLst>
      <p:ext uri="{BB962C8B-B14F-4D97-AF65-F5344CB8AC3E}">
        <p14:creationId xmlns:p14="http://schemas.microsoft.com/office/powerpoint/2010/main" val="21288617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811E93-3193-4EA1-8FF3-33BAD27B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共动坐标把展宽从整体移动中分离出来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526D41-B469-4780-8912-33E26B9B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B60A04-F353-40CC-B278-E8C2CF0B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C07　q₀ = (0.7,0)，σ = 4，η =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5B76DE-3D53-4138-BEA3-97A93800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D8D48C-4B28-43C5-8388-E2826D9B4A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23605902fe4555"/>
          <a:stretch xmlns:a="http://schemas.openxmlformats.org/drawingml/2006/main"/>
        </p:blipFill>
        <p:spPr>
          <a:xfrm xmlns:a="http://schemas.openxmlformats.org/drawingml/2006/main">
            <a:off x="1309520" y="1190625"/>
            <a:ext cx="9572960" cy="3476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3BA568-E566-4B29-A256-062B4B0C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762500"/>
            <a:ext cx="5248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只减去质心位移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FFDA7E-DE1A-4B2E-B4AB-2DAB18D1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172075"/>
            <a:ext cx="52482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每条曲线都在各自的共动坐标中显示，峰值与宽度没有重新归一化。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2F62C4-1D93-42F7-BD75-A89F22F2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625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两个方向分别展宽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AFB175-00E0-41E6-B9DC-B351769B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72075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τ = 60 时 σₓ = 6.970a，σᵧ = 8.449a。不同方向的曲率导致不同速度方差。</a:t>
            </a:r>
          </a:p>
        </p:txBody>
      </p:sp>
    </p:spTree>
    <p:extLst>
      <p:ext uri="{BB962C8B-B14F-4D97-AF65-F5344CB8AC3E}">
        <p14:creationId xmlns:p14="http://schemas.microsoft.com/office/powerpoint/2010/main" val="81444473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E9734D-3859-42B0-8FDD-3A86871E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速度方差决定无啁啾 Gaussian 的展宽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1A3B7B-BB1A-4C1F-9B13-3BC5571C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A80624-9601-48A8-B391-6836CA5D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C09　完整色散下的数值宽度与谱矩关系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B192BC-28D6-46EE-AD9F-2D6C2B4B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938DE090-2304-423B-89ED-D704D0439178}"/>
              </a:ext>
            </a:extLst>
          </p:cNvPr>
          <p:cNvGraphicFramePr/>
          <p:nvPr/>
        </p:nvGraphicFramePr>
        <p:xfrm>
          <a:off xmlns:a="http://schemas.openxmlformats.org/drawingml/2006/main" x="419100" y="1400175"/>
          <a:ext xmlns:a="http://schemas.openxmlformats.org/drawingml/2006/main" cx="7553325" cy="39719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323145da7f54848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AB58F-63A3-41D1-A397-56F2C168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71625"/>
            <a:ext cx="333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100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Var[n(τ)] = Var[n(0)]</a:t>
            </a:r>
          </a:p>
          <a:p xmlns:a="http://schemas.openxmlformats.org/drawingml/2006/main">
            <a: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100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                 + τ² Var(u)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34C1D3-EF3D-4E1C-A15E-EFA92CAE9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190875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物理解释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DBCEA5-F0F9-416B-827F-0DDD1C96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00450"/>
            <a:ext cx="3190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不同波矢的群速度不同。</a:t>
            </a:r>
          </a:p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速度差随传播时间积累，</a:t>
            </a:r>
          </a:p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形成包络宽度的增长。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16600D-6AF8-4DCF-9946-1B080121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19D0CB-C09B-4877-A11A-6B919570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这里使用完整余弦色散的谱矩，不把结果限制为二阶抛物线近似。</a:t>
            </a:r>
          </a:p>
        </p:txBody>
      </p:sp>
    </p:spTree>
    <p:extLst>
      <p:ext uri="{BB962C8B-B14F-4D97-AF65-F5344CB8AC3E}">
        <p14:creationId xmlns:p14="http://schemas.microsoft.com/office/powerpoint/2010/main" val="125577060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57EFAD-423E-4F8D-801E-AC795E3E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初始空间宽度与相对展宽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9EC132-E2B6-4E28-9BDB-117876BE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C98465-DC63-4999-AFFB-18BD5283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C02、C08　q₀ = (0.7,0)，η =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524A96-E4C1-477D-A8A3-7C32453C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A988A2-89F9-4D91-B0B7-A6C1D5CFA8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1c96ff73774481"/>
          <a:stretch xmlns:a="http://schemas.openxmlformats.org/drawingml/2006/main"/>
        </p:blipFill>
        <p:spPr>
          <a:xfrm xmlns:a="http://schemas.openxmlformats.org/drawingml/2006/main">
            <a:off x="409575" y="1797541"/>
            <a:ext cx="6924675" cy="2453293"/>
          </a:xfrm>
          <a:prstGeom xmlns:a="http://schemas.openxmlformats.org/drawingml/2006/main" prst="rect">
            <a:avLst/>
          </a:prstGeom>
        </p:spPr>
      </p:pic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A3C05858-4459-4D9A-97C6-DB442765384E}"/>
              </a:ext>
            </a:extLst>
          </p:cNvPr>
          <p:cNvGraphicFramePr/>
          <p:nvPr/>
        </p:nvGraphicFramePr>
        <p:xfrm>
          <a:off xmlns:a="http://schemas.openxmlformats.org/drawingml/2006/main" x="7524750" y="1438275"/>
          <a:ext xmlns:a="http://schemas.openxmlformats.org/drawingml/2006/main" cx="4152900" cy="33623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966692bdd014400"/>
          </a:graphicData>
        </a:graphic>
      </p:graphicFrame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EAB9E0-B72F-4013-B21D-1EC2F5FBC36E}"/>
              </a:ext>
            </a:extLst>
          </p:cNvPr>
          <p:cNvGraphicFramePr/>
          <p:nvPr/>
        </p:nvGraphicFramePr>
        <p:xfrm>
          <a:off xmlns:a="http://schemas.openxmlformats.org/drawingml/2006/main" x="581025" y="5010150"/>
          <a:ext xmlns:a="http://schemas.openxmlformats.org/drawingml/2006/main" cx="11001375" cy="781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2667000"/>
                <a:gridCol w="2667000"/>
                <a:gridCol w="2667000"/>
              </a:tblGrid>
              <a:tr h="390525"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初始 RMS 宽度 / a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</a:tr>
              <a:tr h="390525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σₓ(60) / σₓ(0)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2.718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1.185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1.026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F50324-3B82-4C4F-A351-A4369A85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628BFF-F456-4061-88D1-1CF7AB22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更窄频谱减小速度分散，同时需要更大的初始空间范围。</a:t>
            </a:r>
          </a:p>
        </p:txBody>
      </p:sp>
    </p:spTree>
    <p:extLst>
      <p:ext uri="{BB962C8B-B14F-4D97-AF65-F5344CB8AC3E}">
        <p14:creationId xmlns:p14="http://schemas.microsoft.com/office/powerpoint/2010/main" val="143418838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F65316-E5FC-401E-AC6A-8F7BA569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各向异性同时改变方向与包络尺度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770881-16CE-4A54-B089-4CDA5138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5D8C73-9800-4BCA-9134-780CAB0C3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C10、C11　q₀ = (0.7,0.7)，σ =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5D7F39-EBCF-4829-8B18-66660E29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FFBFD1-F258-4DCC-AC70-353D474AD0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5488f06eb34d13"/>
          <a:stretch xmlns:a="http://schemas.openxmlformats.org/drawingml/2006/main"/>
        </p:blipFill>
        <p:spPr>
          <a:xfrm xmlns:a="http://schemas.openxmlformats.org/drawingml/2006/main">
            <a:off x="428625" y="2008013"/>
            <a:ext cx="7534275" cy="24133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4C43F2-809A-4578-8A39-9CB4A55A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42875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相同的波矢方向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0F9B0A-BE82-4CBD-8EA2-20CF1F34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38325"/>
            <a:ext cx="32004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q₀ 的方向均为 45°。</a:t>
            </a:r>
          </a:p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η = 1：传播方向 45°。</a:t>
            </a:r>
          </a:p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η = 0.3：传播方向 16.70°。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5D86CF-095C-423E-A292-6D433249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457575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τ = 60 的宽度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13A266-37EB-4F98-9F3C-02825E21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867150"/>
            <a:ext cx="32004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η = 0.3 时</a:t>
            </a:r>
          </a:p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σₓ = 6.970a</a:t>
            </a:r>
          </a:p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σᵧ = 4.351a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ADB12C-043B-447E-9B33-7CAD909A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FBAED7-C3B7-4AE8-B284-EC8D171E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减弱 y 方向交换会同时降低 y 向质心速度和速度方差。</a:t>
            </a:r>
          </a:p>
        </p:txBody>
      </p:sp>
    </p:spTree>
    <p:extLst>
      <p:ext uri="{BB962C8B-B14F-4D97-AF65-F5344CB8AC3E}">
        <p14:creationId xmlns:p14="http://schemas.microsoft.com/office/powerpoint/2010/main" val="34526952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46AABE-C2FF-4206-B87F-856E7FC8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频谱概率守恒，实空间形状仍会改变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185DF3-FCDF-4217-9DC5-0D874A32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A72423-B6F6-4A98-8D0A-A055898D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C12　e = ε/Jₓ，τ = Jₓt/ℏ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7EB2D4-6CD1-4C37-8BEC-C89E4284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A3B1C1-DBA7-488B-8AFA-BE6F3A4795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3a867f0e724d58"/>
          <a:stretch xmlns:a="http://schemas.openxmlformats.org/drawingml/2006/main"/>
        </p:blipFill>
        <p:spPr>
          <a:xfrm xmlns:a="http://schemas.openxmlformats.org/drawingml/2006/main">
            <a:off x="1299726" y="1190625"/>
            <a:ext cx="9592547" cy="3476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32CB70-B0AC-4BFE-B372-F6B5273E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762500"/>
            <a:ext cx="5248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时间演化保持谱权重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4A6C17-A81A-46D1-830E-F60FF464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172075"/>
            <a:ext cx="52482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A(q,τ) = A(q,0) exp[−ie(q)τ]。每个模式的概率保持不变。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17AA1B-B491-4456-AA64-8AC9DA5F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625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相对相位产生形变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9F7CE3-F48E-4161-80E5-60D8D8DB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72075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去掉整体相位和线性平移相位后，残余的曲率与高阶项继续积累相位差。</a:t>
            </a:r>
          </a:p>
        </p:txBody>
      </p:sp>
    </p:spTree>
    <p:extLst>
      <p:ext uri="{BB962C8B-B14F-4D97-AF65-F5344CB8AC3E}">
        <p14:creationId xmlns:p14="http://schemas.microsoft.com/office/powerpoint/2010/main" val="2600000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80C479-8D67-4482-BDA7-A6BC42C3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零二阶曲率是后续保形研究的入口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6D515F-2C96-46B6-9F6B-08442973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E4016F-08D5-4B23-80E7-35B90E2E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C13　同初宽 σ = 3，η =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7786B9-7912-4047-8561-49E0CA01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15815E4F-63C2-4308-A9AD-5ED1F1EFF35B}"/>
              </a:ext>
            </a:extLst>
          </p:cNvPr>
          <p:cNvGraphicFramePr/>
          <p:nvPr/>
        </p:nvGraphicFramePr>
        <p:xfrm>
          <a:off xmlns:a="http://schemas.openxmlformats.org/drawingml/2006/main" x="447675" y="1390650"/>
          <a:ext xmlns:a="http://schemas.openxmlformats.org/drawingml/2006/main" cx="5429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0867967c0f14db9"/>
          </a:graphicData>
        </a:graphic>
      </p:graphicFrame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3E6AD5F6-0D9D-4876-9732-EC80A510F3EE}"/>
              </a:ext>
            </a:extLst>
          </p:cNvPr>
          <p:cNvGraphicFramePr/>
          <p:nvPr/>
        </p:nvGraphicFramePr>
        <p:xfrm>
          <a:off xmlns:a="http://schemas.openxmlformats.org/drawingml/2006/main" x="6238875" y="1390650"/>
          <a:ext xmlns:a="http://schemas.openxmlformats.org/drawingml/2006/main" cx="5429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2d6b1a2969a49df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D4BC19-FDB0-4D42-B6DF-D63586CD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917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0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0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0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0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0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0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0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0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0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02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F = |〈ψ平移参考 | ψ(τ)〉|²，包含相对相位变化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FEE3DB-F3DE-4E88-880C-4EE2BDB2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32447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τ = 60：普通波矢 F = 0.3823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364AED-C336-4BE0-A40B-E6823D90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32447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C95F4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C95F4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C95F4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C95F4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C95F4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C95F4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C95F4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C95F4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C95F4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C95F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C95F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95F42"/>
                </a:solidFill>
                <a:latin typeface="Microsoft YaHei"/>
                <a:ea typeface="Microsoft YaHei"/>
                <a:cs typeface="Microsoft YaHei"/>
              </a:rPr>
              <a:t>τ = 60：零曲率点 F = 0.9771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C587AD-802C-4B1F-8B71-5777D7DA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FA1D60-9855-4DA0-8829-C550EE13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二阶项消失能减慢有限时间内的形变，三阶及更高阶色散仍然存在。</a:t>
            </a:r>
          </a:p>
        </p:txBody>
      </p:sp>
    </p:spTree>
    <p:extLst>
      <p:ext uri="{BB962C8B-B14F-4D97-AF65-F5344CB8AC3E}">
        <p14:creationId xmlns:p14="http://schemas.microsoft.com/office/powerpoint/2010/main" val="124115986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E5FB74-A93D-41B4-9A4A-46FE7571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当前结果与下一阶段问题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084115-7712-440F-82D4-8871C33A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3E9284-D3E0-4953-97FA-D68B7E93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理论 PDF 第 1–5 页　模拟 A、B、C 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5956CE-B92A-4409-981D-A456A086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1CFF20-94F6-4B55-A13C-3E77DE809164}"/>
              </a:ext>
            </a:extLst>
          </p:cNvPr>
          <p:cNvGraphicFramePr/>
          <p:nvPr/>
        </p:nvGraphicFramePr>
        <p:xfrm>
          <a:off xmlns:a="http://schemas.openxmlformats.org/drawingml/2006/main" x="523875" y="1371600"/>
          <a:ext xmlns:a="http://schemas.openxmlformats.org/drawingml/2006/main" cx="11144250" cy="3171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3952875"/>
                <a:gridCol w="4048125"/>
              </a:tblGrid>
              <a:tr h="634365"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理论或模拟结果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已建立的物理认识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下一步需要回答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</a:tr>
              <a:tr h="63436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两电子矩阵与 J = 2K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交换作用连接不同翻转位置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具体材料的有效交换参数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色散曲面与群速度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斜率控制运动，曲率影响展宽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给定波包尺寸下的参数选择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单点与 Gaussian 传播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质心、宽度和干涉可分别度量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完整二维波包的保形指标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零二阶曲率点对照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有限时间内形变受到抑制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高阶残差与可用传播距离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F205D3-0614-4D19-B7A7-3D06A826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339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模型范围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BF7160-CEDD-4DC7-9B4E-352C090C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953000"/>
            <a:ext cx="8810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均匀晶格、单磁子、零外场、无耗散。当前结论对应记录的参数与时间窗口。</a:t>
            </a:r>
          </a:p>
        </p:txBody>
      </p:sp>
    </p:spTree>
    <p:extLst>
      <p:ext uri="{BB962C8B-B14F-4D97-AF65-F5344CB8AC3E}">
        <p14:creationId xmlns:p14="http://schemas.microsoft.com/office/powerpoint/2010/main" val="14267020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87616C-D04A-4A75-81DD-42E289AE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附录：费米交换符号与自旋矩阵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64D140-8A33-4C80-993A-95884E9F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42DEF1-8342-42B8-A54A-8EA891CB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第 2–4 页，式 (9)、(15)、(17)、(27)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E23F0C-8C90-4060-AEA7-56DEBD7D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3762C5-8A71-4FC4-93B4-A95DF75536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5584c29a82474f"/>
          <a:stretch xmlns:a="http://schemas.openxmlformats.org/drawingml/2006/main"/>
        </p:blipFill>
        <p:spPr>
          <a:xfrm xmlns:a="http://schemas.openxmlformats.org/drawingml/2006/main">
            <a:off x="3216783" y="1419225"/>
            <a:ext cx="5701284" cy="828675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AC70CC-E56E-4E31-9FAC-DB54E1AEDD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1f50f93daa4b14"/>
          <a:stretch xmlns:a="http://schemas.openxmlformats.org/drawingml/2006/main"/>
        </p:blipFill>
        <p:spPr>
          <a:xfrm xmlns:a="http://schemas.openxmlformats.org/drawingml/2006/main">
            <a:off x="2700338" y="2638425"/>
            <a:ext cx="6600825" cy="85725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67D939-CAAB-42A6-9691-91C38A55FD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506a4876064e2d"/>
          <a:stretch xmlns:a="http://schemas.openxmlformats.org/drawingml/2006/main"/>
        </p:blipFill>
        <p:spPr>
          <a:xfrm xmlns:a="http://schemas.openxmlformats.org/drawingml/2006/main">
            <a:off x="1994146" y="3962400"/>
            <a:ext cx="4279408" cy="14001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E7C589-D994-420D-8F79-29A3CA0A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14800"/>
            <a:ext cx="348615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交换项的负号由费米反对易关系决定。</a:t>
            </a:r>
          </a:p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自旋矩阵取沿 x 量子化的基底。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DF6734-F29B-4AB0-A8E9-822166BA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95EC20-BBBF-4DEE-AD26-3F80AF29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固定基底与算符顺序后，矩阵元符号和 J = 2K 的系数保持一致。</a:t>
            </a:r>
          </a:p>
        </p:txBody>
      </p:sp>
    </p:spTree>
    <p:extLst>
      <p:ext uri="{BB962C8B-B14F-4D97-AF65-F5344CB8AC3E}">
        <p14:creationId xmlns:p14="http://schemas.microsoft.com/office/powerpoint/2010/main" val="172343636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FD60AD-FC52-45B2-A307-C16EDEB6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附录：长波二次近似的适用范围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31AD38-2F20-469A-8BBB-3DBD28F1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B02B70-B68B-4A16-B8F9-1B4828F5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A08、A09　轴向能量近似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6235E2-8FB6-4F04-AA0A-2E0F1E50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3618B7-4E0E-4379-9F3B-AACDF40111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de898c8c4e4c6e"/>
          <a:stretch xmlns:a="http://schemas.openxmlformats.org/drawingml/2006/main"/>
        </p:blipFill>
        <p:spPr>
          <a:xfrm xmlns:a="http://schemas.openxmlformats.org/drawingml/2006/main">
            <a:off x="579746" y="1409700"/>
            <a:ext cx="7108209" cy="35718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B287AC-21D7-4BE1-ACD4-85092FFC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1581150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相对能量误差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971BE5-9911-4C7F-ABB7-CA25716A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1990725"/>
            <a:ext cx="3190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1%：q ≈ 0.3454</a:t>
            </a:r>
          </a:p>
          <a:p xmlns:a="http://schemas.openxmlformats.org/drawingml/2006/main">
            <a: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5%：q ≈ 0.7633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916932-3CE6-46E2-8AAF-7000EB3C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533775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传播时的限制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4E2CB2-5A8C-4B0C-B70D-247AB7FC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943350"/>
            <a:ext cx="3190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同样的能量误差会随时间积累为相位误差。主模拟保留完整余弦能带。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2E944C-8F3A-48AE-8E98-3ED912A3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C7A003-9E7A-4E38-BFDE-E22E5085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长波近似便于理解局部机制，其使用范围由波矢与传播时间共同约束。</a:t>
            </a:r>
          </a:p>
        </p:txBody>
      </p:sp>
    </p:spTree>
    <p:extLst>
      <p:ext uri="{BB962C8B-B14F-4D97-AF65-F5344CB8AC3E}">
        <p14:creationId xmlns:p14="http://schemas.microsoft.com/office/powerpoint/2010/main" val="52544816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A6C77F-8729-4201-AD0B-D76B8982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附录：独立计算路径与边界检验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727C92-12F3-4710-8EE0-57C79E83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B0ED32-6FAD-4605-A2F5-08D69188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checks_independent.json、checks_b.json、checks_c.json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269D98-92F3-49FD-AF4B-6DCB89AD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AEEFAD-3910-4C7E-A1CB-12D20BCE86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839cf86b454fb1"/>
          <a:stretch xmlns:a="http://schemas.openxmlformats.org/drawingml/2006/main"/>
        </p:blipFill>
        <p:spPr>
          <a:xfrm xmlns:a="http://schemas.openxmlformats.org/drawingml/2006/main">
            <a:off x="390525" y="1495055"/>
            <a:ext cx="7067550" cy="3229715"/>
          </a:xfrm>
          <a:prstGeom xmlns:a="http://schemas.openxmlformats.org/drawingml/2006/main" prst="rect">
            <a:avLst/>
          </a:prstGeom>
        </p:spPr>
      </p:pic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8983FB-ABE4-41D8-A511-ADC73322A446}"/>
              </a:ext>
            </a:extLst>
          </p:cNvPr>
          <p:cNvGraphicFramePr/>
          <p:nvPr/>
        </p:nvGraphicFramePr>
        <p:xfrm>
          <a:off xmlns:a="http://schemas.openxmlformats.org/drawingml/2006/main" x="7715250" y="1514475"/>
          <a:ext xmlns:a="http://schemas.openxmlformats.org/drawingml/2006/main" cx="3962400" cy="3162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1866900"/>
              </a:tblGrid>
              <a:tr h="632460">
                <a:tc>
                  <a:txBody>
                    <a:bodyPr lIns="95250" tIns="95250" rIns="95250" bIns="95250"/>
                    <a:lstStyle/>
                    <a:p>
                      <a:r>
                        <a:rPr sz="13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对照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3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误差量级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</a:tr>
              <a:tr h="632460">
                <a:tc>
                  <a:txBody>
                    <a:bodyPr lIns="95250" tIns="95250" rIns="95250" bIns="95250"/>
                    <a:lstStyle/>
                    <a:p>
                      <a:r>
                        <a:rPr sz="13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实空间矩阵 vs FFT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3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振幅 L² ≈ 3.4×10⁻¹⁵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 lIns="95250" tIns="95250" rIns="95250" bIns="95250"/>
                    <a:lstStyle/>
                    <a:p>
                      <a:r>
                        <a:rPr sz="13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Bessel 核 vs FFT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3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max|ΔP| ≈ 5.6×10⁻¹⁶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 lIns="95250" tIns="95250" rIns="95250" bIns="95250"/>
                    <a:lstStyle/>
                    <a:p>
                      <a:r>
                        <a:rPr sz="13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Gaussian 扩大晶格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3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概率 L¹ ≤ 3.8×10⁻¹⁵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 lIns="95250" tIns="95250" rIns="95250" bIns="95250"/>
                    <a:lstStyle/>
                    <a:p>
                      <a:r>
                        <a:rPr sz="13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Gaussian 边缘概率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3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 5.7×10⁻¹⁴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BB1093-F638-4DDD-80A2-3B52236D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472674-9041-456F-8DCB-390F8100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解析解、独立推进与扩大晶格对照，共同约束计算误差和边界影响。</a:t>
            </a:r>
          </a:p>
        </p:txBody>
      </p:sp>
    </p:spTree>
    <p:extLst>
      <p:ext uri="{BB962C8B-B14F-4D97-AF65-F5344CB8AC3E}">
        <p14:creationId xmlns:p14="http://schemas.microsoft.com/office/powerpoint/2010/main" val="121522569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6BBC25-9F45-4A09-A2F9-F103AFE3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附录：零二阶曲率后的高阶形变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CAF0DA-0F92-447A-8484-4812A3E7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36D7B1-8304-4903-96C0-EF43612D8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C14　独立示例 σ = 2，q₀ = (π/2,π/2)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8D9E5F-BFA9-4FF9-AA7B-24380CB1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F03E08-294A-4683-BCB7-675C9CAB87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468948870e4b77"/>
          <a:stretch xmlns:a="http://schemas.openxmlformats.org/drawingml/2006/main"/>
        </p:blipFill>
        <p:spPr>
          <a:xfrm xmlns:a="http://schemas.openxmlformats.org/drawingml/2006/main">
            <a:off x="1167517" y="1190625"/>
            <a:ext cx="9856966" cy="3476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6F9FE5-FB03-4D3A-8825-B9BF5384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762500"/>
            <a:ext cx="5248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残余色散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32C08A-6AA5-422C-A327-DE107519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172075"/>
            <a:ext cx="52482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扣除常数和线性项后，sin δq − δq 的首项为 −δq³/6。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AB2CC7-6D7C-4200-ABB0-EB379102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625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有限频宽的后果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4CD6A3-376B-42D5-A51E-BD2FC6CB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72075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相位差仍会积累，产生偏斜与尾部。本页 σ = 2，与前面的 σ = 3 对照不同。</a:t>
            </a:r>
          </a:p>
        </p:txBody>
      </p:sp>
    </p:spTree>
    <p:extLst>
      <p:ext uri="{BB962C8B-B14F-4D97-AF65-F5344CB8AC3E}">
        <p14:creationId xmlns:p14="http://schemas.microsoft.com/office/powerpoint/2010/main" val="56502346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85E791-985B-48F3-9941-9BF1823B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附录：传播动画对照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428F92-E050-4EDE-8308-5344A672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CF85FC-7CC3-406C-B597-7DC4CB3C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单点翻转 B16　Gaussian 载波方向 C16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15E7F9-0F94-47A5-9D51-B54B6B0A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B95870-F324-4708-A997-324C449796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d993519aa04bf0"/>
          <a:stretch xmlns:a="http://schemas.openxmlformats.org/drawingml/2006/main"/>
        </p:blipFill>
        <p:spPr>
          <a:xfrm xmlns:a="http://schemas.openxmlformats.org/drawingml/2006/main">
            <a:off x="381000" y="1739503"/>
            <a:ext cx="5715000" cy="3036094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4831EB-436B-43E2-AA98-023BF8216A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1a140218e14ffb"/>
          <a:stretch xmlns:a="http://schemas.openxmlformats.org/drawingml/2006/main"/>
        </p:blipFill>
        <p:spPr>
          <a:xfrm xmlns:a="http://schemas.openxmlformats.org/drawingml/2006/main">
            <a:off x="6238875" y="2152650"/>
            <a:ext cx="5524500" cy="22098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AF4F68-70F1-4B03-91A3-078289FB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67325"/>
            <a:ext cx="523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单点激发：η = 1 与 0.3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41D2C2-C90A-431C-9C1E-5AA15963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267325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相同 Gaussian 包络，不同载波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D7225B-EAC6-4EDB-ABF9-793A2645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E002A1-F291-4474-8074-4A7C83ED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放映时观察时间演化，静态关键帧与定量曲线用于比较传播规律。</a:t>
            </a:r>
          </a:p>
        </p:txBody>
      </p:sp>
    </p:spTree>
    <p:extLst>
      <p:ext uri="{BB962C8B-B14F-4D97-AF65-F5344CB8AC3E}">
        <p14:creationId xmlns:p14="http://schemas.microsoft.com/office/powerpoint/2010/main" val="170195202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3F420F-1E4E-4A2A-B9A6-DAFB426E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附录：原理、图组与数据来源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E75034-DADF-418C-A3B8-9B0C47A0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11D5F3-95BF-4369-95FA-E9CA9758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项目本地材料与可复现模拟文件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89CFFC-D092-451D-B4C0-60170D95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558B72-28D1-42D9-A368-F391FA9EED06}"/>
              </a:ext>
            </a:extLst>
          </p:cNvPr>
          <p:cNvGraphicFramePr/>
          <p:nvPr/>
        </p:nvGraphicFramePr>
        <p:xfrm>
          <a:off xmlns:a="http://schemas.openxmlformats.org/drawingml/2006/main" x="523875" y="1362075"/>
          <a:ext xmlns:a="http://schemas.openxmlformats.org/drawingml/2006/main" cx="1114425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3714750"/>
                <a:gridCol w="4857750"/>
              </a:tblGrid>
              <a:tr h="666750"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承担的内容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定位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</a:tr>
              <a:tr h="666750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原理 PDF，5 页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直接交换、矩阵匹配、EOM、色散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Note/single_magnon_derivation/main.pdf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组，12 图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色散、群速度、近似范围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figures/midterm-report/a-dispersion/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组，13 图与 4 动画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局域翻转与解析传播核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b-local-flip/local_flip_data.npz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组，14 图与 4 动画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Gaussian 质心、宽度与相位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c-gaussian/gaussian_simulation_data.npz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8A7466-7962-405B-A5F0-3A2A9285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577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符号对照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17010E-4980-41DD-8965-B8676DABF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48250"/>
            <a:ext cx="8905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250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q = ka     τ = Jₓt/ℏ     η = Jᵧ/Jₓ     e = ε/Jₓ</a:t>
            </a:r>
          </a:p>
        </p:txBody>
      </p:sp>
    </p:spTree>
    <p:extLst>
      <p:ext uri="{BB962C8B-B14F-4D97-AF65-F5344CB8AC3E}">
        <p14:creationId xmlns:p14="http://schemas.microsoft.com/office/powerpoint/2010/main" val="1349579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2026-10-19T13:57:23.2010000Z</dcterms:created>
  <dcterms:modified xsi:type="dcterms:W3CDTF">2026-10-19T13:57:23.2010000Z</dcterms:modified>
</coreProperties>
</file>